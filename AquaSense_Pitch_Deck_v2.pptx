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3474720" cy="256032"/>
          </a:xfrm>
          <a:prstGeom prst="roundRect">
            <a:avLst/>
          </a:prstGeom>
          <a:solidFill>
            <a:srgbClr val="071326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00" b="1">
                <a:solidFill>
                  <a:srgbClr val="22D3EE"/>
                </a:solidFill>
                <a:latin typeface="Consolas"/>
              </a:defRPr>
            </a:pPr>
            <a:r>
              <a:t>ORBITAL NODE: ESA S2 MSI + S1 C-SAR // STAC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6459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6692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000" b="1">
                <a:solidFill>
                  <a:srgbClr val="F0FDFA"/>
                </a:solidFill>
                <a:latin typeface="Trebuchet MS"/>
              </a:defRPr>
            </a:pPr>
            <a:r>
              <a:t>AquaSense</a:t>
            </a:r>
          </a:p>
          <a:p>
            <a:pPr>
              <a:spcBef>
                <a:spcPts val="400"/>
              </a:spcBef>
              <a:defRPr sz="1500" b="1">
                <a:solidFill>
                  <a:srgbClr val="22D3EE"/>
                </a:solidFill>
                <a:latin typeface="Calibri"/>
              </a:defRPr>
            </a:pPr>
            <a:r>
              <a:t>Multi-Sensor Planetary Hydro-Observatory &amp; Sovereign RAG Engine</a:t>
            </a:r>
          </a:p>
          <a:p>
            <a:pPr>
              <a:spcBef>
                <a:spcPts val="600"/>
              </a:spcBef>
              <a:defRPr sz="1100">
                <a:solidFill>
                  <a:srgbClr val="CADAEE"/>
                </a:solidFill>
                <a:latin typeface="Calibri"/>
              </a:defRPr>
            </a:pPr>
            <a:r>
              <a:t>All-weather Sentinel-1 C-SAR radar fusion, 3D bathymetric volumetric retention (m³), bio-optical water quality (NDTI/NDCI), and sovereign 12-D spectral RAG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1353312" cy="292608"/>
          </a:xfrm>
          <a:prstGeom prst="roundRect">
            <a:avLst/>
          </a:prstGeom>
          <a:solidFill>
            <a:srgbClr val="173564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50" b="1">
                <a:solidFill>
                  <a:srgbClr val="22D3EE"/>
                </a:solidFill>
                <a:latin typeface="Consolas"/>
              </a:defRPr>
            </a:pPr>
            <a:r>
              <a:t>🛰️ Dual Optical+SAR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3383280"/>
            <a:ext cx="1353312" cy="292608"/>
          </a:xfrm>
          <a:prstGeom prst="roundRect">
            <a:avLst/>
          </a:prstGeom>
          <a:solidFill>
            <a:srgbClr val="173564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50" b="1">
                <a:solidFill>
                  <a:srgbClr val="06D6A0"/>
                </a:solidFill>
                <a:latin typeface="Consolas"/>
              </a:defRPr>
            </a:pPr>
            <a:r>
              <a:t>🌊 3D Bathymetry (m³)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383280"/>
            <a:ext cx="1353312" cy="292608"/>
          </a:xfrm>
          <a:prstGeom prst="roundRect">
            <a:avLst/>
          </a:prstGeom>
          <a:solidFill>
            <a:srgbClr val="173564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50" b="1">
                <a:solidFill>
                  <a:srgbClr val="FBBF24"/>
                </a:solidFill>
                <a:latin typeface="Consolas"/>
              </a:defRPr>
            </a:pPr>
            <a:r>
              <a:t>💧 Bio-Optics (NDTI/NDCI)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3383280"/>
            <a:ext cx="1353312" cy="292608"/>
          </a:xfrm>
          <a:prstGeom prst="roundRect">
            <a:avLst/>
          </a:prstGeom>
          <a:solidFill>
            <a:srgbClr val="173564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50" b="1">
                <a:solidFill>
                  <a:srgbClr val="A78BFA"/>
                </a:solidFill>
                <a:latin typeface="Consolas"/>
              </a:defRPr>
            </a:pPr>
            <a:r>
              <a:t>🧬 Sovereign 12-D 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5486400" cy="2286000"/>
          </a:xfrm>
          <a:prstGeom prst="rect">
            <a:avLst/>
          </a:prstGeom>
          <a:solidFill>
            <a:srgbClr val="0C1E3D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4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MULTI-SENSOR LONGITUDINAL AUDIT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Active Pilot: Pallikaranai Ramsar Basin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51206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Coordinates: [80.20°E, 12.91°N] to [80.23°E, 12.95°N] • Chennai, India</a:t>
            </a:r>
          </a:p>
          <a:p>
            <a:pPr>
              <a:spcAft>
                <a:spcPts val="2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Multi-Sensor Constellation: Sentinel-2 MSI (10m) + Sentinel-1 RTC C-Band (5.405 GHz)</a:t>
            </a:r>
          </a:p>
          <a:p>
            <a:pPr>
              <a:spcAft>
                <a:spcPts val="2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Volumetric Integration: Copernicus DEM GLO-30 Hypsometric Curves (V = ∫ A(z)dz)</a:t>
            </a:r>
          </a:p>
          <a:p>
            <a:pPr>
              <a:spcAft>
                <a:spcPts val="2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Bio-Optical Water Quality: Turbidity (NDTI), Chlorophyll-a (NDCI), CDOM Carbon, WQI</a:t>
            </a:r>
          </a:p>
          <a:p>
            <a:pPr>
              <a:spcAft>
                <a:spcPts val="2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Sovereign AI Engine: 12-D Feature Extractor + Few-Shot Classifier + Ramsar RAG Vector Store</a:t>
            </a:r>
          </a:p>
        </p:txBody>
      </p:sp>
      <p:pic>
        <p:nvPicPr>
          <p:cNvPr id="12" name="Picture 11" descr="satellite_earth_orb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4937760" cy="3657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92240" y="731520"/>
            <a:ext cx="4937760" cy="3657600"/>
          </a:xfrm>
          <a:prstGeom prst="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01968" y="841248"/>
            <a:ext cx="297180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SENTINEL-2 + SENTINEL-1 ORBITAL STREAM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572000"/>
            <a:ext cx="4937760" cy="164592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718304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LIVE SENSOR TELEMETRY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Planetary Computer Multi-Sensor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12064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✔ STAC Nodes: Sentinel-2 L2A BOA &amp; Sentinel-1 C-Band SAR RTC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✔ Cloud Penetration: SAR Specular Backscatter (σ⁰_VV &lt; -16 dB)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✔ Local RAG Latency: &lt;35ms deterministic in-memory vector lookup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✔ Provenance Hash: 0x8a92f02c • Output: Immutable JSON Audit Bundle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S2 L2A MSI + S1 C-SAR + DEM • 12-D SPECTRAL RAG • 10m/px • SOVEREIGN FEW-SHOT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02 //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0FDFA"/>
                </a:solidFill>
                <a:latin typeface="Trebuchet MS"/>
              </a:defRPr>
            </a:pPr>
            <a:r>
              <a:t>The Crisis: 4 Critical Failures in Traditional Water Monitoring</a:t>
            </a:r>
          </a:p>
          <a:p>
            <a:pPr>
              <a:spcBef>
                <a:spcPts val="200"/>
              </a:spcBef>
              <a:defRPr sz="1100">
                <a:solidFill>
                  <a:srgbClr val="738CAD"/>
                </a:solidFill>
                <a:latin typeface="Calibri"/>
              </a:defRPr>
            </a:pPr>
            <a:r>
              <a:t>Freshwater ecosystems are vanishing 3x faster than terrestrial forests, yet modern conservation is crippled by 4 fundamental technological blindspots.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57800" cy="2148840"/>
          </a:xfrm>
          <a:prstGeom prst="rect">
            <a:avLst/>
          </a:prstGeom>
          <a:solidFill>
            <a:srgbClr val="0C1E3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65%+ MONSOON OCCLUSION GAP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1. THE OPTICAL CLOUD BLINDSPOT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Optical Satellites (Sentinel-2, Landsat) cannot penetrate dense monsoon clouds or night skies.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Tropical flood surges and peak runoff events occur exactly when optical observation is 100% blind.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Result: Emergency responders and hydrologists miss real-time flood crests and breach dynamics.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45920"/>
            <a:ext cx="5257800" cy="2148840"/>
          </a:xfrm>
          <a:prstGeom prst="rect">
            <a:avLst/>
          </a:prstGeom>
          <a:solidFill>
            <a:srgbClr val="0C1E3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92224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IGNORING CUBIC STORAGE COLLAPSE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2. THE 2D FLAT FOOTPRINT FALLACY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Traditional GIS only calculates 2D surface area (km²), completely blind to basin sedimentation.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A lake can maintain 90% of its surface footprint while losing 60% of its actual cubic volume (m³).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Result: Municipalities experience sudden summer water crises despite 'healthy' 2D satellite maps.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257800" cy="2148840"/>
          </a:xfrm>
          <a:prstGeom prst="rect">
            <a:avLst/>
          </a:prstGeom>
          <a:solidFill>
            <a:srgbClr val="0C1E3D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TOXIC ALGAL &amp; SILTATION DEFICIT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3. INVISIBLE BIO-OPTICAL DEGRADATION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Binary water index masks (NDWI &gt; 0) classify pristine reservoirs and sewage lagoons identically.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Sediment plumes (Turbidity/TSS) and toxic cyanobacterial blooms (Chlorophyll-a) go undetected.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Result: Catastrophic fish kills and eutrophication occur without triggering any satellite warning.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931920"/>
            <a:ext cx="5257800" cy="2148840"/>
          </a:xfrm>
          <a:prstGeom prst="rect">
            <a:avLst/>
          </a:prstGeom>
          <a:solidFill>
            <a:srgbClr val="0C1E3D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78224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STATIC SURVEYS &amp; API DEPENDENCY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4. HIGH LATENCY &amp; SOVEREIGN CLOUD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66344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Manual field surveys are exorbitantly expensive (&gt;$15k/basin) and obsolete upon delivery.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Decadal GIS updates (5-10 years) fail to detect weekly illegal infilling and wetland encroachment.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Heavy cloud LLMs introduce latency bottlenecks, API token costs, and sovereign data privacy risks.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S2 L2A MSI + S1 C-SAR + DEM • 12-D SPECTRAL RAG • 10m/px • SOVEREIGN FEW-SHOT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03 //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0FDFA"/>
                </a:solidFill>
                <a:latin typeface="Trebuchet MS"/>
              </a:defRPr>
            </a:pPr>
            <a:r>
              <a:t>The AquaSense Solution: 4 Pillars of Planetary Hydro-Intelligence</a:t>
            </a:r>
          </a:p>
          <a:p>
            <a:pPr>
              <a:spcBef>
                <a:spcPts val="200"/>
              </a:spcBef>
              <a:defRPr sz="1100">
                <a:solidFill>
                  <a:srgbClr val="738CAD"/>
                </a:solidFill>
                <a:latin typeface="Calibri"/>
              </a:defRPr>
            </a:pPr>
            <a:r>
              <a:t>An autonomous, multi-sensor observatory directly resolving all 4 traditional monitoring blindspots through orbital fusion and sovereign RAG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57800" cy="2148840"/>
          </a:xfrm>
          <a:prstGeom prst="rect">
            <a:avLst/>
          </a:prstGeom>
          <a:solidFill>
            <a:srgbClr val="0C1E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100% CLOUD &amp; NIGHT PENETRATION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1. ALL-WEATHER SENTINEL-1 C-SAR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Emits 5.405 GHz (λ=5.6cm) active microwaves that penetrate 100% of dense clouds, fog, and night.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Water acts as a specular mirror reflecting pulses away (σ⁰_VV &lt; -16 dB, crisp dark signature).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Dual Optical + SAR cross-validation ensures 365-day uninterrupted flood &amp; desiccation tracking.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45920"/>
            <a:ext cx="5257800" cy="2148840"/>
          </a:xfrm>
          <a:prstGeom prst="rect">
            <a:avLst/>
          </a:prstGeom>
          <a:solidFill>
            <a:srgbClr val="0C1E3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92224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VOLUMETRIC STORAGE &amp; DEPTH STRATA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2. 3D HYPSOMETRIC BATHYMETRY (m³)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Combines satellite surface footprint dynamics with Copernicus DEM GLO-30 / SRTM topography.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Hypsometric Integration: V(h) = ∫ A(z)dz calculates true cubic capacity (m³ &amp; MCM).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Classifies depth strata: Littoral wetland (0-2m), submerged channel (2-5m), and deep core (&gt;5m).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257800" cy="2148840"/>
          </a:xfrm>
          <a:prstGeom prst="rect">
            <a:avLst/>
          </a:prstGeom>
          <a:solidFill>
            <a:srgbClr val="0C1E3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TURBIDITY, CHL-A, CDOM &amp; 0-100 WQI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3. SPECTRAL BIO-OPTICAL WATER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NDTI = (B04-B03)/(B04+B03): Quantifies sediment plumes and suspended solids (mg/L TSS, NTU).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NDCI = (B05-B04)/(B05+B04): Tracks algal bloom eutrophication via Carlson Trophic State (TSI).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Aggregated Water Quality Index (WQI 0-100) provides instantaneous ecological health scoring.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931920"/>
            <a:ext cx="5257800" cy="2148840"/>
          </a:xfrm>
          <a:prstGeom prst="rect">
            <a:avLst/>
          </a:prstGeom>
          <a:solidFill>
            <a:srgbClr val="0C1E3D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78224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ZERO-CLOUD EDGE CLASSIFICATION (&lt;35MS)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4. SOVEREIGN 12-D TENSOR &amp; LOCAL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66344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12-D Tensor: [B02..B08, NDWI, MNDWI, NDTI, NDCI, σ⁰_VV, σ⁰_VH, ΔDEM, WQI].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Few-Shot Logistic Regression &amp; k-NN classifies land cover (water, wetland, built-up) in &lt;35ms.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In-Memory RAG Vector Store grounds insights against statutory Ramsar, CPCB, and WHO standards.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S2 L2A MSI + S1 C-SAR + DEM • 12-D SPECTRAL RAG • 10m/px • SOVEREIGN FEW-SHOT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04 // EXECUTION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0FDFA"/>
                </a:solidFill>
                <a:latin typeface="Trebuchet MS"/>
              </a:defRPr>
            </a:pPr>
            <a:r>
              <a:t>Live Multi-Sensor Pipeline &amp; Data Flow</a:t>
            </a:r>
          </a:p>
          <a:p>
            <a:pPr>
              <a:spcBef>
                <a:spcPts val="200"/>
              </a:spcBef>
              <a:defRPr sz="1100">
                <a:solidFill>
                  <a:srgbClr val="738CAD"/>
                </a:solidFill>
                <a:latin typeface="Calibri"/>
              </a:defRPr>
            </a:pPr>
            <a:r>
              <a:t>How raw optical, microwave radar, and topographic reflections transform into quantified volumetric &amp; ecological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560320" cy="2926080"/>
          </a:xfrm>
          <a:prstGeom prst="rect">
            <a:avLst/>
          </a:prstGeom>
          <a:solidFill>
            <a:srgbClr val="0C1E3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46504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NODE 01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Multi-Sensor STAC 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40280"/>
            <a:ext cx="223113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INPUT: AOI BBox + Target Epochs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Query Microsoft Planetary STAC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Ingest S2 L2A BOA Optical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Ingest S1 RTC C-Band SAR Radar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Ingest Copernicus DEM GLO-30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OUTPUT: Calibrated Multi-Sensor Grids</a:t>
            </a:r>
          </a:p>
        </p:txBody>
      </p:sp>
      <p:pic>
        <p:nvPicPr>
          <p:cNvPr id="8" name="Picture 7" descr="node1_stac_satell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17720"/>
            <a:ext cx="2560320" cy="1691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4617720"/>
            <a:ext cx="2560320" cy="1691640"/>
          </a:xfrm>
          <a:prstGeom prst="rect">
            <a:avLst/>
          </a:prstGeom>
          <a:noFill/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4727448"/>
            <a:ext cx="1531619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MULTI-SENSOR STAC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600200"/>
            <a:ext cx="2560320" cy="2926080"/>
          </a:xfrm>
          <a:prstGeom prst="rect">
            <a:avLst/>
          </a:prstGeom>
          <a:solidFill>
            <a:srgbClr val="0C1E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746504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NODE 02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Radiometric &amp; Radar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240280"/>
            <a:ext cx="223113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INPUT: Spectral Bands + Radar Backscatter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NDWI = (B03-B08)/(B03+B08)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NDTI = (B04-B03)/(B04+B03) (Turbidity)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NDCI = (B05-B04)/(B05+B04) (Chl-a)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SAR Specular σ⁰_VV &lt; -16 dB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OUTPUT: 12-D Radiometric Tensor</a:t>
            </a:r>
          </a:p>
        </p:txBody>
      </p:sp>
      <p:pic>
        <p:nvPicPr>
          <p:cNvPr id="14" name="Picture 13" descr="node2_band_ma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617720"/>
            <a:ext cx="2560320" cy="16916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74720" y="4617720"/>
            <a:ext cx="2560320" cy="1691640"/>
          </a:xfrm>
          <a:prstGeom prst="rect">
            <a:avLst/>
          </a:prstGeom>
          <a:noFill/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84448" y="4727448"/>
            <a:ext cx="146304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RADIOMETRIC MATH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2560320" cy="2926080"/>
          </a:xfrm>
          <a:prstGeom prst="rect">
            <a:avLst/>
          </a:prstGeom>
          <a:solidFill>
            <a:srgbClr val="0C1E3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46504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NODE 03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3D Hypsometry &amp; Diff 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240280"/>
            <a:ext cx="223113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INPUT: DEM Contours + Water Extent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Hypsometric Volume: V = ∫ A(z)dz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Tri-state change matrix {-1, 0, +1}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Depth strata: 0-2m, 2-5m, &gt;5m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Annual STAC time-series audit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OUTPUT: km² / m³ Metrics &amp; Diff Raster</a:t>
            </a:r>
          </a:p>
        </p:txBody>
      </p:sp>
      <p:pic>
        <p:nvPicPr>
          <p:cNvPr id="20" name="Picture 19" descr="node3_diff_mas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617720"/>
            <a:ext cx="2560320" cy="16916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217920" y="4617720"/>
            <a:ext cx="2560320" cy="1691640"/>
          </a:xfrm>
          <a:prstGeom prst="rect">
            <a:avLst/>
          </a:prstGeom>
          <a:noFill/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7648" y="4727448"/>
            <a:ext cx="173736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3D HYPSOMETRY &amp; DIFF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600200"/>
            <a:ext cx="2560320" cy="2926080"/>
          </a:xfrm>
          <a:prstGeom prst="rect">
            <a:avLst/>
          </a:prstGeom>
          <a:solidFill>
            <a:srgbClr val="0C1E3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746504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NODE 04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Dual AI Reasoning &amp;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240280"/>
            <a:ext cx="223113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INPUT: 12-D Tensor + Ground Photos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Sovereign Local RAG (Ramsar/CPCB)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Few-Shot Land-Cover Classification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Gemini 3.7: Deep CoT synthesis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Google Search &amp; Drone Vision</a:t>
            </a:r>
          </a:p>
          <a:p>
            <a:pPr>
              <a:spcAft>
                <a:spcPts val="2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OUTPUT: Policy &amp; Audit JSON Bundle</a:t>
            </a:r>
          </a:p>
        </p:txBody>
      </p:sp>
      <p:pic>
        <p:nvPicPr>
          <p:cNvPr id="26" name="Picture 25" descr="node4_gemini_a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617720"/>
            <a:ext cx="2560320" cy="16916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961120" y="4617720"/>
            <a:ext cx="2560320" cy="1691640"/>
          </a:xfrm>
          <a:prstGeom prst="rect">
            <a:avLst/>
          </a:prstGeom>
          <a:noFill/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70848" y="4727448"/>
            <a:ext cx="160020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SOVEREIGN RAG +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S2 L2A MSI + S1 C-SAR + DEM • 12-D SPECTRAL RAG • 10m/px • SOVEREIGN FEW-SHOT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05 //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0FDFA"/>
                </a:solidFill>
                <a:latin typeface="Trebuchet MS"/>
              </a:defRPr>
            </a:pPr>
            <a:r>
              <a:t>End-to-End System Architecture &amp; Technical Blueprint</a:t>
            </a:r>
          </a:p>
          <a:p>
            <a:pPr>
              <a:spcBef>
                <a:spcPts val="200"/>
              </a:spcBef>
              <a:defRPr sz="1100">
                <a:solidFill>
                  <a:srgbClr val="738CAD"/>
                </a:solidFill>
                <a:latin typeface="Calibri"/>
              </a:defRPr>
            </a:pPr>
            <a:r>
              <a:t>Comprehensive architecture connecting STAC multi-sensor nodes, 12-D tensor engine, few-shot classifier, local RAG vector store, and Gemini intelligence suite.</a:t>
            </a:r>
          </a:p>
        </p:txBody>
      </p:sp>
      <p:pic>
        <p:nvPicPr>
          <p:cNvPr id="5" name="Picture 4" descr="technical_approach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709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63040"/>
            <a:ext cx="10698480" cy="4709160"/>
          </a:xfrm>
          <a:prstGeom prst="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572768"/>
            <a:ext cx="3863339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SYSTEM ARCHITECTURE // COMPLETE TECHNICAL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S2 L2A MSI + S1 C-SAR + DEM • 12-D SPECTRAL RAG • 10m/px • SOVEREIGN FEW-SHOT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06 // REMOTE SENSING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0FDFA"/>
                </a:solidFill>
                <a:latin typeface="Trebuchet MS"/>
              </a:defRPr>
            </a:pPr>
            <a:r>
              <a:t>Multi-Sensor Electromagnetics &amp; Bio-Optical Formulations</a:t>
            </a:r>
          </a:p>
          <a:p>
            <a:pPr>
              <a:spcBef>
                <a:spcPts val="200"/>
              </a:spcBef>
              <a:defRPr sz="1100">
                <a:solidFill>
                  <a:srgbClr val="738CAD"/>
                </a:solidFill>
                <a:latin typeface="Calibri"/>
              </a:defRPr>
            </a:pPr>
            <a:r>
              <a:t>Physical wavelength properties, radar backscatter, 3D hypsometry, and bio-optical water quality models.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852160" cy="4480560"/>
          </a:xfrm>
          <a:prstGeom prst="rect">
            <a:avLst/>
          </a:prstGeom>
          <a:solidFill>
            <a:srgbClr val="0C1E3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ELECTROMAGNETIC SPECTRUM &amp; RADAR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Multi-Sensor Constellation Physics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37744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5840"/>
                <a:gridCol w="822960"/>
                <a:gridCol w="2377440"/>
              </a:tblGrid>
              <a:tr h="352697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SENSOR / BAND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WAVELENGTH / FREQ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PHYSICAL ROLE IN AQUASENSE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S2 B03 (Green)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560 nm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10 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Primary NDWI numerator (high water reflection)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S2 B04 (Red)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665 nm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10 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Chlorophyll absorption &amp; NDTI turbidity numerator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S2 B05 (Red-Edge)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705 nm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20 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Phytoplankton bloom scattering peak (NDCI)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S2 B08 (NIR)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842 nm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10 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Pure water absorption (NDWI denominator)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S1 C-Band SAR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5.405 GHz (5.6cm)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10 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All-weather cloud penetration via specular backscatter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Copernicus DEM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GLO-30 Topography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30 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Hypsometric depth integration: V = ∫ A(z)dz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4983480"/>
            <a:ext cx="5486400" cy="1005840"/>
          </a:xfrm>
          <a:prstGeom prst="rect">
            <a:avLst/>
          </a:prstGeom>
          <a:solidFill>
            <a:srgbClr val="071326"/>
          </a:solidFill>
          <a:ln w="12700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02920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22D3EE"/>
                </a:solidFill>
                <a:latin typeface="Consolas"/>
              </a:defRPr>
            </a:pPr>
            <a:r>
              <a:t>NDTI = (B04 - B03)/(B04 + B03) [Turbidity NTU]  |  NDCI = (B05 - B04)/(B05 + B04) [Chl-a µg/L]</a:t>
            </a:r>
          </a:p>
          <a:p>
            <a:pPr>
              <a:spcBef>
                <a:spcPts val="200"/>
              </a:spcBef>
              <a:defRPr sz="800">
                <a:solidFill>
                  <a:srgbClr val="CADAEE"/>
                </a:solidFill>
                <a:latin typeface="Consolas"/>
              </a:defRPr>
            </a:pPr>
            <a:r>
              <a:t>3D Hypsometry: V(h) = sum 1/3(A_i + sqrt(A_i * A_{i+1}) + A_{i+1}) * Delta_h  |  WQI in [0, 100]</a:t>
            </a:r>
          </a:p>
        </p:txBody>
      </p:sp>
      <p:pic>
        <p:nvPicPr>
          <p:cNvPr id="10" name="Picture 9" descr="wetland_ndwi_spect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383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0" y="1645920"/>
            <a:ext cx="4572000" cy="3383280"/>
          </a:xfrm>
          <a:prstGeom prst="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67728" y="1755648"/>
            <a:ext cx="276606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TRUE-COLOR VS NDWI + SAR WATER MASK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5120640"/>
            <a:ext cx="4572000" cy="100584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5266944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MULTI-SENSOR FUSED MASKS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Visualizing Hydrological Inundation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55321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Left: Sentinel-2 True Color (TCI) RGB optical view.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Right: High-contrast NDWI + SAR radar fused water mask with 3D depth contours.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S2 L2A MSI + S1 C-SAR + DEM • 12-D SPECTRAL RAG • 10m/px • SOVEREIGN FEW-SHOT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07 // PRODUCT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0FDFA"/>
                </a:solidFill>
                <a:latin typeface="Trebuchet MS"/>
              </a:defRPr>
            </a:pPr>
            <a:r>
              <a:t>AquaSense Cartographic Observatory &amp; Streamlined Layout</a:t>
            </a:r>
          </a:p>
          <a:p>
            <a:pPr>
              <a:spcBef>
                <a:spcPts val="200"/>
              </a:spcBef>
              <a:defRPr sz="1100">
                <a:solidFill>
                  <a:srgbClr val="738CAD"/>
                </a:solidFill>
                <a:latin typeface="Calibri"/>
              </a:defRPr>
            </a:pPr>
            <a:r>
              <a:t>High-density scientific user interface delivering synchronized spatial, spectral, volumetric, and temporal insights.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926080" cy="4480560"/>
          </a:xfrm>
          <a:prstGeom prst="rect">
            <a:avLst/>
          </a:prstGeom>
          <a:solidFill>
            <a:srgbClr val="0C1E3D"/>
          </a:solidFill>
          <a:ln w="12700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LEFT: CONFIG &amp; VOLUMETRICS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Telemetry &amp; Hydro-Depth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560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Hero Setup &amp; Collapsible Rail: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Prominent initialization console animating into dock/undock sidebar.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Interactive 8-Point BBOX Map: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Draggable anchor handles for custom spatial bounds [minLon, minLat, maxLon, maxLat].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3D Hydro-Depth &amp; Bio-Optics: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Recharts Area-Elevation volume curves, NTU turbidity, Chl-a, and CDOM.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Spectral Cutoff Tuning Sliders: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Optical NDWI cutoff &amp; SAR dB threshold.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645920"/>
            <a:ext cx="4480560" cy="4480560"/>
          </a:xfrm>
          <a:prstGeom prst="rect">
            <a:avLst/>
          </a:prstGeom>
          <a:solidFill>
            <a:srgbClr val="132B54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792224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CENTER: STREAMLINED 5-CORE MODES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Observatory Canvas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377440"/>
            <a:ext cx="41148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5 Streamlined Core View Modes: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1. [TRUE COLOR SWIPE] - Baseline RGB swipe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2. [NDWI WATER INDEX] - Pure water delineation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3. [SAR RADAR C-BAND] - All-weather microwave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4. [ALL-WEATHER FUSION] - Dual-sensor cross-val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5. [CHANGE DELTA] - Tri-state loss/gain matrix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Bio-Optics &amp; 3D Dropdown Selector: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3D Depth ($m^3$), Turbidity, Chl-a, and CDOM.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Interactive Mode Physics Guide HUD: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Displays active formula, mini-summary, physical mechanism, and diagnostic utility.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7 Scientific LUT Palettes with Needle Bar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645920"/>
            <a:ext cx="2926080" cy="4480560"/>
          </a:xfrm>
          <a:prstGeom prst="rect">
            <a:avLst/>
          </a:prstGeom>
          <a:solidFill>
            <a:srgbClr val="0C1E3D"/>
          </a:solidFill>
          <a:ln w="12700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792224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RIGHT: METRICS &amp; REASONING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Quantification &amp; Dual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77440"/>
            <a:ext cx="2560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Hydrological Change Matrix: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Baseline vs. Target area (km²) &amp; volume (MCM).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Net Change: -0.64 km² (-15.53%).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Multi-Year Recharts Trajectory: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Annual intermediate STAC samples.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Dual AI Intelligence Tabs: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1. Gemini 3.7 CoT Deep Synthesis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2. Search &amp; Maps Grounding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3. Drone Multimodal Vision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4. Sovereign 12-D Tensor &amp;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S2 L2A MSI + S1 C-SAR + DEM • 12-D SPECTRAL RAG • 10m/px • SOVEREIGN FEW-SHOT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08 // DUAL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0FDFA"/>
                </a:solidFill>
                <a:latin typeface="Trebuchet MS"/>
              </a:defRPr>
            </a:pPr>
            <a:r>
              <a:t>Cloud Gemini 3.7 &amp; Sovereign 12-D Local RAG Engine</a:t>
            </a:r>
          </a:p>
          <a:p>
            <a:pPr>
              <a:spcBef>
                <a:spcPts val="200"/>
              </a:spcBef>
              <a:defRPr sz="1100">
                <a:solidFill>
                  <a:srgbClr val="738CAD"/>
                </a:solidFill>
                <a:latin typeface="Calibri"/>
              </a:defRPr>
            </a:pPr>
            <a:r>
              <a:t>Combining cloud multimodal reasoning with sovereign in-memory vector RAG and few-shot classification.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852160" cy="1417320"/>
          </a:xfrm>
          <a:prstGeom prst="rect">
            <a:avLst/>
          </a:prstGeom>
          <a:solidFill>
            <a:srgbClr val="0C1E3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GEMINI-3.7-FLASH (COT THINKING)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🧠 DEEP ECOLOGICAL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Formulates structured hydrological trajectory reports.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Isolates primary drivers (urban encroachment, rainfall deficits).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Assesses flood attenuation &amp; groundwater ecosystem services.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82112"/>
            <a:ext cx="5852160" cy="141732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28416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GEMINI-3.5-FLASH + TOOLS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🔍 SEARCH &amp; MAPS GROUNDING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2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Integrates live Google Search for municipal restoration orders.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Google Maps spatial database identifies surrounding IT corridors.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Returns verifiable, clickable grounding citations.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18304"/>
            <a:ext cx="5852160" cy="1417320"/>
          </a:xfrm>
          <a:prstGeom prst="rect">
            <a:avLst/>
          </a:prstGeom>
          <a:solidFill>
            <a:srgbClr val="0C1E3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64608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IN-MEMORY VECTOR STORE (&lt;35MS)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🧬 SOVEREIGN 12-D LOCAL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04104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Ingests Ramsar criteria, CPCB Class A-E standards, WHO limits.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Cosine Top-K retrieval &amp; deterministic assessment synthesis.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100% sovereign, private, and zero cloud API dependency.</a:t>
            </a:r>
          </a:p>
        </p:txBody>
      </p:sp>
      <p:pic>
        <p:nvPicPr>
          <p:cNvPr id="14" name="Picture 13" descr="multimodal_field_dr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1089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858000" y="1645920"/>
            <a:ext cx="4572000" cy="3108960"/>
          </a:xfrm>
          <a:prstGeom prst="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67728" y="1755648"/>
            <a:ext cx="221742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MULTIMODAL FIELD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4846320"/>
            <a:ext cx="4572000" cy="1280160"/>
          </a:xfrm>
          <a:prstGeom prst="rect">
            <a:avLst/>
          </a:prstGeom>
          <a:solidFill>
            <a:srgbClr val="0C1E3D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4992624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GEMINI 3.7 FLASH (MULTIMODAL VISION)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📸 Drone &amp; Ground-Truth Photo Understanding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44068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Ingests field photos, drone captures, or handheld phone images.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Evaluates water turbidity, surface algae, and hyacinth mats.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Produces estimated Few-Shot class confidence breakdowns.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S2 L2A MSI + S1 C-SAR + DEM • 12-D SPECTRAL RAG • 10m/px • SOVEREIGN FEW-SHOT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09 // SOVEREIGN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0FDFA"/>
                </a:solidFill>
                <a:latin typeface="Trebuchet MS"/>
              </a:defRPr>
            </a:pPr>
            <a:r>
              <a:t>12-Dimensional Radiometric Extractor &amp; Few-Shot ML</a:t>
            </a:r>
          </a:p>
          <a:p>
            <a:pPr>
              <a:spcBef>
                <a:spcPts val="200"/>
              </a:spcBef>
              <a:defRPr sz="1100">
                <a:solidFill>
                  <a:srgbClr val="738CAD"/>
                </a:solidFill>
                <a:latin typeface="Calibri"/>
              </a:defRPr>
            </a:pPr>
            <a:r>
              <a:t>Deterministic mathematical feature tensors feeding localized classifiers and statutory RAG retrieval.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4480560"/>
          </a:xfrm>
          <a:prstGeom prst="rect">
            <a:avLst/>
          </a:prstGeom>
          <a:solidFill>
            <a:srgbClr val="0C1E3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SPECTRAL12D EXTRACTOR ENGINE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12-D Radiometric Tensor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1. 12-DIMENSIONAL FEATURE TENSOR DEFINITION: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e = [B02, B03, B04, B08, NDWI, MNDWI, NDTI, NDCI, VV, VH, Delta_DEM, WQI]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Combines visible bands, optical water indices, SAR radar backscatter, topographic elevation, and water quality index.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2. DETERMINISTIC RADIOMETRIC PHYSICS: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B02-B08: Calibrated surface reflectance (0-1).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NDWI &amp; MNDWI: Normalized Difference Water Indices.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NDTI: Normalized Difference Turbidity Index (B04-B03)/(B04+B03).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NDCI: Normalized Difference Chlorophyll Index (B05-B04)/(B05+B04).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VV &amp; VH: Sentinel-1 C-band backscatter in decibels (dB).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Delta_DEM: Copernicus GLO-30 topographic slope buffer.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WQI: Aggregated bio-optical ecological score (0-100).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3. ZERO-DEPENDENCY EDGE INFERENCE: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Extracted in pure TypeScript/Node.js without external GPU.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48056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9222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RAPID ADAPTATION OVER 12-D TENSORS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FewShotClassifier &amp; RAG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1. L2-REGULARIZED LOGISTIC REGRESSION: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Loss = -1/N sum [ w+ y log(sigma(z)) + w- (1-y) log(1-sigma(z)) ] + 1/(2C) ||w||²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Inverse Class Frequency Weighting: w+ = N/(2*N+), w- = N/(2*N-).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Output Classes: water, wetland, built_up.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2. COSINE-WEIGHTED k-NEAREST NEIGHBORS (k-NN):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Distance = 1.0 - (x . r_j) / (||x|| * ||r_j||)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Voting Weights: w_j = 1.0 / (dist_j + 1e-5).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3. IN-MEMORY RAG STATUTORY RETRIEVAL: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TF-IDF Cosine semantic similarity over Ramsar criteria, CPCB Class A-E benchmarks, and WHO limits.</a:t>
            </a:r>
          </a:p>
          <a:p>
            <a:pPr>
              <a:spcAft>
                <a:spcPts val="25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   • Top-K retrieved chunks feed structured markdown synthesizer.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S2 L2A MSI + S1 C-SAR + DEM • 12-D SPECTRAL RAG • 10m/px • SOVEREIGN FEW-SHOT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10 // FIELD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0FDFA"/>
                </a:solidFill>
                <a:latin typeface="Trebuchet MS"/>
              </a:defRPr>
            </a:pPr>
            <a:r>
              <a:t>Pallikaranai Ramsar Marshland Multi-Sensor Audit</a:t>
            </a:r>
          </a:p>
          <a:p>
            <a:pPr>
              <a:spcBef>
                <a:spcPts val="200"/>
              </a:spcBef>
              <a:defRPr sz="1100">
                <a:solidFill>
                  <a:srgbClr val="738CAD"/>
                </a:solidFill>
                <a:latin typeface="Calibri"/>
              </a:defRPr>
            </a:pPr>
            <a:r>
              <a:t>Quantifying surface water shrinkage, volumetric retention loss, and eutrophication across 2019-2025.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1097280"/>
          </a:xfrm>
          <a:prstGeom prst="rect">
            <a:avLst/>
          </a:prstGeom>
          <a:solidFill>
            <a:srgbClr val="0C1E3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4.12 km²</a:t>
            </a:r>
          </a:p>
          <a:p>
            <a:pPr>
              <a:defRPr sz="800" b="1">
                <a:solidFill>
                  <a:srgbClr val="F0FDFA"/>
                </a:solidFill>
                <a:latin typeface="Consolas"/>
              </a:defRPr>
            </a:pPr>
            <a:r>
              <a:t>2019 BASELINE WATER (T0)</a:t>
            </a:r>
          </a:p>
          <a:p>
            <a:pPr>
              <a:defRPr sz="850">
                <a:solidFill>
                  <a:srgbClr val="738CAD"/>
                </a:solidFill>
              </a:defRPr>
            </a:pPr>
            <a:r>
              <a:t>Post-monsoon water surface extent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45920"/>
            <a:ext cx="2560320" cy="1097280"/>
          </a:xfrm>
          <a:prstGeom prst="rect">
            <a:avLst/>
          </a:prstGeom>
          <a:solidFill>
            <a:srgbClr val="0C1E3D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3.48 km²</a:t>
            </a:r>
          </a:p>
          <a:p>
            <a:pPr>
              <a:defRPr sz="800" b="1">
                <a:solidFill>
                  <a:srgbClr val="F0FDFA"/>
                </a:solidFill>
                <a:latin typeface="Consolas"/>
              </a:defRPr>
            </a:pPr>
            <a:r>
              <a:t>2025 TARGET WATER (T1)</a:t>
            </a:r>
          </a:p>
          <a:p>
            <a:pPr>
              <a:defRPr sz="850">
                <a:solidFill>
                  <a:srgbClr val="738CAD"/>
                </a:solidFill>
              </a:defRPr>
            </a:pPr>
            <a:r>
              <a:t>Recent Sentinel-2/1 pass extent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2560320" cy="1097280"/>
          </a:xfrm>
          <a:prstGeom prst="rect">
            <a:avLst/>
          </a:prstGeom>
          <a:solidFill>
            <a:srgbClr val="0C1E3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43F5E"/>
                </a:solidFill>
                <a:latin typeface="Trebuchet MS"/>
              </a:defRPr>
            </a:pPr>
            <a:r>
              <a:t>-0.64 km²</a:t>
            </a:r>
          </a:p>
          <a:p>
            <a:pPr>
              <a:defRPr sz="800" b="1">
                <a:solidFill>
                  <a:srgbClr val="F0FDFA"/>
                </a:solidFill>
                <a:latin typeface="Consolas"/>
              </a:defRPr>
            </a:pPr>
            <a:r>
              <a:t>ABSOLUTE NET CHANGE</a:t>
            </a:r>
          </a:p>
          <a:p>
            <a:pPr>
              <a:defRPr sz="850">
                <a:solidFill>
                  <a:srgbClr val="738CAD"/>
                </a:solidFill>
              </a:defRPr>
            </a:pPr>
            <a:r>
              <a:t>Permanent water surface lost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645920"/>
            <a:ext cx="2560320" cy="1097280"/>
          </a:xfrm>
          <a:prstGeom prst="rect">
            <a:avLst/>
          </a:prstGeom>
          <a:solidFill>
            <a:srgbClr val="0C1E3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916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BBF24"/>
                </a:solidFill>
                <a:latin typeface="Trebuchet MS"/>
              </a:defRPr>
            </a:pPr>
            <a:r>
              <a:t>-15.53%</a:t>
            </a:r>
          </a:p>
          <a:p>
            <a:pPr>
              <a:defRPr sz="800" b="1">
                <a:solidFill>
                  <a:srgbClr val="F0FDFA"/>
                </a:solidFill>
                <a:latin typeface="Consolas"/>
              </a:defRPr>
            </a:pPr>
            <a:r>
              <a:t>RELATIVE WETLAND LOSS</a:t>
            </a:r>
          </a:p>
          <a:p>
            <a:pPr>
              <a:defRPr sz="850">
                <a:solidFill>
                  <a:srgbClr val="738CAD"/>
                </a:solidFill>
              </a:defRPr>
            </a:pPr>
            <a:r>
              <a:t>Severe hydrological constriction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5212080" cy="3200400"/>
          </a:xfrm>
          <a:prstGeom prst="rect">
            <a:avLst/>
          </a:prstGeom>
          <a:solidFill>
            <a:srgbClr val="0C1E3D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7238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MULTI-SENSOR GROUND-TRUTH CONFIRMATION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Spatial Findings &amp; Bio-Optical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Northern Perimeter Shrinkage: The Diff Mask reveals intense signal red loss along the Velachery-Tambaram IT corridor expansion.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Volumetric Storage Loss: 3D DEM Bathymetry reveals a drop from 12.8 MCM (2019) to 10.4 MCM (2025) (-18.75% storage volume).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Bio-Optical Water Quality: Turbidity rose from 14.2 NTU to 28.6 NTU; Chlorophyll-a rose to 19.4 µg/L (Eutrophic Alert, WQI: 68).</a:t>
            </a:r>
          </a:p>
          <a:p>
            <a:pPr>
              <a:spcAft>
                <a:spcPts val="3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• Multi-Sensor Verification: Baseline S2A_MSIL2A (0% cloud) vs. Target S2B + S1 C-SAR (all-weather radar confirmed).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212080" cy="320040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7238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INTERMEDIATE ANNUAL MULTI-SENSOR SAMPLING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Longitudinal Time-Series &amp; Volumetric Data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0" y="3566160"/>
          <a:ext cx="4846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1005840"/>
                <a:gridCol w="914400"/>
                <a:gridCol w="1188720"/>
              </a:tblGrid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WATER (KM²)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VOLUME (MCM)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WQI (0-100)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HYDROLOGICAL STATE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4.12 km²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12.8 MCM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84 (Good)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Baseline Post-Drought Recovery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4.05 km²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12.4 MCM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82 (Good)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Stable Pre-Monsoon Capacity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4.38 km²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14.1 MCM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88 (Good)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Extreme Monsoon Inundation Peak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3.89 km²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11.9 MCM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76 (Fair)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Construction Encroachment Phase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3.62 km²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11.0 MCM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71 (Fair)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Summer Dry-Down &amp; Constriction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3.51 km²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10.6 MCM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69 (Moderate)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Fragmented Southern Retention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3.48 km²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10.4 MCM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68 (Moderate)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Current Multi-Sensor Audit (-15.5%)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S2 L2A MSI + S1 C-SAR + DEM • 12-D SPECTRAL RAG • 10m/px • SOVEREIGN FEW-SHOT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11 // STRATEGIC IMPACT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0FDFA"/>
                </a:solidFill>
                <a:latin typeface="Trebuchet MS"/>
              </a:defRPr>
            </a:pPr>
            <a:r>
              <a:t>Global Stakeholder Applications &amp; Strategic Scaling Roadmap</a:t>
            </a:r>
          </a:p>
          <a:p>
            <a:pPr>
              <a:spcBef>
                <a:spcPts val="200"/>
              </a:spcBef>
              <a:defRPr sz="1100">
                <a:solidFill>
                  <a:srgbClr val="738CAD"/>
                </a:solidFill>
                <a:latin typeface="Calibri"/>
              </a:defRPr>
            </a:pPr>
            <a:r>
              <a:t>Transforming satellite observation into verifiable conservation policy, smart city resilience, and planetary hydro-intelligence.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5212080" cy="4572000"/>
          </a:xfrm>
          <a:prstGeom prst="rect">
            <a:avLst/>
          </a:prstGeom>
          <a:solidFill>
            <a:srgbClr val="0C1E3D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4650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GLOBAL APPLICATION DOMAINS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Target Stakeholders &amp; Real-World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40280"/>
            <a:ext cx="2331720" cy="1783080"/>
          </a:xfrm>
          <a:prstGeom prst="rect">
            <a:avLst/>
          </a:prstGeom>
          <a:solidFill>
            <a:srgbClr val="07132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Trebuchet MS"/>
              </a:defRPr>
            </a:pPr>
            <a:r>
              <a:t>🏛️ GOVERNANCE &amp; POLICY</a:t>
            </a:r>
          </a:p>
          <a:p>
            <a:pPr>
              <a:spcAft>
                <a:spcPts val="300"/>
              </a:spcAft>
              <a:defRPr sz="700" b="1">
                <a:solidFill>
                  <a:srgbClr val="738CAD"/>
                </a:solidFill>
                <a:latin typeface="Consolas"/>
              </a:defRPr>
            </a:pPr>
            <a:r>
              <a:t>WETLAND AUTHORITIES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Ramsar &amp; Biodiversity compliance reporting.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Automated alerts on illegal landfilling.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Court-admissible proof (hash: 0x8a92f02c).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240280"/>
            <a:ext cx="2331720" cy="1783080"/>
          </a:xfrm>
          <a:prstGeom prst="rect">
            <a:avLst/>
          </a:prstGeom>
          <a:solidFill>
            <a:srgbClr val="071326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331720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6D6A0"/>
                </a:solidFill>
                <a:latin typeface="Trebuchet MS"/>
              </a:defRPr>
            </a:pPr>
            <a:r>
              <a:t>🌱 CONSERVATION NGOS</a:t>
            </a:r>
          </a:p>
          <a:p>
            <a:pPr>
              <a:spcAft>
                <a:spcPts val="300"/>
              </a:spcAft>
              <a:defRPr sz="700" b="1">
                <a:solidFill>
                  <a:srgbClr val="738CAD"/>
                </a:solidFill>
                <a:latin typeface="Consolas"/>
              </a:defRPr>
            </a:pPr>
            <a:r>
              <a:t>ECOLOGISTS &amp; ADVOCACY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Continuous remote monitoring of basins.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Field photo ground-truthing portal.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Multi-year trend data for climate grants.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2331720" cy="1783080"/>
          </a:xfrm>
          <a:prstGeom prst="rect">
            <a:avLst/>
          </a:prstGeom>
          <a:solidFill>
            <a:srgbClr val="0713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Trebuchet MS"/>
              </a:defRPr>
            </a:pPr>
            <a:r>
              <a:t>🏙️ SMART CITIES &amp; PLANNERS</a:t>
            </a:r>
          </a:p>
          <a:p>
            <a:pPr>
              <a:spcAft>
                <a:spcPts val="300"/>
              </a:spcAft>
              <a:defRPr sz="700" b="1">
                <a:solidFill>
                  <a:srgbClr val="738CAD"/>
                </a:solidFill>
                <a:latin typeface="Consolas"/>
              </a:defRPr>
            </a:pPr>
            <a:r>
              <a:t>FLOOD ATTENUATION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3D volumetric water holding capacity checks.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Critical urban flood buffer preservation.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City emergency dashboard integration.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114800"/>
            <a:ext cx="2331720" cy="1783080"/>
          </a:xfrm>
          <a:prstGeom prst="rect">
            <a:avLst/>
          </a:prstGeom>
          <a:solidFill>
            <a:srgbClr val="071326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4206240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43F5E"/>
                </a:solidFill>
                <a:latin typeface="Trebuchet MS"/>
              </a:defRPr>
            </a:pPr>
            <a:r>
              <a:t>💼 ESG &amp; BLUE CARBON</a:t>
            </a:r>
          </a:p>
          <a:p>
            <a:pPr>
              <a:spcAft>
                <a:spcPts val="300"/>
              </a:spcAft>
              <a:defRPr sz="700" b="1">
                <a:solidFill>
                  <a:srgbClr val="738CAD"/>
                </a:solidFill>
                <a:latin typeface="Consolas"/>
              </a:defRPr>
            </a:pPr>
            <a:r>
              <a:t>SUSTAINABILITY AUDIT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Independent satellite MRV verification.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Auditable wetland carbon credit validation.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Corporate water stewardship reporting.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5212080" cy="457200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4650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PLANETARY DEPLOYMENT PHASES</a:t>
            </a:r>
          </a:p>
          <a:p>
            <a:pPr>
              <a:defRPr sz="1150" b="1">
                <a:solidFill>
                  <a:srgbClr val="F0FDFA"/>
                </a:solidFill>
                <a:latin typeface="Trebuchet MS"/>
              </a:defRPr>
            </a:pPr>
            <a:r>
              <a:t>Strategic Scaling Roadmap &amp; Milestones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40280"/>
            <a:ext cx="4846320" cy="841248"/>
          </a:xfrm>
          <a:prstGeom prst="rect">
            <a:avLst/>
          </a:prstGeom>
          <a:solidFill>
            <a:srgbClr val="071326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13432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6D6A0"/>
                </a:solidFill>
                <a:latin typeface="Consolas"/>
              </a:defRPr>
            </a:pPr>
            <a:r>
              <a:t>PHASE 1: CURRENT PRODUCTION  //  BENCHMARK DEPLOYMENT</a:t>
            </a:r>
          </a:p>
          <a:p>
            <a:pPr>
              <a:spcBef>
                <a:spcPts val="200"/>
              </a:spcBef>
              <a:defRPr sz="800">
                <a:solidFill>
                  <a:srgbClr val="CADAEE"/>
                </a:solidFill>
              </a:defRPr>
            </a:pPr>
            <a:r>
              <a:t>✔ Multi-sensor STAC, 5-core view modes, 3D bathymetry (m³), bio-optics (NDTI/NDCI), 12-D RAG engine, and Pallikaranai audit.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172968"/>
            <a:ext cx="4846320" cy="841248"/>
          </a:xfrm>
          <a:prstGeom prst="rect">
            <a:avLst/>
          </a:prstGeom>
          <a:solidFill>
            <a:srgbClr val="07132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24612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Consolas"/>
              </a:defRPr>
            </a:pPr>
            <a:r>
              <a:t>PHASE 2: Q4 2025  //  MULTI-BASIN EXPANSION</a:t>
            </a:r>
          </a:p>
          <a:p>
            <a:pPr>
              <a:spcBef>
                <a:spcPts val="200"/>
              </a:spcBef>
              <a:defRPr sz="800">
                <a:solidFill>
                  <a:srgbClr val="CADAEE"/>
                </a:solidFill>
              </a:defRPr>
            </a:pPr>
            <a:r>
              <a:t>• Global STAC webhook triggers, automated GeoJSON vector boundary export, and Landsat thermal infrared integration.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05656"/>
            <a:ext cx="4846320" cy="841248"/>
          </a:xfrm>
          <a:prstGeom prst="rect">
            <a:avLst/>
          </a:prstGeom>
          <a:solidFill>
            <a:srgbClr val="0713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178808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PHASE 3: Q1 2026  //  ACTIVE LEARNING ML</a:t>
            </a:r>
          </a:p>
          <a:p>
            <a:pPr>
              <a:spcBef>
                <a:spcPts val="200"/>
              </a:spcBef>
              <a:defRPr sz="800">
                <a:solidFill>
                  <a:srgbClr val="CADAEE"/>
                </a:solidFill>
              </a:defRPr>
            </a:pPr>
            <a:r>
              <a:t>• Few-shot patch labeling UI, edge WebAssembly deployment, and citizen science mobile photo ground-truthing portal.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038344"/>
            <a:ext cx="4846320" cy="841248"/>
          </a:xfrm>
          <a:prstGeom prst="rect">
            <a:avLst/>
          </a:prstGeom>
          <a:solidFill>
            <a:srgbClr val="071326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5111496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43F5E"/>
                </a:solidFill>
                <a:latin typeface="Consolas"/>
              </a:defRPr>
            </a:pPr>
            <a:r>
              <a:t>PHASE 4: 2027 VISION  //  PLANETARY HYDRO-NETWORK</a:t>
            </a:r>
          </a:p>
          <a:p>
            <a:pPr>
              <a:spcBef>
                <a:spcPts val="200"/>
              </a:spcBef>
              <a:defRPr sz="800">
                <a:solidFill>
                  <a:srgbClr val="CADAEE"/>
                </a:solidFill>
              </a:defRPr>
            </a:pPr>
            <a:r>
              <a:t>• Pan-India &amp; Global Wetland Atlas, real-time flood surge forecasting, open public API for NGOs, automated Blue Carbon registry.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S2 L2A MSI + S1 C-SAR + DEM • 12-D SPECTRAL RAG • 10m/px • SOVEREIGN FEW-SHOT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12 // LIVE PRODUCT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0FDFA"/>
                </a:solidFill>
                <a:latin typeface="Trebuchet MS"/>
              </a:defRPr>
            </a:pPr>
            <a:r>
              <a:t>AquaSense Live Planetary Observatory: Verified Operational Output</a:t>
            </a:r>
          </a:p>
          <a:p>
            <a:pPr>
              <a:spcBef>
                <a:spcPts val="200"/>
              </a:spcBef>
              <a:defRPr sz="1100">
                <a:solidFill>
                  <a:srgbClr val="738CAD"/>
                </a:solidFill>
                <a:latin typeface="Calibri"/>
              </a:defRPr>
            </a:pPr>
            <a:r>
              <a:t>Direct screen capture of the operational multi-sensor dashboard running on Sentinel-2 MSI, Sentinel-1 C-SAR, and DEM hypsometry.</a:t>
            </a:r>
          </a:p>
        </p:txBody>
      </p:sp>
      <p:pic>
        <p:nvPicPr>
          <p:cNvPr id="5" name="Picture 4" descr="current_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572768"/>
            <a:ext cx="468630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AQUASENSE OPERATIONAL MULTI-SENSOR DASHBOARD // LIVE RUN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PLANETARY OBSERVATORY • LIVE RUN OUTPUT • ALL-WEATHER RADAR FUSION • 3D BATHYMETRY • 12-D RAG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