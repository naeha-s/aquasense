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7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548640"/>
            <a:ext cx="2926080" cy="256032"/>
          </a:xfrm>
          <a:prstGeom prst="roundRect">
            <a:avLst/>
          </a:prstGeom>
          <a:solidFill>
            <a:srgbClr val="071326"/>
          </a:solidFill>
          <a:ln w="9525">
            <a:solidFill>
              <a:srgbClr val="1D3D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18288" bIns="18288"/>
          <a:lstStyle/>
          <a:p>
            <a:pPr algn="ctr">
              <a:defRPr sz="800" b="1">
                <a:solidFill>
                  <a:srgbClr val="22D3EE"/>
                </a:solidFill>
                <a:latin typeface="Consolas"/>
              </a:defRPr>
            </a:pPr>
            <a:r>
              <a:t>ORBITAL NODE: ESA SENTINEL-2 // STAC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68680"/>
            <a:ext cx="1645920" cy="508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566928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5200" b="1">
                <a:solidFill>
                  <a:srgbClr val="F0FDFA"/>
                </a:solidFill>
                <a:latin typeface="Trebuchet MS"/>
              </a:defRPr>
            </a:pPr>
            <a:r>
              <a:t>AquaSense</a:t>
            </a:r>
          </a:p>
          <a:p>
            <a:pPr>
              <a:spcBef>
                <a:spcPts val="400"/>
              </a:spcBef>
              <a:defRPr sz="1600" b="1">
                <a:solidFill>
                  <a:srgbClr val="22D3EE"/>
                </a:solidFill>
                <a:latin typeface="Calibri"/>
              </a:defRPr>
            </a:pPr>
            <a:r>
              <a:t>Autonomous Earth Observation &amp; AI Wetland Hydro-Observatory</a:t>
            </a:r>
          </a:p>
          <a:p>
            <a:pPr>
              <a:spcBef>
                <a:spcPts val="800"/>
              </a:spcBef>
              <a:defRPr sz="1150">
                <a:solidFill>
                  <a:srgbClr val="CADAEE"/>
                </a:solidFill>
                <a:latin typeface="Calibri"/>
              </a:defRPr>
            </a:pPr>
            <a:r>
              <a:t>Continuous multispectral satellite ingestion, real-time NDWI temporal quantification, and multimodal ecological reasoning powered by Google Gemini 3.7 &amp; Microsoft Planetary Computer.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383280"/>
            <a:ext cx="1353312" cy="292608"/>
          </a:xfrm>
          <a:prstGeom prst="roundRect">
            <a:avLst/>
          </a:prstGeom>
          <a:solidFill>
            <a:srgbClr val="173564"/>
          </a:solidFill>
          <a:ln w="9525">
            <a:solidFill>
              <a:srgbClr val="1D3D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18288" bIns="18288"/>
          <a:lstStyle/>
          <a:p>
            <a:pPr algn="ctr">
              <a:defRPr sz="800" b="1">
                <a:solidFill>
                  <a:srgbClr val="22D3EE"/>
                </a:solidFill>
                <a:latin typeface="Consolas"/>
              </a:defRPr>
            </a:pPr>
            <a:r>
              <a:t>🛰️ STAC Pipeline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48840" y="3383280"/>
            <a:ext cx="1353312" cy="292608"/>
          </a:xfrm>
          <a:prstGeom prst="roundRect">
            <a:avLst/>
          </a:prstGeom>
          <a:solidFill>
            <a:srgbClr val="173564"/>
          </a:solidFill>
          <a:ln w="9525">
            <a:solidFill>
              <a:srgbClr val="1D3D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18288" bIns="18288"/>
          <a:lstStyle/>
          <a:p>
            <a:pPr algn="ctr">
              <a:defRPr sz="800" b="1">
                <a:solidFill>
                  <a:srgbClr val="06D6A0"/>
                </a:solidFill>
                <a:latin typeface="Consolas"/>
              </a:defRPr>
            </a:pPr>
            <a:r>
              <a:t>💧 NDWI Canvas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66160" y="3383280"/>
            <a:ext cx="1353312" cy="292608"/>
          </a:xfrm>
          <a:prstGeom prst="roundRect">
            <a:avLst/>
          </a:prstGeom>
          <a:solidFill>
            <a:srgbClr val="173564"/>
          </a:solidFill>
          <a:ln w="9525">
            <a:solidFill>
              <a:srgbClr val="1D3D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18288" bIns="18288"/>
          <a:lstStyle/>
          <a:p>
            <a:pPr algn="ctr">
              <a:defRPr sz="800" b="1">
                <a:solidFill>
                  <a:srgbClr val="FBBF24"/>
                </a:solidFill>
                <a:latin typeface="Consolas"/>
              </a:defRPr>
            </a:pPr>
            <a:r>
              <a:t>🧠 Gemini 3.7 AI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83480" y="3383280"/>
            <a:ext cx="1353312" cy="292608"/>
          </a:xfrm>
          <a:prstGeom prst="roundRect">
            <a:avLst/>
          </a:prstGeom>
          <a:solidFill>
            <a:srgbClr val="173564"/>
          </a:solidFill>
          <a:ln w="9525">
            <a:solidFill>
              <a:srgbClr val="1D3D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18288" bIns="18288"/>
          <a:lstStyle/>
          <a:p>
            <a:pPr algn="ctr">
              <a:defRPr sz="800" b="1">
                <a:solidFill>
                  <a:srgbClr val="CADAEE"/>
                </a:solidFill>
                <a:latin typeface="Consolas"/>
              </a:defRPr>
            </a:pPr>
            <a:r>
              <a:t>🔬 Few-Shot ML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3931920"/>
            <a:ext cx="5486400" cy="2286000"/>
          </a:xfrm>
          <a:prstGeom prst="rect">
            <a:avLst/>
          </a:prstGeom>
          <a:solidFill>
            <a:srgbClr val="0C1E3D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078224"/>
            <a:ext cx="512064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22D3EE"/>
                </a:solidFill>
                <a:latin typeface="Consolas"/>
              </a:defRPr>
            </a:pPr>
            <a:r>
              <a:t>LONGITUDINAL HYDROLOGICAL TELEMETRY</a:t>
            </a:r>
          </a:p>
          <a:p>
            <a:pPr>
              <a:defRPr sz="1200" b="1">
                <a:solidFill>
                  <a:srgbClr val="F0FDFA"/>
                </a:solidFill>
                <a:latin typeface="Trebuchet MS"/>
              </a:defRPr>
            </a:pPr>
            <a:r>
              <a:t>Active Pilot: Pallikaranai Ramsar Basin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526280"/>
            <a:ext cx="5120640" cy="1600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• Coordinates: [80.20°E, 12.91°N] to [80.23°E, 12.95°N] • Chennai, India</a:t>
            </a:r>
          </a:p>
          <a:p>
            <a:pPr>
              <a:spcAft>
                <a:spcPts val="2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• Observation Epochs: Baseline 2019 (T0) → Target 2025 (T1) Multi-Year Audit</a:t>
            </a:r>
          </a:p>
          <a:p>
            <a:pPr>
              <a:spcAft>
                <a:spcPts val="2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• Spectral Bands: Sentinel-2 L2A BOA (B03 Green 560nm, B08 NIR 842nm)</a:t>
            </a:r>
          </a:p>
          <a:p>
            <a:pPr>
              <a:spcAft>
                <a:spcPts val="2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• Resolution &amp; Area Metric: 10m Ground Grid = 0.0001 km² / pixel</a:t>
            </a:r>
          </a:p>
          <a:p>
            <a:pPr>
              <a:spcAft>
                <a:spcPts val="2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• Gemini Grounding: Real-time Search + Maps + Multimodal Drone Vision</a:t>
            </a:r>
          </a:p>
        </p:txBody>
      </p:sp>
      <p:pic>
        <p:nvPicPr>
          <p:cNvPr id="12" name="Picture 11" descr="satellite_earth_orbi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731520"/>
            <a:ext cx="4937760" cy="365760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6492240" y="731520"/>
            <a:ext cx="4937760" cy="3657600"/>
          </a:xfrm>
          <a:prstGeom prst="rect">
            <a:avLst/>
          </a:prstGeom>
          <a:noFill/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629400" y="868680"/>
            <a:ext cx="2578608" cy="237744"/>
          </a:xfrm>
          <a:prstGeom prst="roundRect">
            <a:avLst/>
          </a:prstGeom>
          <a:solidFill>
            <a:srgbClr val="030712"/>
          </a:solidFill>
          <a:ln w="9525">
            <a:solidFill>
              <a:srgbClr val="1D3D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18288" bIns="18288"/>
          <a:lstStyle/>
          <a:p>
            <a:pPr algn="ctr">
              <a:defRPr sz="750" b="1">
                <a:solidFill>
                  <a:srgbClr val="22D3EE"/>
                </a:solidFill>
                <a:latin typeface="Consolas"/>
              </a:defRPr>
            </a:pPr>
            <a:r>
              <a:t>SENTINEL-2 L2A ORBITAL STREAM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4572000"/>
            <a:ext cx="4937760" cy="1645920"/>
          </a:xfrm>
          <a:prstGeom prst="rect">
            <a:avLst/>
          </a:prstGeom>
          <a:solidFill>
            <a:srgbClr val="0C1E3D"/>
          </a:solidFill>
          <a:ln w="12700">
            <a:solidFill>
              <a:srgbClr val="06D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5120" y="4718304"/>
            <a:ext cx="45720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22D3EE"/>
                </a:solidFill>
                <a:latin typeface="Consolas"/>
              </a:defRPr>
            </a:pPr>
            <a:r>
              <a:t>REAL-TIME TELEMETRY</a:t>
            </a:r>
          </a:p>
          <a:p>
            <a:pPr>
              <a:defRPr sz="1200" b="1">
                <a:solidFill>
                  <a:srgbClr val="F0FDFA"/>
                </a:solidFill>
                <a:latin typeface="Trebuchet MS"/>
              </a:defRPr>
            </a:pPr>
            <a:r>
              <a:t>Planetary Computer Ingestion Status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5120640"/>
            <a:ext cx="45720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00">
                <a:solidFill>
                  <a:srgbClr val="CADAEE"/>
                </a:solidFill>
                <a:latin typeface="Calibri"/>
              </a:defRPr>
            </a:pPr>
            <a:r>
              <a:t>✔ STAC Endpoint: planetarycomputer.microsoft.com/api/stac/v1</a:t>
            </a:r>
          </a:p>
          <a:p>
            <a:pPr>
              <a:spcAft>
                <a:spcPts val="200"/>
              </a:spcAft>
              <a:defRPr sz="900">
                <a:solidFill>
                  <a:srgbClr val="CADAEE"/>
                </a:solidFill>
                <a:latin typeface="Calibri"/>
              </a:defRPr>
            </a:pPr>
            <a:r>
              <a:t>✔ Cloud Filter: Dynamic sorting by eo:cloud_cover (&lt;20%)</a:t>
            </a:r>
          </a:p>
          <a:p>
            <a:pPr>
              <a:spcAft>
                <a:spcPts val="200"/>
              </a:spcAft>
              <a:defRPr sz="900">
                <a:solidFill>
                  <a:srgbClr val="CADAEE"/>
                </a:solidFill>
                <a:latin typeface="Calibri"/>
              </a:defRPr>
            </a:pPr>
            <a:r>
              <a:t>✔ Resilient Scene Resolver: Auto-fallback across top 5 candidate scenes</a:t>
            </a:r>
          </a:p>
          <a:p>
            <a:pPr>
              <a:spcAft>
                <a:spcPts val="200"/>
              </a:spcAft>
              <a:defRPr sz="900">
                <a:solidFill>
                  <a:srgbClr val="CADAEE"/>
                </a:solidFill>
                <a:latin typeface="Calibri"/>
              </a:defRPr>
            </a:pPr>
            <a:r>
              <a:t>✔ Provenance Hash: 0x8a92f02c • Output: Immutable JSON Audit Bundle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473952"/>
            <a:ext cx="106984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750">
                <a:solidFill>
                  <a:srgbClr val="738CAD"/>
                </a:solidFill>
                <a:latin typeface="Consolas"/>
              </a:defRPr>
            </a:pPr>
            <a:r>
              <a:t>AQUASENSE OBSERVATORY • SENTINEL-2 L2A STAC • NDWI (B03-B08)/(B03+B08) • 10m/px • GEMINI 3.7 FLASH • 0x8a92f02c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7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645920" cy="381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75488"/>
            <a:ext cx="2011680" cy="256032"/>
          </a:xfrm>
          <a:prstGeom prst="roundRect">
            <a:avLst/>
          </a:prstGeom>
          <a:solidFill>
            <a:srgbClr val="0C1E3D"/>
          </a:solidFill>
          <a:ln w="9525">
            <a:solidFill>
              <a:srgbClr val="1D3D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18288" bIns="18288"/>
          <a:lstStyle/>
          <a:p>
            <a:pPr algn="ctr">
              <a:defRPr sz="850" b="1">
                <a:solidFill>
                  <a:srgbClr val="FBBF24"/>
                </a:solidFill>
                <a:latin typeface="Consolas"/>
              </a:defRPr>
            </a:pPr>
            <a:r>
              <a:t>ORBIT 02 // CRISIS TELEMETRY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0FDFA"/>
                </a:solidFill>
                <a:latin typeface="Trebuchet MS"/>
              </a:defRPr>
            </a:pPr>
            <a:r>
              <a:t>The Global Wetland Crisis &amp; Monitoring Blindspots</a:t>
            </a:r>
          </a:p>
          <a:p>
            <a:pPr>
              <a:spcBef>
                <a:spcPts val="200"/>
              </a:spcBef>
              <a:defRPr sz="1150">
                <a:solidFill>
                  <a:srgbClr val="738CAD"/>
                </a:solidFill>
                <a:latin typeface="Calibri"/>
              </a:defRPr>
            </a:pPr>
            <a:r>
              <a:t>Freshwater ecosystems are vanishing 3x faster than terrestrial forests, leaving catastrophic flood and drought vulnerabilities.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4114800" cy="4480560"/>
          </a:xfrm>
          <a:prstGeom prst="rect">
            <a:avLst/>
          </a:prstGeom>
          <a:solidFill>
            <a:srgbClr val="0C1E3D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92224"/>
            <a:ext cx="374904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22D3EE"/>
                </a:solidFill>
                <a:latin typeface="Consolas"/>
              </a:defRPr>
            </a:pPr>
            <a:r>
              <a:t>GLOBAL HYDROLOGICAL ANOMALY</a:t>
            </a:r>
          </a:p>
          <a:p>
            <a:pPr>
              <a:defRPr sz="1200" b="1">
                <a:solidFill>
                  <a:srgbClr val="F0FDFA"/>
                </a:solidFill>
                <a:latin typeface="Trebuchet MS"/>
              </a:defRPr>
            </a:pPr>
            <a:r>
              <a:t>Ecosystem Collapse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377440"/>
            <a:ext cx="3657600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5000" b="1">
                <a:solidFill>
                  <a:srgbClr val="F43F5E"/>
                </a:solidFill>
                <a:latin typeface="Trebuchet MS"/>
              </a:defRPr>
            </a:pPr>
            <a:r>
              <a:t>-35%</a:t>
            </a:r>
          </a:p>
          <a:p>
            <a:pPr>
              <a:spcAft>
                <a:spcPts val="1200"/>
              </a:spcAft>
              <a:defRPr sz="1000" b="1">
                <a:solidFill>
                  <a:srgbClr val="F0FDFA"/>
                </a:solidFill>
                <a:latin typeface="Consolas"/>
              </a:defRPr>
            </a:pPr>
            <a:r>
              <a:t>GLOBAL WETLANDS LOST SINCE 1970</a:t>
            </a:r>
          </a:p>
          <a:p>
            <a:pPr>
              <a:spcAft>
                <a:spcPts val="600"/>
              </a:spcAft>
              <a:defRPr sz="1000">
                <a:solidFill>
                  <a:srgbClr val="CADAEE"/>
                </a:solidFill>
              </a:defRPr>
            </a:pPr>
            <a:r>
              <a:t>• Ramsar Convention Data: Over 35% of natural freshwater marshlands and coastal wetlands destroyed in 50 years.</a:t>
            </a:r>
          </a:p>
          <a:p>
            <a:pPr>
              <a:spcAft>
                <a:spcPts val="600"/>
              </a:spcAft>
              <a:defRPr sz="1000">
                <a:solidFill>
                  <a:srgbClr val="CADAEE"/>
                </a:solidFill>
              </a:defRPr>
            </a:pPr>
            <a:r>
              <a:t>• Urban Encroachment: Rapid metropolitan expansion converts natural drainage basins into impermeable concrete surfaces.</a:t>
            </a:r>
          </a:p>
          <a:p>
            <a:pPr>
              <a:spcAft>
                <a:spcPts val="600"/>
              </a:spcAft>
              <a:defRPr sz="1000">
                <a:solidFill>
                  <a:srgbClr val="CADAEE"/>
                </a:solidFill>
              </a:defRPr>
            </a:pPr>
            <a:r>
              <a:t>• Climate Amplification: Unregulated infilling magnifies monsoon flash-flood destruction and summer groundwater collapse.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120640" y="1645920"/>
            <a:ext cx="6309360" cy="2103120"/>
          </a:xfrm>
          <a:prstGeom prst="rect">
            <a:avLst/>
          </a:prstGeom>
          <a:solidFill>
            <a:srgbClr val="0C1E3D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0" y="1792224"/>
            <a:ext cx="59436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22D3EE"/>
                </a:solidFill>
                <a:latin typeface="Consolas"/>
              </a:defRPr>
            </a:pPr>
            <a:r>
              <a:t>DATA INSUFFICIENCY GAP</a:t>
            </a:r>
          </a:p>
          <a:p>
            <a:pPr>
              <a:defRPr sz="1200" b="1">
                <a:solidFill>
                  <a:srgbClr val="F0FDFA"/>
                </a:solidFill>
                <a:latin typeface="Trebuchet MS"/>
              </a:defRPr>
            </a:pPr>
            <a:r>
              <a:t>MONITORING LATENCY &amp; BLINDSPOTS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0" y="2377440"/>
            <a:ext cx="585216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CADAEE"/>
                </a:solidFill>
                <a:latin typeface="Calibri"/>
              </a:defRPr>
            </a:pPr>
            <a:r>
              <a:t>• Manual Field Surveys: Expensive ($15k+ per basin), slow, and restricted to sparse discrete GPS points.</a:t>
            </a:r>
          </a:p>
          <a:p>
            <a:pPr>
              <a:spcAft>
                <a:spcPts val="400"/>
              </a:spcAft>
              <a:defRPr sz="1000">
                <a:solidFill>
                  <a:srgbClr val="CADAEE"/>
                </a:solidFill>
                <a:latin typeface="Calibri"/>
              </a:defRPr>
            </a:pPr>
            <a:r>
              <a:t>• Static Decadal GIS: Municipalities rely on 5 to 10-year-old cartographic maps that miss illegal weekly encroachment.</a:t>
            </a:r>
          </a:p>
          <a:p>
            <a:pPr>
              <a:spcAft>
                <a:spcPts val="400"/>
              </a:spcAft>
              <a:defRPr sz="1000">
                <a:solidFill>
                  <a:srgbClr val="CADAEE"/>
                </a:solidFill>
                <a:latin typeface="Calibri"/>
              </a:defRPr>
            </a:pPr>
            <a:r>
              <a:t>• Satellite Archive Inaccessibility: Terabytes of raw ESA Sentinel-2 STAC data remain trapped in complex GIS servers.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640" y="3931920"/>
            <a:ext cx="6309360" cy="2103120"/>
          </a:xfrm>
          <a:prstGeom prst="rect">
            <a:avLst/>
          </a:prstGeom>
          <a:solidFill>
            <a:srgbClr val="0C1E3D"/>
          </a:solidFill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0" y="4078224"/>
            <a:ext cx="59436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22D3EE"/>
                </a:solidFill>
                <a:latin typeface="Consolas"/>
              </a:defRPr>
            </a:pPr>
            <a:r>
              <a:t>ACCOUNTABILITY GAP</a:t>
            </a:r>
          </a:p>
          <a:p>
            <a:pPr>
              <a:defRPr sz="1200" b="1">
                <a:solidFill>
                  <a:srgbClr val="F0FDFA"/>
                </a:solidFill>
                <a:latin typeface="Trebuchet MS"/>
              </a:defRPr>
            </a:pPr>
            <a:r>
              <a:t>UNVERIFIED RESTORATION INVESTMENTS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0" y="4663440"/>
            <a:ext cx="585216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CADAEE"/>
                </a:solidFill>
                <a:latin typeface="Calibri"/>
              </a:defRPr>
            </a:pPr>
            <a:r>
              <a:t>• Public Funding Waste: Governments allocate millions to wetland restoration without objective post-monsoon tracking.</a:t>
            </a:r>
          </a:p>
          <a:p>
            <a:pPr>
              <a:spcAft>
                <a:spcPts val="400"/>
              </a:spcAft>
              <a:defRPr sz="1000">
                <a:solidFill>
                  <a:srgbClr val="CADAEE"/>
                </a:solidFill>
                <a:latin typeface="Calibri"/>
              </a:defRPr>
            </a:pPr>
            <a:r>
              <a:t>• Absence of Early Warnings: Wetland shrinkage is typically detected only after catastrophic flooding occurs.</a:t>
            </a:r>
          </a:p>
          <a:p>
            <a:pPr>
              <a:spcAft>
                <a:spcPts val="400"/>
              </a:spcAft>
              <a:defRPr sz="1000">
                <a:solidFill>
                  <a:srgbClr val="CADAEE"/>
                </a:solidFill>
                <a:latin typeface="Calibri"/>
              </a:defRPr>
            </a:pPr>
            <a:r>
              <a:t>• Disconnected AI Reasoning: Traditional remote sensing lacks automated ecological interpretation for city planners.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473952"/>
            <a:ext cx="106984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750">
                <a:solidFill>
                  <a:srgbClr val="738CAD"/>
                </a:solidFill>
                <a:latin typeface="Consolas"/>
              </a:defRPr>
            </a:pPr>
            <a:r>
              <a:t>AQUASENSE OBSERVATORY • SENTINEL-2 L2A STAC • NDWI (B03-B08)/(B03+B08) • 10m/px • GEMINI 3.7 FLASH • 0x8a92f02c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7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645920" cy="381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75488"/>
            <a:ext cx="2011680" cy="256032"/>
          </a:xfrm>
          <a:prstGeom prst="roundRect">
            <a:avLst/>
          </a:prstGeom>
          <a:solidFill>
            <a:srgbClr val="0C1E3D"/>
          </a:solidFill>
          <a:ln w="9525">
            <a:solidFill>
              <a:srgbClr val="1D3D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18288" bIns="18288"/>
          <a:lstStyle/>
          <a:p>
            <a:pPr algn="ctr">
              <a:defRPr sz="850" b="1">
                <a:solidFill>
                  <a:srgbClr val="FBBF24"/>
                </a:solidFill>
                <a:latin typeface="Consolas"/>
              </a:defRPr>
            </a:pPr>
            <a:r>
              <a:t>ORBIT 03 // SOLUTION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0FDFA"/>
                </a:solidFill>
                <a:latin typeface="Trebuchet MS"/>
              </a:defRPr>
            </a:pPr>
            <a:r>
              <a:t>The AquaSense Solution: Autonomous Hydro-Observatory</a:t>
            </a:r>
          </a:p>
          <a:p>
            <a:pPr>
              <a:spcBef>
                <a:spcPts val="200"/>
              </a:spcBef>
              <a:defRPr sz="1150">
                <a:solidFill>
                  <a:srgbClr val="738CAD"/>
                </a:solidFill>
                <a:latin typeface="Calibri"/>
              </a:defRPr>
            </a:pPr>
            <a:r>
              <a:t>A full-stack planetary observatory turning multi-spectral satellite streams into real-time verified ecological action.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303520" cy="4480560"/>
          </a:xfrm>
          <a:prstGeom prst="rect">
            <a:avLst/>
          </a:prstGeom>
          <a:solidFill>
            <a:srgbClr val="0C1E3D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92224"/>
            <a:ext cx="493776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22D3EE"/>
                </a:solidFill>
                <a:latin typeface="Consolas"/>
              </a:defRPr>
            </a:pPr>
            <a:r>
              <a:t>CORE EARTH OBSERVATION ENGINE</a:t>
            </a:r>
          </a:p>
          <a:p>
            <a:pPr>
              <a:defRPr sz="1200" b="1">
                <a:solidFill>
                  <a:srgbClr val="F0FDFA"/>
                </a:solidFill>
                <a:latin typeface="Trebuchet MS"/>
              </a:defRPr>
            </a:pPr>
            <a:r>
              <a:t>Autonomous Planetary Ingestion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377440"/>
            <a:ext cx="4846320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CADAEE"/>
                </a:solidFill>
                <a:latin typeface="Calibri"/>
              </a:defRPr>
            </a:pPr>
            <a:r>
              <a:t>🛰️ Direct Planetary Computer STAC Integration:</a:t>
            </a:r>
          </a:p>
          <a:p>
            <a:pPr>
              <a:spcAft>
                <a:spcPts val="300"/>
              </a:spcAft>
              <a:defRPr sz="1050">
                <a:solidFill>
                  <a:srgbClr val="CADAEE"/>
                </a:solidFill>
                <a:latin typeface="Calibri"/>
              </a:defRPr>
            </a:pPr>
            <a:r>
              <a:t>   • Live query of Copernicus Sentinel-2 Level-2A surface reflectance data.</a:t>
            </a:r>
          </a:p>
          <a:p>
            <a:pPr>
              <a:spcAft>
                <a:spcPts val="300"/>
              </a:spcAft>
              <a:defRPr sz="1050">
                <a:solidFill>
                  <a:srgbClr val="CADAEE"/>
                </a:solidFill>
                <a:latin typeface="Calibri"/>
              </a:defRPr>
            </a:pPr>
            <a:r>
              <a:t>   • Dynamic cloud filtering (&lt;20%) with resilient fallback across candidate scenes.</a:t>
            </a:r>
          </a:p>
          <a:p>
            <a:pPr>
              <a:spcAft>
                <a:spcPts val="300"/>
              </a:spcAft>
              <a:defRPr sz="1050">
                <a:solidFill>
                  <a:srgbClr val="CADAEE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050">
                <a:solidFill>
                  <a:srgbClr val="CADAEE"/>
                </a:solidFill>
                <a:latin typeface="Calibri"/>
              </a:defRPr>
            </a:pPr>
            <a:r>
              <a:t>💧 Zero-Latency Client-Side NDWI Processing:</a:t>
            </a:r>
          </a:p>
          <a:p>
            <a:pPr>
              <a:spcAft>
                <a:spcPts val="300"/>
              </a:spcAft>
              <a:defRPr sz="1050">
                <a:solidFill>
                  <a:srgbClr val="CADAEE"/>
                </a:solidFill>
                <a:latin typeface="Calibri"/>
              </a:defRPr>
            </a:pPr>
            <a:r>
              <a:t>   • Continuous evaluation of McFeeters band math: (B03-B08)/(B03+B08).</a:t>
            </a:r>
          </a:p>
          <a:p>
            <a:pPr>
              <a:spcAft>
                <a:spcPts val="300"/>
              </a:spcAft>
              <a:defRPr sz="1050">
                <a:solidFill>
                  <a:srgbClr val="CADAEE"/>
                </a:solidFill>
                <a:latin typeface="Calibri"/>
              </a:defRPr>
            </a:pPr>
            <a:r>
              <a:t>   • Instant sub-pixel canvas recounting across custom threshold ranges (-0.30 to +0.70).</a:t>
            </a:r>
          </a:p>
          <a:p>
            <a:pPr>
              <a:spcAft>
                <a:spcPts val="300"/>
              </a:spcAft>
              <a:defRPr sz="1050">
                <a:solidFill>
                  <a:srgbClr val="CADAEE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050">
                <a:solidFill>
                  <a:srgbClr val="CADAEE"/>
                </a:solidFill>
                <a:latin typeface="Calibri"/>
              </a:defRPr>
            </a:pPr>
            <a:r>
              <a:t>🎨 7 Scientific Look-Up Table (LUT) Colormaps:</a:t>
            </a:r>
          </a:p>
          <a:p>
            <a:pPr>
              <a:spcAft>
                <a:spcPts val="300"/>
              </a:spcAft>
              <a:defRPr sz="1050">
                <a:solidFill>
                  <a:srgbClr val="CADAEE"/>
                </a:solidFill>
                <a:latin typeface="Calibri"/>
              </a:defRPr>
            </a:pPr>
            <a:r>
              <a:t>   • Viridis, Inferno, Turbo, Cividis, Mako, Blues, and Chlorophyll palettes.</a:t>
            </a:r>
          </a:p>
          <a:p>
            <a:pPr>
              <a:spcAft>
                <a:spcPts val="300"/>
              </a:spcAft>
              <a:defRPr sz="1050">
                <a:solidFill>
                  <a:srgbClr val="CADAEE"/>
                </a:solidFill>
                <a:latin typeface="Calibri"/>
              </a:defRPr>
            </a:pPr>
            <a:r>
              <a:t>   • Real-time gradient needle scale indicating active water cutoff.</a:t>
            </a:r>
          </a:p>
          <a:p>
            <a:pPr>
              <a:spcAft>
                <a:spcPts val="300"/>
              </a:spcAft>
              <a:defRPr sz="1050">
                <a:solidFill>
                  <a:srgbClr val="CADAEE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050">
                <a:solidFill>
                  <a:srgbClr val="CADAEE"/>
                </a:solidFill>
                <a:latin typeface="Calibri"/>
              </a:defRPr>
            </a:pPr>
            <a:r>
              <a:t>📈 Multi-Year Longitudinal Trendlines:</a:t>
            </a:r>
          </a:p>
          <a:p>
            <a:pPr>
              <a:spcAft>
                <a:spcPts val="300"/>
              </a:spcAft>
              <a:defRPr sz="1050">
                <a:solidFill>
                  <a:srgbClr val="CADAEE"/>
                </a:solidFill>
                <a:latin typeface="Calibri"/>
              </a:defRPr>
            </a:pPr>
            <a:r>
              <a:t>   • Annual STAC scene sampling revealing decade-long wetland trajectories.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1645920"/>
            <a:ext cx="5120640" cy="1417320"/>
          </a:xfrm>
          <a:prstGeom prst="rect">
            <a:avLst/>
          </a:prstGeom>
          <a:solidFill>
            <a:srgbClr val="0C1E3D"/>
          </a:solidFill>
          <a:ln w="12700">
            <a:solidFill>
              <a:srgbClr val="06D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792224"/>
            <a:ext cx="47548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22D3EE"/>
                </a:solidFill>
                <a:latin typeface="Consolas"/>
              </a:defRPr>
            </a:pPr>
            <a:r>
              <a:t>SPATIAL BITMASKING</a:t>
            </a:r>
          </a:p>
          <a:p>
            <a:pPr>
              <a:defRPr sz="1200" b="1">
                <a:solidFill>
                  <a:srgbClr val="F0FDFA"/>
                </a:solidFill>
                <a:latin typeface="Trebuchet MS"/>
              </a:defRPr>
            </a:pPr>
            <a:r>
              <a:t>TRIPARTITE CHANGE MASK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331720"/>
            <a:ext cx="47548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CADAEE"/>
                </a:solidFill>
                <a:latin typeface="Calibri"/>
              </a:defRPr>
            </a:pPr>
            <a:r>
              <a:t>Isolates Water Gained (Inundation/Blue), Water Lost (Desiccation/Red), and Persistent Water on top of high-res satellite imagery.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3182112"/>
            <a:ext cx="5120640" cy="1417320"/>
          </a:xfrm>
          <a:prstGeom prst="rect">
            <a:avLst/>
          </a:prstGeom>
          <a:solidFill>
            <a:srgbClr val="0C1E3D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3328416"/>
            <a:ext cx="47548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22D3EE"/>
                </a:solidFill>
                <a:latin typeface="Consolas"/>
              </a:defRPr>
            </a:pPr>
            <a:r>
              <a:t>ECOLOGICAL REASONING</a:t>
            </a:r>
          </a:p>
          <a:p>
            <a:pPr>
              <a:defRPr sz="1200" b="1">
                <a:solidFill>
                  <a:srgbClr val="F0FDFA"/>
                </a:solidFill>
                <a:latin typeface="Trebuchet MS"/>
              </a:defRPr>
            </a:pPr>
            <a:r>
              <a:t>GEMINI 4-TIER AI SUITE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867912"/>
            <a:ext cx="47548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CADAEE"/>
                </a:solidFill>
                <a:latin typeface="Calibri"/>
              </a:defRPr>
            </a:pPr>
            <a:r>
              <a:t>Combines Deep Reasoning (3.7 Flash), live Google Search grounding, Google Maps infrastructure analysis, and drone photo validation.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4718304"/>
            <a:ext cx="5120640" cy="1417320"/>
          </a:xfrm>
          <a:prstGeom prst="rect">
            <a:avLst/>
          </a:prstGeom>
          <a:solidFill>
            <a:srgbClr val="0C1E3D"/>
          </a:solidFill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4864608"/>
            <a:ext cx="47548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22D3EE"/>
                </a:solidFill>
                <a:latin typeface="Consolas"/>
              </a:defRPr>
            </a:pPr>
            <a:r>
              <a:t>CRYPTOGRAPHIC MRV</a:t>
            </a:r>
          </a:p>
          <a:p>
            <a:pPr>
              <a:defRPr sz="1200" b="1">
                <a:solidFill>
                  <a:srgbClr val="F0FDFA"/>
                </a:solidFill>
                <a:latin typeface="Trebuchet MS"/>
              </a:defRPr>
            </a:pPr>
            <a:r>
              <a:t>AUDIT-READY PROVENANCE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5404104"/>
            <a:ext cx="47548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CADAEE"/>
                </a:solidFill>
                <a:latin typeface="Calibri"/>
              </a:defRPr>
            </a:pPr>
            <a:r>
              <a:t>Generates immutable JSON audit logs containing system hashes, ESA scene IDs, pixel math, and bounding boxes for legal filings.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6473952"/>
            <a:ext cx="106984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750">
                <a:solidFill>
                  <a:srgbClr val="738CAD"/>
                </a:solidFill>
                <a:latin typeface="Consolas"/>
              </a:defRPr>
            </a:pPr>
            <a:r>
              <a:t>AQUASENSE OBSERVATORY • SENTINEL-2 L2A STAC • NDWI (B03-B08)/(B03+B08) • 10m/px • GEMINI 3.7 FLASH • 0x8a92f02c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7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645920" cy="381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75488"/>
            <a:ext cx="2011680" cy="256032"/>
          </a:xfrm>
          <a:prstGeom prst="roundRect">
            <a:avLst/>
          </a:prstGeom>
          <a:solidFill>
            <a:srgbClr val="0C1E3D"/>
          </a:solidFill>
          <a:ln w="9525">
            <a:solidFill>
              <a:srgbClr val="1D3D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18288" bIns="18288"/>
          <a:lstStyle/>
          <a:p>
            <a:pPr algn="ctr">
              <a:defRPr sz="850" b="1">
                <a:solidFill>
                  <a:srgbClr val="FBBF24"/>
                </a:solidFill>
                <a:latin typeface="Consolas"/>
              </a:defRPr>
            </a:pPr>
            <a:r>
              <a:t>ORBIT 04 // EXECUTION TELEMETRY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0FDFA"/>
                </a:solidFill>
                <a:latin typeface="Trebuchet MS"/>
              </a:defRPr>
            </a:pPr>
            <a:r>
              <a:t>Live Earth Observation Pipeline &amp; Data Flow</a:t>
            </a:r>
          </a:p>
          <a:p>
            <a:pPr>
              <a:spcBef>
                <a:spcPts val="200"/>
              </a:spcBef>
              <a:defRPr sz="1150">
                <a:solidFill>
                  <a:srgbClr val="738CAD"/>
                </a:solidFill>
                <a:latin typeface="Calibri"/>
              </a:defRPr>
            </a:pPr>
            <a:r>
              <a:t>How raw multispectral electromagnetic reflections transform into quantified surface water metrics.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2560320" cy="4480560"/>
          </a:xfrm>
          <a:prstGeom prst="rect">
            <a:avLst/>
          </a:prstGeom>
          <a:solidFill>
            <a:srgbClr val="0C1E3D"/>
          </a:solidFill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92224"/>
            <a:ext cx="219456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22D3EE"/>
                </a:solidFill>
                <a:latin typeface="Consolas"/>
              </a:defRPr>
            </a:pPr>
            <a:r>
              <a:t>NODE 01</a:t>
            </a:r>
          </a:p>
          <a:p>
            <a:pPr>
              <a:defRPr sz="1200" b="1">
                <a:solidFill>
                  <a:srgbClr val="F0FDFA"/>
                </a:solidFill>
                <a:latin typeface="Trebuchet MS"/>
              </a:defRPr>
            </a:pPr>
            <a:r>
              <a:t>STAC Ingestion &amp; Cloud Filter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77440"/>
            <a:ext cx="2194560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000">
                <a:solidFill>
                  <a:srgbClr val="CADAEE"/>
                </a:solidFill>
                <a:latin typeface="Calibri"/>
              </a:defRPr>
            </a:pPr>
            <a:r>
              <a:t>INPUT: GeoJSON BBOX + Years</a:t>
            </a:r>
          </a:p>
          <a:p>
            <a:pPr>
              <a:spcAft>
                <a:spcPts val="600"/>
              </a:spcAft>
              <a:defRPr sz="1000">
                <a:solidFill>
                  <a:srgbClr val="CADAEE"/>
                </a:solidFill>
                <a:latin typeface="Calibri"/>
              </a:defRPr>
            </a:pPr>
            <a:r>
              <a:t>• Query Microsoft Planetary STAC</a:t>
            </a:r>
          </a:p>
          <a:p>
            <a:pPr>
              <a:spcAft>
                <a:spcPts val="600"/>
              </a:spcAft>
              <a:defRPr sz="1000">
                <a:solidFill>
                  <a:srgbClr val="CADAEE"/>
                </a:solidFill>
                <a:latin typeface="Calibri"/>
              </a:defRPr>
            </a:pPr>
            <a:r>
              <a:t>• Filter Sentinel-2 L2A BOA</a:t>
            </a:r>
          </a:p>
          <a:p>
            <a:pPr>
              <a:spcAft>
                <a:spcPts val="600"/>
              </a:spcAft>
              <a:defRPr sz="1000">
                <a:solidFill>
                  <a:srgbClr val="CADAEE"/>
                </a:solidFill>
                <a:latin typeface="Calibri"/>
              </a:defRPr>
            </a:pPr>
            <a:r>
              <a:t>• Sort by eo:cloud_cover &lt;20%</a:t>
            </a:r>
          </a:p>
          <a:p>
            <a:pPr>
              <a:spcAft>
                <a:spcPts val="600"/>
              </a:spcAft>
              <a:defRPr sz="1000">
                <a:solidFill>
                  <a:srgbClr val="CADAEE"/>
                </a:solidFill>
                <a:latin typeface="Calibri"/>
              </a:defRPr>
            </a:pPr>
            <a:r>
              <a:t>• Fallback across 5 candidates</a:t>
            </a:r>
          </a:p>
          <a:p>
            <a:pPr>
              <a:spcAft>
                <a:spcPts val="600"/>
              </a:spcAft>
              <a:defRPr sz="1000">
                <a:solidFill>
                  <a:srgbClr val="CADAEE"/>
                </a:solidFill>
                <a:latin typeface="Calibri"/>
              </a:defRPr>
            </a:pPr>
            <a:r>
              <a:t>OUTPUT: ESA Scene Assets</a:t>
            </a:r>
          </a:p>
        </p:txBody>
      </p:sp>
      <p:sp>
        <p:nvSpPr>
          <p:cNvPr id="8" name="Rectangle 7"/>
          <p:cNvSpPr/>
          <p:nvPr/>
        </p:nvSpPr>
        <p:spPr>
          <a:xfrm>
            <a:off x="3474720" y="1645920"/>
            <a:ext cx="2560320" cy="4480560"/>
          </a:xfrm>
          <a:prstGeom prst="rect">
            <a:avLst/>
          </a:prstGeom>
          <a:solidFill>
            <a:srgbClr val="0C1E3D"/>
          </a:solidFill>
          <a:ln w="19050">
            <a:solidFill>
              <a:srgbClr val="06D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0" y="1792224"/>
            <a:ext cx="219456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22D3EE"/>
                </a:solidFill>
                <a:latin typeface="Consolas"/>
              </a:defRPr>
            </a:pPr>
            <a:r>
              <a:t>NODE 02</a:t>
            </a:r>
          </a:p>
          <a:p>
            <a:pPr>
              <a:defRPr sz="1200" b="1">
                <a:solidFill>
                  <a:srgbClr val="F0FDFA"/>
                </a:solidFill>
                <a:latin typeface="Trebuchet MS"/>
              </a:defRPr>
            </a:pPr>
            <a:r>
              <a:t>Spectral Band Mathematics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2377440"/>
            <a:ext cx="2194560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000">
                <a:solidFill>
                  <a:srgbClr val="CADAEE"/>
                </a:solidFill>
                <a:latin typeface="Calibri"/>
              </a:defRPr>
            </a:pPr>
            <a:r>
              <a:t>INPUT: B03 (560nm) &amp; B08 (842nm)</a:t>
            </a:r>
          </a:p>
          <a:p>
            <a:pPr>
              <a:spcAft>
                <a:spcPts val="600"/>
              </a:spcAft>
              <a:defRPr sz="1000">
                <a:solidFill>
                  <a:srgbClr val="CADAEE"/>
                </a:solidFill>
                <a:latin typeface="Calibri"/>
              </a:defRPr>
            </a:pPr>
            <a:r>
              <a:t>• Compute NDWI expression</a:t>
            </a:r>
          </a:p>
          <a:p>
            <a:pPr>
              <a:spcAft>
                <a:spcPts val="600"/>
              </a:spcAft>
              <a:defRPr sz="1000">
                <a:solidFill>
                  <a:srgbClr val="CADAEE"/>
                </a:solidFill>
                <a:latin typeface="Calibri"/>
              </a:defRPr>
            </a:pPr>
            <a:r>
              <a:t>• (B03-B08)/(B03+B08)</a:t>
            </a:r>
          </a:p>
          <a:p>
            <a:pPr>
              <a:spcAft>
                <a:spcPts val="600"/>
              </a:spcAft>
              <a:defRPr sz="1000">
                <a:solidFill>
                  <a:srgbClr val="CADAEE"/>
                </a:solidFill>
                <a:latin typeface="Calibri"/>
              </a:defRPr>
            </a:pPr>
            <a:r>
              <a:t>• Rescale [-1, 1] → [0, 255] byte</a:t>
            </a:r>
          </a:p>
          <a:p>
            <a:pPr>
              <a:spcAft>
                <a:spcPts val="600"/>
              </a:spcAft>
              <a:defRPr sz="1000">
                <a:solidFill>
                  <a:srgbClr val="CADAEE"/>
                </a:solidFill>
                <a:latin typeface="Calibri"/>
              </a:defRPr>
            </a:pPr>
            <a:r>
              <a:t>• Pre-cache in HTML5 canvas</a:t>
            </a:r>
          </a:p>
          <a:p>
            <a:pPr>
              <a:spcAft>
                <a:spcPts val="600"/>
              </a:spcAft>
              <a:defRPr sz="1000">
                <a:solidFill>
                  <a:srgbClr val="CADAEE"/>
                </a:solidFill>
                <a:latin typeface="Calibri"/>
              </a:defRPr>
            </a:pPr>
            <a:r>
              <a:t>OUTPUT: 8-Bit Grayscale Grid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645920"/>
            <a:ext cx="2560320" cy="4480560"/>
          </a:xfrm>
          <a:prstGeom prst="rect">
            <a:avLst/>
          </a:prstGeom>
          <a:solidFill>
            <a:srgbClr val="0C1E3D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792224"/>
            <a:ext cx="219456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22D3EE"/>
                </a:solidFill>
                <a:latin typeface="Consolas"/>
              </a:defRPr>
            </a:pPr>
            <a:r>
              <a:t>NODE 03</a:t>
            </a:r>
          </a:p>
          <a:p>
            <a:pPr>
              <a:defRPr sz="1200" b="1">
                <a:solidFill>
                  <a:srgbClr val="F0FDFA"/>
                </a:solidFill>
                <a:latin typeface="Trebuchet MS"/>
              </a:defRPr>
            </a:pPr>
            <a:r>
              <a:t>Quantification &amp; Diff Mask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377440"/>
            <a:ext cx="2194560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000">
                <a:solidFill>
                  <a:srgbClr val="CADAEE"/>
                </a:solidFill>
                <a:latin typeface="Calibri"/>
              </a:defRPr>
            </a:pPr>
            <a:r>
              <a:t>INPUT: Cutoff Cutoff &gt; C_thresh</a:t>
            </a:r>
          </a:p>
          <a:p>
            <a:pPr>
              <a:spcAft>
                <a:spcPts val="600"/>
              </a:spcAft>
              <a:defRPr sz="1000">
                <a:solidFill>
                  <a:srgbClr val="CADAEE"/>
                </a:solidFill>
                <a:latin typeface="Calibri"/>
              </a:defRPr>
            </a:pPr>
            <a:r>
              <a:t>• In-memory pixel counting</a:t>
            </a:r>
          </a:p>
          <a:p>
            <a:pPr>
              <a:spcAft>
                <a:spcPts val="600"/>
              </a:spcAft>
              <a:defRPr sz="1000">
                <a:solidFill>
                  <a:srgbClr val="CADAEE"/>
                </a:solidFill>
                <a:latin typeface="Calibri"/>
              </a:defRPr>
            </a:pPr>
            <a:r>
              <a:t>• Area = N_pixels × 0.0001 km²</a:t>
            </a:r>
          </a:p>
          <a:p>
            <a:pPr>
              <a:spcAft>
                <a:spcPts val="600"/>
              </a:spcAft>
              <a:defRPr sz="1000">
                <a:solidFill>
                  <a:srgbClr val="CADAEE"/>
                </a:solidFill>
                <a:latin typeface="Calibri"/>
              </a:defRPr>
            </a:pPr>
            <a:r>
              <a:t>• Tri-state differencing mask</a:t>
            </a:r>
          </a:p>
          <a:p>
            <a:pPr>
              <a:spcAft>
                <a:spcPts val="600"/>
              </a:spcAft>
              <a:defRPr sz="1000">
                <a:solidFill>
                  <a:srgbClr val="CADAEE"/>
                </a:solidFill>
                <a:latin typeface="Calibri"/>
              </a:defRPr>
            </a:pPr>
            <a:r>
              <a:t>• Annual STAC time-series sampling</a:t>
            </a:r>
          </a:p>
          <a:p>
            <a:pPr>
              <a:spcAft>
                <a:spcPts val="600"/>
              </a:spcAft>
              <a:defRPr sz="1000">
                <a:solidFill>
                  <a:srgbClr val="CADAEE"/>
                </a:solidFill>
                <a:latin typeface="Calibri"/>
              </a:defRPr>
            </a:pPr>
            <a:r>
              <a:t>OUTPUT: km² Stats &amp; Diff Map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61120" y="1645920"/>
            <a:ext cx="2560320" cy="4480560"/>
          </a:xfrm>
          <a:prstGeom prst="rect">
            <a:avLst/>
          </a:prstGeom>
          <a:solidFill>
            <a:srgbClr val="0C1E3D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0" y="1792224"/>
            <a:ext cx="219456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22D3EE"/>
                </a:solidFill>
                <a:latin typeface="Consolas"/>
              </a:defRPr>
            </a:pPr>
            <a:r>
              <a:t>NODE 04</a:t>
            </a:r>
          </a:p>
          <a:p>
            <a:pPr>
              <a:defRPr sz="1200" b="1">
                <a:solidFill>
                  <a:srgbClr val="F0FDFA"/>
                </a:solidFill>
                <a:latin typeface="Trebuchet MS"/>
              </a:defRPr>
            </a:pPr>
            <a:r>
              <a:t>Gemini Multimodal AI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0" y="2377440"/>
            <a:ext cx="2194560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000">
                <a:solidFill>
                  <a:srgbClr val="CADAEE"/>
                </a:solidFill>
                <a:latin typeface="Calibri"/>
              </a:defRPr>
            </a:pPr>
            <a:r>
              <a:t>INPUT: Spatial Area + Photos</a:t>
            </a:r>
          </a:p>
          <a:p>
            <a:pPr>
              <a:spcAft>
                <a:spcPts val="600"/>
              </a:spcAft>
              <a:defRPr sz="1000">
                <a:solidFill>
                  <a:srgbClr val="CADAEE"/>
                </a:solidFill>
                <a:latin typeface="Calibri"/>
              </a:defRPr>
            </a:pPr>
            <a:r>
              <a:t>• Gemini 3.7: Deep synthesis</a:t>
            </a:r>
          </a:p>
          <a:p>
            <a:pPr>
              <a:spcAft>
                <a:spcPts val="600"/>
              </a:spcAft>
              <a:defRPr sz="1000">
                <a:solidFill>
                  <a:srgbClr val="CADAEE"/>
                </a:solidFill>
                <a:latin typeface="Calibri"/>
              </a:defRPr>
            </a:pPr>
            <a:r>
              <a:t>• Google Search tool grounding</a:t>
            </a:r>
          </a:p>
          <a:p>
            <a:pPr>
              <a:spcAft>
                <a:spcPts val="600"/>
              </a:spcAft>
              <a:defRPr sz="1000">
                <a:solidFill>
                  <a:srgbClr val="CADAEE"/>
                </a:solidFill>
                <a:latin typeface="Calibri"/>
              </a:defRPr>
            </a:pPr>
            <a:r>
              <a:t>• Google Maps landmark lookup</a:t>
            </a:r>
          </a:p>
          <a:p>
            <a:pPr>
              <a:spcAft>
                <a:spcPts val="600"/>
              </a:spcAft>
              <a:defRPr sz="1000">
                <a:solidFill>
                  <a:srgbClr val="CADAEE"/>
                </a:solidFill>
                <a:latin typeface="Calibri"/>
              </a:defRPr>
            </a:pPr>
            <a:r>
              <a:t>• Multimodal drone verification</a:t>
            </a:r>
          </a:p>
          <a:p>
            <a:pPr>
              <a:spcAft>
                <a:spcPts val="600"/>
              </a:spcAft>
              <a:defRPr sz="1000">
                <a:solidFill>
                  <a:srgbClr val="CADAEE"/>
                </a:solidFill>
                <a:latin typeface="Calibri"/>
              </a:defRPr>
            </a:pPr>
            <a:r>
              <a:t>OUTPUT: Policy Report &amp; Audit JSON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6473952"/>
            <a:ext cx="106984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750">
                <a:solidFill>
                  <a:srgbClr val="738CAD"/>
                </a:solidFill>
                <a:latin typeface="Consolas"/>
              </a:defRPr>
            </a:pPr>
            <a:r>
              <a:t>AQUASENSE OBSERVATORY • SENTINEL-2 L2A STAC • NDWI (B03-B08)/(B03+B08) • 10m/px • GEMINI 3.7 FLASH • 0x8a92f02c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7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645920" cy="381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75488"/>
            <a:ext cx="2011680" cy="256032"/>
          </a:xfrm>
          <a:prstGeom prst="roundRect">
            <a:avLst/>
          </a:prstGeom>
          <a:solidFill>
            <a:srgbClr val="0C1E3D"/>
          </a:solidFill>
          <a:ln w="9525">
            <a:solidFill>
              <a:srgbClr val="1D3D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18288" bIns="18288"/>
          <a:lstStyle/>
          <a:p>
            <a:pPr algn="ctr">
              <a:defRPr sz="850" b="1">
                <a:solidFill>
                  <a:srgbClr val="FBBF24"/>
                </a:solidFill>
                <a:latin typeface="Consolas"/>
              </a:defRPr>
            </a:pPr>
            <a:r>
              <a:t>ORBIT 05 // TECHNICAL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0FDFA"/>
                </a:solidFill>
                <a:latin typeface="Trebuchet MS"/>
              </a:defRPr>
            </a:pPr>
            <a:r>
              <a:t>Technical Approach &amp; End-to-End System Architecture</a:t>
            </a:r>
          </a:p>
          <a:p>
            <a:pPr>
              <a:spcBef>
                <a:spcPts val="200"/>
              </a:spcBef>
              <a:defRPr sz="1150">
                <a:solidFill>
                  <a:srgbClr val="738CAD"/>
                </a:solidFill>
                <a:latin typeface="Calibri"/>
              </a:defRPr>
            </a:pPr>
            <a:r>
              <a:t>Modular system architecture connecting STAC ingestion, spectral raster processing, storage provenance, and Gemini multimodal AI.</a:t>
            </a:r>
          </a:p>
        </p:txBody>
      </p:sp>
      <p:pic>
        <p:nvPicPr>
          <p:cNvPr id="5" name="Picture 4" descr="technical_approach_diagra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10698480" cy="47091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31520" y="1463040"/>
            <a:ext cx="10698480" cy="4709160"/>
          </a:xfrm>
          <a:prstGeom prst="rect">
            <a:avLst/>
          </a:prstGeom>
          <a:noFill/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68680" y="1600200"/>
            <a:ext cx="4626864" cy="237744"/>
          </a:xfrm>
          <a:prstGeom prst="roundRect">
            <a:avLst/>
          </a:prstGeom>
          <a:solidFill>
            <a:srgbClr val="030712"/>
          </a:solidFill>
          <a:ln w="9525">
            <a:solidFill>
              <a:srgbClr val="1D3D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18288" bIns="18288"/>
          <a:lstStyle/>
          <a:p>
            <a:pPr algn="ctr">
              <a:defRPr sz="750" b="1">
                <a:solidFill>
                  <a:srgbClr val="22D3EE"/>
                </a:solidFill>
                <a:latin typeface="Consolas"/>
              </a:defRPr>
            </a:pPr>
            <a:r>
              <a:t>SYSTEM ARCHITECTURE // TECHNICAL APPROACH &amp; DATA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73952"/>
            <a:ext cx="106984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750">
                <a:solidFill>
                  <a:srgbClr val="738CAD"/>
                </a:solidFill>
                <a:latin typeface="Consolas"/>
              </a:defRPr>
            </a:pPr>
            <a:r>
              <a:t>AQUASENSE OBSERVATORY • SENTINEL-2 L2A STAC • NDWI (B03-B08)/(B03+B08) • 10m/px • GEMINI 3.7 FLASH • 0x8a92f02c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7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645920" cy="381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75488"/>
            <a:ext cx="2011680" cy="256032"/>
          </a:xfrm>
          <a:prstGeom prst="roundRect">
            <a:avLst/>
          </a:prstGeom>
          <a:solidFill>
            <a:srgbClr val="0C1E3D"/>
          </a:solidFill>
          <a:ln w="9525">
            <a:solidFill>
              <a:srgbClr val="1D3D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18288" bIns="18288"/>
          <a:lstStyle/>
          <a:p>
            <a:pPr algn="ctr">
              <a:defRPr sz="850" b="1">
                <a:solidFill>
                  <a:srgbClr val="FBBF24"/>
                </a:solidFill>
                <a:latin typeface="Consolas"/>
              </a:defRPr>
            </a:pPr>
            <a:r>
              <a:t>ORBIT 06 // REMOTE SENSING PHYSICS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0FDFA"/>
                </a:solidFill>
                <a:latin typeface="Trebuchet MS"/>
              </a:defRPr>
            </a:pPr>
            <a:r>
              <a:t>Sentinel-2 MSI Band Characteristics &amp; NDWI Heatmap</a:t>
            </a:r>
          </a:p>
          <a:p>
            <a:pPr>
              <a:spcBef>
                <a:spcPts val="200"/>
              </a:spcBef>
              <a:defRPr sz="1150">
                <a:solidFill>
                  <a:srgbClr val="738CAD"/>
                </a:solidFill>
                <a:latin typeface="Calibri"/>
              </a:defRPr>
            </a:pPr>
            <a:r>
              <a:t>Electromagnetic wavelength properties and spatial area conversion mathematics.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852160" cy="4480560"/>
          </a:xfrm>
          <a:prstGeom prst="rect">
            <a:avLst/>
          </a:prstGeom>
          <a:solidFill>
            <a:srgbClr val="0C1E3D"/>
          </a:solidFill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92224"/>
            <a:ext cx="54864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22D3EE"/>
                </a:solidFill>
                <a:latin typeface="Consolas"/>
              </a:defRPr>
            </a:pPr>
            <a:r>
              <a:t>ELECTROMAGNETIC SPECTRUM &amp; BAND MATH</a:t>
            </a:r>
          </a:p>
          <a:p>
            <a:pPr>
              <a:defRPr sz="1200" b="1">
                <a:solidFill>
                  <a:srgbClr val="F0FDFA"/>
                </a:solidFill>
                <a:latin typeface="Trebuchet MS"/>
              </a:defRPr>
            </a:pPr>
            <a:r>
              <a:t>Sentinel-2 MSI Spectral Band Physics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914400" y="2377440"/>
          <a:ext cx="54864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914400"/>
                <a:gridCol w="2560320"/>
              </a:tblGrid>
              <a:tr h="381000"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22D3EE"/>
                          </a:solidFill>
                          <a:latin typeface="Consolas"/>
                        </a:defRPr>
                      </a:pPr>
                      <a:r>
                        <a:t>BAND</a:t>
                      </a:r>
                    </a:p>
                  </a:txBody>
                  <a:tcPr>
                    <a:solidFill>
                      <a:srgbClr val="17356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22D3EE"/>
                          </a:solidFill>
                          <a:latin typeface="Consolas"/>
                        </a:defRPr>
                      </a:pPr>
                      <a:r>
                        <a:t>WAVELENGTH</a:t>
                      </a:r>
                    </a:p>
                  </a:txBody>
                  <a:tcPr>
                    <a:solidFill>
                      <a:srgbClr val="17356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22D3EE"/>
                          </a:solidFill>
                          <a:latin typeface="Consolas"/>
                        </a:defRPr>
                      </a:pPr>
                      <a:r>
                        <a:t>RESOLUTION</a:t>
                      </a:r>
                    </a:p>
                  </a:txBody>
                  <a:tcPr>
                    <a:solidFill>
                      <a:srgbClr val="17356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22D3EE"/>
                          </a:solidFill>
                          <a:latin typeface="Consolas"/>
                        </a:defRPr>
                      </a:pPr>
                      <a:r>
                        <a:t>PHYSICAL ROLE IN AQUASENSE</a:t>
                      </a:r>
                    </a:p>
                  </a:txBody>
                  <a:tcPr>
                    <a:solidFill>
                      <a:srgbClr val="173564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0FDFA"/>
                          </a:solidFill>
                          <a:latin typeface="Calibri"/>
                        </a:defRPr>
                      </a:pPr>
                      <a:r>
                        <a:t>B02 (Blue)</a:t>
                      </a:r>
                    </a:p>
                  </a:txBody>
                  <a:tcPr>
                    <a:solidFill>
                      <a:srgbClr val="0C1E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490 nm</a:t>
                      </a:r>
                    </a:p>
                  </a:txBody>
                  <a:tcPr>
                    <a:solidFill>
                      <a:srgbClr val="0C1E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10 m</a:t>
                      </a:r>
                    </a:p>
                  </a:txBody>
                  <a:tcPr>
                    <a:solidFill>
                      <a:srgbClr val="0C1E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True-Color RGB &amp; water clarity</a:t>
                      </a:r>
                    </a:p>
                  </a:txBody>
                  <a:tcPr>
                    <a:solidFill>
                      <a:srgbClr val="0C1E3D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0FDFA"/>
                          </a:solidFill>
                          <a:latin typeface="Calibri"/>
                        </a:defRPr>
                      </a:pPr>
                      <a:r>
                        <a:t>B03 (Green)</a:t>
                      </a:r>
                    </a:p>
                  </a:txBody>
                  <a:tcPr>
                    <a:solidFill>
                      <a:srgbClr val="0713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560 nm</a:t>
                      </a:r>
                    </a:p>
                  </a:txBody>
                  <a:tcPr>
                    <a:solidFill>
                      <a:srgbClr val="0713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10 m</a:t>
                      </a:r>
                    </a:p>
                  </a:txBody>
                  <a:tcPr>
                    <a:solidFill>
                      <a:srgbClr val="0713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Primary NDWI numerator (high water reflection)</a:t>
                      </a:r>
                    </a:p>
                  </a:txBody>
                  <a:tcPr>
                    <a:solidFill>
                      <a:srgbClr val="071326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0FDFA"/>
                          </a:solidFill>
                          <a:latin typeface="Calibri"/>
                        </a:defRPr>
                      </a:pPr>
                      <a:r>
                        <a:t>B04 (Red)</a:t>
                      </a:r>
                    </a:p>
                  </a:txBody>
                  <a:tcPr>
                    <a:solidFill>
                      <a:srgbClr val="0C1E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665 nm</a:t>
                      </a:r>
                    </a:p>
                  </a:txBody>
                  <a:tcPr>
                    <a:solidFill>
                      <a:srgbClr val="0C1E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10 m</a:t>
                      </a:r>
                    </a:p>
                  </a:txBody>
                  <a:tcPr>
                    <a:solidFill>
                      <a:srgbClr val="0C1E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Chlorophyll absorption &amp; vegetation boundary</a:t>
                      </a:r>
                    </a:p>
                  </a:txBody>
                  <a:tcPr>
                    <a:solidFill>
                      <a:srgbClr val="0C1E3D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0FDFA"/>
                          </a:solidFill>
                          <a:latin typeface="Calibri"/>
                        </a:defRPr>
                      </a:pPr>
                      <a:r>
                        <a:t>B08 (NIR)</a:t>
                      </a:r>
                    </a:p>
                  </a:txBody>
                  <a:tcPr>
                    <a:solidFill>
                      <a:srgbClr val="0713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842 nm</a:t>
                      </a:r>
                    </a:p>
                  </a:txBody>
                  <a:tcPr>
                    <a:solidFill>
                      <a:srgbClr val="0713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10 m</a:t>
                      </a:r>
                    </a:p>
                  </a:txBody>
                  <a:tcPr>
                    <a:solidFill>
                      <a:srgbClr val="0713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Primary NDWI denominator (water absorbs, flora reflects)</a:t>
                      </a:r>
                    </a:p>
                  </a:txBody>
                  <a:tcPr>
                    <a:solidFill>
                      <a:srgbClr val="071326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0FDFA"/>
                          </a:solidFill>
                          <a:latin typeface="Calibri"/>
                        </a:defRPr>
                      </a:pPr>
                      <a:r>
                        <a:t>B11 (SWIR-1)</a:t>
                      </a:r>
                    </a:p>
                  </a:txBody>
                  <a:tcPr>
                    <a:solidFill>
                      <a:srgbClr val="0C1E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1610 nm</a:t>
                      </a:r>
                    </a:p>
                  </a:txBody>
                  <a:tcPr>
                    <a:solidFill>
                      <a:srgbClr val="0C1E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20 m</a:t>
                      </a:r>
                    </a:p>
                  </a:txBody>
                  <a:tcPr>
                    <a:solidFill>
                      <a:srgbClr val="0C1E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Moisture stress &amp; Prithvi foundation encoder</a:t>
                      </a:r>
                    </a:p>
                  </a:txBody>
                  <a:tcPr>
                    <a:solidFill>
                      <a:srgbClr val="0C1E3D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914400" y="4846320"/>
            <a:ext cx="5486400" cy="1143000"/>
          </a:xfrm>
          <a:prstGeom prst="rect">
            <a:avLst/>
          </a:prstGeom>
          <a:solidFill>
            <a:srgbClr val="071326"/>
          </a:solidFill>
          <a:ln w="12700">
            <a:solidFill>
              <a:srgbClr val="1D3D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4892040"/>
            <a:ext cx="521208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22D3EE"/>
                </a:solidFill>
                <a:latin typeface="Consolas"/>
              </a:defRPr>
            </a:pPr>
            <a:r>
              <a:t>NDWI FORMULA: (rho_Green - rho_NIR) / (rho_Green + rho_NIR) = (B03 - B08) / (B03 + B08)</a:t>
            </a:r>
          </a:p>
          <a:p>
            <a:pPr>
              <a:spcBef>
                <a:spcPts val="300"/>
              </a:spcBef>
              <a:defRPr sz="850">
                <a:solidFill>
                  <a:srgbClr val="CADAEE"/>
                </a:solidFill>
                <a:latin typeface="Consolas"/>
              </a:defRPr>
            </a:pPr>
            <a:r>
              <a:t>Spatial Scaling: 10m x 10m = 100 m² = 0.0001 km² / pixel | Cutoff: C = round(((T + 1) / 2) * 255)</a:t>
            </a:r>
          </a:p>
        </p:txBody>
      </p:sp>
      <p:pic>
        <p:nvPicPr>
          <p:cNvPr id="10" name="Picture 9" descr="wetland_ndwi_spectr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645920"/>
            <a:ext cx="4572000" cy="338328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858000" y="1645920"/>
            <a:ext cx="4572000" cy="3383280"/>
          </a:xfrm>
          <a:prstGeom prst="rect">
            <a:avLst/>
          </a:prstGeom>
          <a:noFill/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995160" y="1783080"/>
            <a:ext cx="2578608" cy="237744"/>
          </a:xfrm>
          <a:prstGeom prst="roundRect">
            <a:avLst/>
          </a:prstGeom>
          <a:solidFill>
            <a:srgbClr val="030712"/>
          </a:solidFill>
          <a:ln w="9525">
            <a:solidFill>
              <a:srgbClr val="1D3D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18288" bIns="18288"/>
          <a:lstStyle/>
          <a:p>
            <a:pPr algn="ctr">
              <a:defRPr sz="750" b="1">
                <a:solidFill>
                  <a:srgbClr val="22D3EE"/>
                </a:solidFill>
                <a:latin typeface="Consolas"/>
              </a:defRPr>
            </a:pPr>
            <a:r>
              <a:t>TRUE-COLOR VS NDWI WATER MASK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0" y="5120640"/>
            <a:ext cx="4572000" cy="1005840"/>
          </a:xfrm>
          <a:prstGeom prst="rect">
            <a:avLst/>
          </a:prstGeom>
          <a:solidFill>
            <a:srgbClr val="0C1E3D"/>
          </a:solidFill>
          <a:ln w="12700">
            <a:solidFill>
              <a:srgbClr val="06D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0880" y="5266944"/>
            <a:ext cx="420624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22D3EE"/>
                </a:solidFill>
                <a:latin typeface="Consolas"/>
              </a:defRPr>
            </a:pPr>
            <a:r>
              <a:t>FALSE-COLOR NDWI</a:t>
            </a:r>
          </a:p>
          <a:p>
            <a:pPr>
              <a:defRPr sz="1200" b="1">
                <a:solidFill>
                  <a:srgbClr val="F0FDFA"/>
                </a:solidFill>
                <a:latin typeface="Trebuchet MS"/>
              </a:defRPr>
            </a:pPr>
            <a:r>
              <a:t>Visualizing Hydrological Inundation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5532120"/>
            <a:ext cx="420624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"/>
              </a:spcAft>
              <a:defRPr sz="850">
                <a:solidFill>
                  <a:srgbClr val="CADAEE"/>
                </a:solidFill>
                <a:latin typeface="Calibri"/>
              </a:defRPr>
            </a:pPr>
            <a:r>
              <a:t>• Left: Sentinel-2 True Color (TCI) RGB optical view.</a:t>
            </a:r>
          </a:p>
          <a:p>
            <a:pPr>
              <a:spcAft>
                <a:spcPts val="100"/>
              </a:spcAft>
              <a:defRPr sz="850">
                <a:solidFill>
                  <a:srgbClr val="CADAEE"/>
                </a:solidFill>
                <a:latin typeface="Calibri"/>
              </a:defRPr>
            </a:pPr>
            <a:r>
              <a:t>• Right: High-contrast NDWI water index (Cyan &gt; +0.20 water extent).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473952"/>
            <a:ext cx="106984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750">
                <a:solidFill>
                  <a:srgbClr val="738CAD"/>
                </a:solidFill>
                <a:latin typeface="Consolas"/>
              </a:defRPr>
            </a:pPr>
            <a:r>
              <a:t>AQUASENSE OBSERVATORY • SENTINEL-2 L2A STAC • NDWI (B03-B08)/(B03+B08) • 10m/px • GEMINI 3.7 FLASH • 0x8a92f02c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7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645920" cy="381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75488"/>
            <a:ext cx="2011680" cy="256032"/>
          </a:xfrm>
          <a:prstGeom prst="roundRect">
            <a:avLst/>
          </a:prstGeom>
          <a:solidFill>
            <a:srgbClr val="0C1E3D"/>
          </a:solidFill>
          <a:ln w="9525">
            <a:solidFill>
              <a:srgbClr val="1D3D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18288" bIns="18288"/>
          <a:lstStyle/>
          <a:p>
            <a:pPr algn="ctr">
              <a:defRPr sz="850" b="1">
                <a:solidFill>
                  <a:srgbClr val="FBBF24"/>
                </a:solidFill>
                <a:latin typeface="Consolas"/>
              </a:defRPr>
            </a:pPr>
            <a:r>
              <a:t>ORBIT 07 // PRODUCT INTERFACE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0FDFA"/>
                </a:solidFill>
                <a:latin typeface="Trebuchet MS"/>
              </a:defRPr>
            </a:pPr>
            <a:r>
              <a:t>AquaSense Cartographic Observatory Layout</a:t>
            </a:r>
          </a:p>
          <a:p>
            <a:pPr>
              <a:spcBef>
                <a:spcPts val="200"/>
              </a:spcBef>
              <a:defRPr sz="1150">
                <a:solidFill>
                  <a:srgbClr val="738CAD"/>
                </a:solidFill>
                <a:latin typeface="Calibri"/>
              </a:defRPr>
            </a:pPr>
            <a:r>
              <a:t>High-density scientific user interface delivering synchronized spatial, spectral, and temporal insights.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2926080" cy="4480560"/>
          </a:xfrm>
          <a:prstGeom prst="rect">
            <a:avLst/>
          </a:prstGeom>
          <a:solidFill>
            <a:srgbClr val="0C1E3D"/>
          </a:solidFill>
          <a:ln w="12700">
            <a:solidFill>
              <a:srgbClr val="1D3D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92224"/>
            <a:ext cx="256032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22D3EE"/>
                </a:solidFill>
                <a:latin typeface="Consolas"/>
              </a:defRPr>
            </a:pPr>
            <a:r>
              <a:t>LEFT: CONFIGURATION STAGE</a:t>
            </a:r>
          </a:p>
          <a:p>
            <a:pPr>
              <a:defRPr sz="1200" b="1">
                <a:solidFill>
                  <a:srgbClr val="F0FDFA"/>
                </a:solidFill>
                <a:latin typeface="Trebuchet MS"/>
              </a:defRPr>
            </a:pPr>
            <a:r>
              <a:t>Telemetry &amp; BBOX Panel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77440"/>
            <a:ext cx="2560320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• Pipeline Status Telemetry:</a:t>
            </a:r>
          </a:p>
          <a:p>
            <a:pPr>
              <a:spcAft>
                <a:spcPts val="4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  [STAC Query ✓] [NDWI LUT ✓] [Diff ✓]</a:t>
            </a:r>
          </a:p>
          <a:p>
            <a:pPr>
              <a:spcAft>
                <a:spcPts val="400"/>
              </a:spcAft>
              <a:defRPr sz="950">
                <a:solidFill>
                  <a:srgbClr val="CADAE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• Interactive 8-Point BBOX Editor:</a:t>
            </a:r>
          </a:p>
          <a:p>
            <a:pPr>
              <a:spcAft>
                <a:spcPts val="4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  Draggable anchor handles for custom spatial bounds [minLon, minLat, maxLon, maxLat].</a:t>
            </a:r>
          </a:p>
          <a:p>
            <a:pPr>
              <a:spcAft>
                <a:spcPts val="400"/>
              </a:spcAft>
              <a:defRPr sz="950">
                <a:solidFill>
                  <a:srgbClr val="CADAE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• Dynamic Cloud Cover Slider:</a:t>
            </a:r>
          </a:p>
          <a:p>
            <a:pPr>
              <a:spcAft>
                <a:spcPts val="4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  Filters STAC scenes from &lt;1% to &lt;80%.</a:t>
            </a:r>
          </a:p>
          <a:p>
            <a:pPr>
              <a:spcAft>
                <a:spcPts val="400"/>
              </a:spcAft>
              <a:defRPr sz="950">
                <a:solidFill>
                  <a:srgbClr val="CADAE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• Epoch Selectors:</a:t>
            </a:r>
          </a:p>
          <a:p>
            <a:pPr>
              <a:spcAft>
                <a:spcPts val="4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  Baseline (2019) vs. Target (2025).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1645920"/>
            <a:ext cx="4480560" cy="4480560"/>
          </a:xfrm>
          <a:prstGeom prst="rect">
            <a:avLst/>
          </a:prstGeom>
          <a:solidFill>
            <a:srgbClr val="132B54"/>
          </a:solidFill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0" y="1792224"/>
            <a:ext cx="41148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22D3EE"/>
                </a:solidFill>
                <a:latin typeface="Consolas"/>
              </a:defRPr>
            </a:pPr>
            <a:r>
              <a:t>CENTER: SATELLITE VISUALIZATION</a:t>
            </a:r>
          </a:p>
          <a:p>
            <a:pPr>
              <a:defRPr sz="1200" b="1">
                <a:solidFill>
                  <a:srgbClr val="F0FDFA"/>
                </a:solidFill>
                <a:latin typeface="Trebuchet MS"/>
              </a:defRPr>
            </a:pPr>
            <a:r>
              <a:t>Observatory Canvas Stage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0" y="2377440"/>
            <a:ext cx="4114800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• Split-Screen Swipe Comparison:</a:t>
            </a:r>
          </a:p>
          <a:p>
            <a:pPr>
              <a:spcAft>
                <a:spcPts val="4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  Drag-handle divider comparing 2019 (T0) vs 2025 (T1) in True-Color RGB or False-Color NDWI.</a:t>
            </a:r>
          </a:p>
          <a:p>
            <a:pPr>
              <a:spcAft>
                <a:spcPts val="400"/>
              </a:spcAft>
              <a:defRPr sz="950">
                <a:solidFill>
                  <a:srgbClr val="CADAE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• Tri-State Hydrological Difference Mask:</a:t>
            </a:r>
          </a:p>
          <a:p>
            <a:pPr>
              <a:spcAft>
                <a:spcPts val="4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  🔵 Electric Blue: Water Extent Gained (Inundation)</a:t>
            </a:r>
          </a:p>
          <a:p>
            <a:pPr>
              <a:spcAft>
                <a:spcPts val="4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  🔴 Signal Red: Water Extent Lost (Desiccation)</a:t>
            </a:r>
          </a:p>
          <a:p>
            <a:pPr>
              <a:spcAft>
                <a:spcPts val="4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  🔷 Deep Navy: Persistent Water Body</a:t>
            </a:r>
          </a:p>
          <a:p>
            <a:pPr>
              <a:spcAft>
                <a:spcPts val="400"/>
              </a:spcAft>
              <a:defRPr sz="950">
                <a:solidFill>
                  <a:srgbClr val="CADAE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• 7 Scientific LUT Palettes with Needle Bar:</a:t>
            </a:r>
          </a:p>
          <a:p>
            <a:pPr>
              <a:spcAft>
                <a:spcPts val="4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  Viridis, Inferno, Turbo, Cividis, Mako, Blues.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03920" y="1645920"/>
            <a:ext cx="2926080" cy="4480560"/>
          </a:xfrm>
          <a:prstGeom prst="rect">
            <a:avLst/>
          </a:prstGeom>
          <a:solidFill>
            <a:srgbClr val="0C1E3D"/>
          </a:solidFill>
          <a:ln w="12700">
            <a:solidFill>
              <a:srgbClr val="1D3D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0" y="1792224"/>
            <a:ext cx="256032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22D3EE"/>
                </a:solidFill>
                <a:latin typeface="Consolas"/>
              </a:defRPr>
            </a:pPr>
            <a:r>
              <a:t>RIGHT: METRICS &amp; REASONING</a:t>
            </a:r>
          </a:p>
          <a:p>
            <a:pPr>
              <a:defRPr sz="1200" b="1">
                <a:solidFill>
                  <a:srgbClr val="F0FDFA"/>
                </a:solidFill>
                <a:latin typeface="Trebuchet MS"/>
              </a:defRPr>
            </a:pPr>
            <a:r>
              <a:t>Quantification &amp; AI Panel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2377440"/>
            <a:ext cx="2560320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• Dynamic NDWI Threshold Slider:</a:t>
            </a:r>
          </a:p>
          <a:p>
            <a:pPr>
              <a:spcAft>
                <a:spcPts val="4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  Continuous range [-0.30, 0.70] with sub-second area recalculation.</a:t>
            </a:r>
          </a:p>
          <a:p>
            <a:pPr>
              <a:spcAft>
                <a:spcPts val="400"/>
              </a:spcAft>
              <a:defRPr sz="950">
                <a:solidFill>
                  <a:srgbClr val="CADAE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• Water Extent Metrics:</a:t>
            </a:r>
          </a:p>
          <a:p>
            <a:pPr>
              <a:spcAft>
                <a:spcPts val="4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  2019: 4.12 km² | 2025: 3.48 km²</a:t>
            </a:r>
          </a:p>
          <a:p>
            <a:pPr>
              <a:spcAft>
                <a:spcPts val="4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  Net Change: -0.64 km² (-15.53%)</a:t>
            </a:r>
          </a:p>
          <a:p>
            <a:pPr>
              <a:spcAft>
                <a:spcPts val="400"/>
              </a:spcAft>
              <a:defRPr sz="950">
                <a:solidFill>
                  <a:srgbClr val="CADAE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• Multi-Year Recharts Trendline:</a:t>
            </a:r>
          </a:p>
          <a:p>
            <a:pPr>
              <a:spcAft>
                <a:spcPts val="4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  Annual intermediate STAC samples.</a:t>
            </a:r>
          </a:p>
          <a:p>
            <a:pPr>
              <a:spcAft>
                <a:spcPts val="400"/>
              </a:spcAft>
              <a:defRPr sz="950">
                <a:solidFill>
                  <a:srgbClr val="CADAE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• Gemini 4-Mode Ecological Tabs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473952"/>
            <a:ext cx="106984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750">
                <a:solidFill>
                  <a:srgbClr val="738CAD"/>
                </a:solidFill>
                <a:latin typeface="Consolas"/>
              </a:defRPr>
            </a:pPr>
            <a:r>
              <a:t>AQUASENSE OBSERVATORY • SENTINEL-2 L2A STAC • NDWI (B03-B08)/(B03+B08) • 10m/px • GEMINI 3.7 FLASH • 0x8a92f02c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7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645920" cy="381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75488"/>
            <a:ext cx="2011680" cy="256032"/>
          </a:xfrm>
          <a:prstGeom prst="roundRect">
            <a:avLst/>
          </a:prstGeom>
          <a:solidFill>
            <a:srgbClr val="0C1E3D"/>
          </a:solidFill>
          <a:ln w="9525">
            <a:solidFill>
              <a:srgbClr val="1D3D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18288" bIns="18288"/>
          <a:lstStyle/>
          <a:p>
            <a:pPr algn="ctr">
              <a:defRPr sz="850" b="1">
                <a:solidFill>
                  <a:srgbClr val="FBBF24"/>
                </a:solidFill>
                <a:latin typeface="Consolas"/>
              </a:defRPr>
            </a:pPr>
            <a:r>
              <a:t>ORBIT 08 // MULTIMODAL AI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0FDFA"/>
                </a:solidFill>
                <a:latin typeface="Trebuchet MS"/>
              </a:defRPr>
            </a:pPr>
            <a:r>
              <a:t>Google Gemini 4-Mode Ecological Intelligence Suite</a:t>
            </a:r>
          </a:p>
          <a:p>
            <a:pPr>
              <a:spcBef>
                <a:spcPts val="200"/>
              </a:spcBef>
              <a:defRPr sz="1150">
                <a:solidFill>
                  <a:srgbClr val="738CAD"/>
                </a:solidFill>
                <a:latin typeface="Calibri"/>
              </a:defRPr>
            </a:pPr>
            <a:r>
              <a:t>Combining deep contextual reasoning, real-time web grounding, geographic spatial analysis, and drone vision.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852160" cy="1417320"/>
          </a:xfrm>
          <a:prstGeom prst="rect">
            <a:avLst/>
          </a:prstGeom>
          <a:solidFill>
            <a:srgbClr val="0C1E3D"/>
          </a:solidFill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92224"/>
            <a:ext cx="54864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22D3EE"/>
                </a:solidFill>
                <a:latin typeface="Consolas"/>
              </a:defRPr>
            </a:pPr>
            <a:r>
              <a:t>GEMINI-3.7-FLASH</a:t>
            </a:r>
          </a:p>
          <a:p>
            <a:pPr>
              <a:defRPr sz="1200" b="1">
                <a:solidFill>
                  <a:srgbClr val="F0FDFA"/>
                </a:solidFill>
                <a:latin typeface="Trebuchet MS"/>
              </a:defRPr>
            </a:pPr>
            <a:r>
              <a:t>🧠 DEEP ECOLOGICAL REASONING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31720"/>
            <a:ext cx="54864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"/>
              </a:spcAft>
              <a:defRPr sz="850">
                <a:solidFill>
                  <a:srgbClr val="CADAEE"/>
                </a:solidFill>
                <a:latin typeface="Calibri"/>
              </a:defRPr>
            </a:pPr>
            <a:r>
              <a:t>• Formulates structured hydrological trajectory reports.</a:t>
            </a:r>
          </a:p>
          <a:p>
            <a:pPr>
              <a:spcAft>
                <a:spcPts val="100"/>
              </a:spcAft>
              <a:defRPr sz="850">
                <a:solidFill>
                  <a:srgbClr val="CADAEE"/>
                </a:solidFill>
                <a:latin typeface="Calibri"/>
              </a:defRPr>
            </a:pPr>
            <a:r>
              <a:t>• Isolates primary drivers (urban encroachment, rainfall deficits).</a:t>
            </a:r>
          </a:p>
          <a:p>
            <a:pPr>
              <a:spcAft>
                <a:spcPts val="100"/>
              </a:spcAft>
              <a:defRPr sz="850">
                <a:solidFill>
                  <a:srgbClr val="CADAEE"/>
                </a:solidFill>
                <a:latin typeface="Calibri"/>
              </a:defRPr>
            </a:pPr>
            <a:r>
              <a:t>• Assesses flood attenuation &amp; groundwater ecosystem services.</a:t>
            </a:r>
          </a:p>
          <a:p>
            <a:pPr>
              <a:spcAft>
                <a:spcPts val="100"/>
              </a:spcAft>
              <a:defRPr sz="850">
                <a:solidFill>
                  <a:srgbClr val="CADAEE"/>
                </a:solidFill>
                <a:latin typeface="Calibri"/>
              </a:defRPr>
            </a:pPr>
            <a:r>
              <a:t>• Generates prioritized ecological conservation interventions.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3182112"/>
            <a:ext cx="5852160" cy="1417320"/>
          </a:xfrm>
          <a:prstGeom prst="rect">
            <a:avLst/>
          </a:prstGeom>
          <a:solidFill>
            <a:srgbClr val="0C1E3D"/>
          </a:solidFill>
          <a:ln w="12700">
            <a:solidFill>
              <a:srgbClr val="06D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328416"/>
            <a:ext cx="54864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22D3EE"/>
                </a:solidFill>
                <a:latin typeface="Consolas"/>
              </a:defRPr>
            </a:pPr>
            <a:r>
              <a:t>GEMINI-3.5-FLASH + GOOGLESEARCH</a:t>
            </a:r>
          </a:p>
          <a:p>
            <a:pPr>
              <a:defRPr sz="1200" b="1">
                <a:solidFill>
                  <a:srgbClr val="F0FDFA"/>
                </a:solidFill>
                <a:latin typeface="Trebuchet MS"/>
              </a:defRPr>
            </a:pPr>
            <a:r>
              <a:t>🔍 SEARCH-GROUNDED FACT CHECKING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867912"/>
            <a:ext cx="54864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"/>
              </a:spcAft>
              <a:defRPr sz="850">
                <a:solidFill>
                  <a:srgbClr val="CADAEE"/>
                </a:solidFill>
                <a:latin typeface="Calibri"/>
              </a:defRPr>
            </a:pPr>
            <a:r>
              <a:t>• Integrates live Google Search tool for current basin status.</a:t>
            </a:r>
          </a:p>
          <a:p>
            <a:pPr>
              <a:spcAft>
                <a:spcPts val="100"/>
              </a:spcAft>
              <a:defRPr sz="850">
                <a:solidFill>
                  <a:srgbClr val="CADAEE"/>
                </a:solidFill>
                <a:latin typeface="Calibri"/>
              </a:defRPr>
            </a:pPr>
            <a:r>
              <a:t>• Discovers recent municipal eco-restoration orders &amp; litigation.</a:t>
            </a:r>
          </a:p>
          <a:p>
            <a:pPr>
              <a:spcAft>
                <a:spcPts val="100"/>
              </a:spcAft>
              <a:defRPr sz="850">
                <a:solidFill>
                  <a:srgbClr val="CADAEE"/>
                </a:solidFill>
                <a:latin typeface="Calibri"/>
              </a:defRPr>
            </a:pPr>
            <a:r>
              <a:t>• Correlates satellite anomalies with extreme weather events.</a:t>
            </a:r>
          </a:p>
          <a:p>
            <a:pPr>
              <a:spcAft>
                <a:spcPts val="100"/>
              </a:spcAft>
              <a:defRPr sz="850">
                <a:solidFill>
                  <a:srgbClr val="CADAEE"/>
                </a:solidFill>
                <a:latin typeface="Calibri"/>
              </a:defRPr>
            </a:pPr>
            <a:r>
              <a:t>• Returns verifiable, clickable grounding citations.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4718304"/>
            <a:ext cx="5852160" cy="1417320"/>
          </a:xfrm>
          <a:prstGeom prst="rect">
            <a:avLst/>
          </a:prstGeom>
          <a:solidFill>
            <a:srgbClr val="0C1E3D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864608"/>
            <a:ext cx="54864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22D3EE"/>
                </a:solidFill>
                <a:latin typeface="Consolas"/>
              </a:defRPr>
            </a:pPr>
            <a:r>
              <a:t>GEMINI-3.5-FLASH + GOOGLEMAPS</a:t>
            </a:r>
          </a:p>
          <a:p>
            <a:pPr>
              <a:defRPr sz="1200" b="1">
                <a:solidFill>
                  <a:srgbClr val="F0FDFA"/>
                </a:solidFill>
                <a:latin typeface="Trebuchet MS"/>
              </a:defRPr>
            </a:pPr>
            <a:r>
              <a:t>🗺️ MAPS-GROUNDED SPATIAL ZONING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404104"/>
            <a:ext cx="54864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"/>
              </a:spcAft>
              <a:defRPr sz="850">
                <a:solidFill>
                  <a:srgbClr val="CADAEE"/>
                </a:solidFill>
                <a:latin typeface="Calibri"/>
              </a:defRPr>
            </a:pPr>
            <a:r>
              <a:t>• Google Maps spatial database integration.</a:t>
            </a:r>
          </a:p>
          <a:p>
            <a:pPr>
              <a:spcAft>
                <a:spcPts val="100"/>
              </a:spcAft>
              <a:defRPr sz="850">
                <a:solidFill>
                  <a:srgbClr val="CADAEE"/>
                </a:solidFill>
                <a:latin typeface="Calibri"/>
              </a:defRPr>
            </a:pPr>
            <a:r>
              <a:t>• Pinpoints surrounding industrial corridors and IT developments.</a:t>
            </a:r>
          </a:p>
          <a:p>
            <a:pPr>
              <a:spcAft>
                <a:spcPts val="100"/>
              </a:spcAft>
              <a:defRPr sz="850">
                <a:solidFill>
                  <a:srgbClr val="CADAEE"/>
                </a:solidFill>
                <a:latin typeface="Calibri"/>
              </a:defRPr>
            </a:pPr>
            <a:r>
              <a:t>• Maps protected bird sanctuaries and wildlife buffer zones.</a:t>
            </a:r>
          </a:p>
          <a:p>
            <a:pPr>
              <a:spcAft>
                <a:spcPts val="100"/>
              </a:spcAft>
              <a:defRPr sz="850">
                <a:solidFill>
                  <a:srgbClr val="CADAEE"/>
                </a:solidFill>
                <a:latin typeface="Calibri"/>
              </a:defRPr>
            </a:pPr>
            <a:r>
              <a:t>• Identifies primary storm-drain inlets and outflow bottlenecks.</a:t>
            </a:r>
          </a:p>
        </p:txBody>
      </p:sp>
      <p:pic>
        <p:nvPicPr>
          <p:cNvPr id="14" name="Picture 13" descr="multimodal_field_dron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645920"/>
            <a:ext cx="4572000" cy="310896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6858000" y="1645920"/>
            <a:ext cx="4572000" cy="3108960"/>
          </a:xfrm>
          <a:prstGeom prst="rect">
            <a:avLst/>
          </a:prstGeom>
          <a:noFill/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995160" y="1783080"/>
            <a:ext cx="2432304" cy="237744"/>
          </a:xfrm>
          <a:prstGeom prst="roundRect">
            <a:avLst/>
          </a:prstGeom>
          <a:solidFill>
            <a:srgbClr val="030712"/>
          </a:solidFill>
          <a:ln w="9525">
            <a:solidFill>
              <a:srgbClr val="1D3D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18288" bIns="18288"/>
          <a:lstStyle/>
          <a:p>
            <a:pPr algn="ctr">
              <a:defRPr sz="750" b="1">
                <a:solidFill>
                  <a:srgbClr val="22D3EE"/>
                </a:solidFill>
                <a:latin typeface="Consolas"/>
              </a:defRPr>
            </a:pPr>
            <a:r>
              <a:t>MULTIMODAL FIELD VALIDATION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0" y="4846320"/>
            <a:ext cx="4572000" cy="1280160"/>
          </a:xfrm>
          <a:prstGeom prst="rect">
            <a:avLst/>
          </a:prstGeom>
          <a:solidFill>
            <a:srgbClr val="0C1E3D"/>
          </a:solidFill>
          <a:ln w="127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0880" y="4992624"/>
            <a:ext cx="420624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22D3EE"/>
                </a:solidFill>
                <a:latin typeface="Consolas"/>
              </a:defRPr>
            </a:pPr>
            <a:r>
              <a:t>GEMINI 3.7 FLASH (MULTIMODAL VISION)</a:t>
            </a:r>
          </a:p>
          <a:p>
            <a:pPr>
              <a:defRPr sz="1200" b="1">
                <a:solidFill>
                  <a:srgbClr val="F0FDFA"/>
                </a:solidFill>
                <a:latin typeface="Trebuchet MS"/>
              </a:defRPr>
            </a:pPr>
            <a:r>
              <a:t>📸 Drone &amp; Ground-Truth Photo Understanding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0" y="5440680"/>
            <a:ext cx="42062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"/>
              </a:spcAft>
              <a:defRPr sz="850">
                <a:solidFill>
                  <a:srgbClr val="CADAEE"/>
                </a:solidFill>
                <a:latin typeface="Calibri"/>
              </a:defRPr>
            </a:pPr>
            <a:r>
              <a:t>• Ingests field photos, drone captures, or handheld phone images.</a:t>
            </a:r>
          </a:p>
          <a:p>
            <a:pPr>
              <a:spcAft>
                <a:spcPts val="100"/>
              </a:spcAft>
              <a:defRPr sz="850">
                <a:solidFill>
                  <a:srgbClr val="CADAEE"/>
                </a:solidFill>
                <a:latin typeface="Calibri"/>
              </a:defRPr>
            </a:pPr>
            <a:r>
              <a:t>• Evaluates water turbidity, surface algae, and hyacinth mats.</a:t>
            </a:r>
          </a:p>
          <a:p>
            <a:pPr>
              <a:spcAft>
                <a:spcPts val="100"/>
              </a:spcAft>
              <a:defRPr sz="850">
                <a:solidFill>
                  <a:srgbClr val="CADAEE"/>
                </a:solidFill>
                <a:latin typeface="Calibri"/>
              </a:defRPr>
            </a:pPr>
            <a:r>
              <a:t>• Produces estimated Few-Shot class confidence breakdowns.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473952"/>
            <a:ext cx="106984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750">
                <a:solidFill>
                  <a:srgbClr val="738CAD"/>
                </a:solidFill>
                <a:latin typeface="Consolas"/>
              </a:defRPr>
            </a:pPr>
            <a:r>
              <a:t>AQUASENSE OBSERVATORY • SENTINEL-2 L2A STAC • NDWI (B03-B08)/(B03+B08) • 10m/px • GEMINI 3.7 FLASH • 0x8a92f02c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7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645920" cy="381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75488"/>
            <a:ext cx="2011680" cy="256032"/>
          </a:xfrm>
          <a:prstGeom prst="roundRect">
            <a:avLst/>
          </a:prstGeom>
          <a:solidFill>
            <a:srgbClr val="0C1E3D"/>
          </a:solidFill>
          <a:ln w="9525">
            <a:solidFill>
              <a:srgbClr val="1D3D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18288" bIns="18288"/>
          <a:lstStyle/>
          <a:p>
            <a:pPr algn="ctr">
              <a:defRPr sz="850" b="1">
                <a:solidFill>
                  <a:srgbClr val="FBBF24"/>
                </a:solidFill>
                <a:latin typeface="Consolas"/>
              </a:defRPr>
            </a:pPr>
            <a:r>
              <a:t>ORBIT 09 // MACHINE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0FDFA"/>
                </a:solidFill>
                <a:latin typeface="Trebuchet MS"/>
              </a:defRPr>
            </a:pPr>
            <a:r>
              <a:t>Earth Observation Foundation Models &amp; Few-Shot Learning</a:t>
            </a:r>
          </a:p>
          <a:p>
            <a:pPr>
              <a:spcBef>
                <a:spcPts val="200"/>
              </a:spcBef>
              <a:defRPr sz="1150">
                <a:solidFill>
                  <a:srgbClr val="738CAD"/>
                </a:solidFill>
                <a:latin typeface="Calibri"/>
              </a:defRPr>
            </a:pPr>
            <a:r>
              <a:t>Overcoming spectral index limitations through dense latent representations and few-shot classification.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212080" cy="4480560"/>
          </a:xfrm>
          <a:prstGeom prst="rect">
            <a:avLst/>
          </a:prstGeom>
          <a:solidFill>
            <a:srgbClr val="0C1E3D"/>
          </a:solidFill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92224"/>
            <a:ext cx="484632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22D3EE"/>
                </a:solidFill>
                <a:latin typeface="Consolas"/>
              </a:defRPr>
            </a:pPr>
            <a:r>
              <a:t>PRE-TRAINED GEOSPATIAL FOUNDATION MODELS</a:t>
            </a:r>
          </a:p>
          <a:p>
            <a:pPr>
              <a:defRPr sz="1200" b="1">
                <a:solidFill>
                  <a:srgbClr val="F0FDFA"/>
                </a:solidFill>
                <a:latin typeface="Trebuchet MS"/>
              </a:defRPr>
            </a:pPr>
            <a:r>
              <a:t>IBM-NASA Prithvi-100M &amp; Clay v1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77440"/>
            <a:ext cx="4846320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1. ARCHITECTURE &amp; SPECIFICATIONS:</a:t>
            </a:r>
          </a:p>
          <a:p>
            <a:pPr>
              <a:spcAft>
                <a:spcPts val="3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   • Model Architecture: Temporal Vision Transformer (ViT-Base).</a:t>
            </a:r>
          </a:p>
          <a:p>
            <a:pPr>
              <a:spcAft>
                <a:spcPts val="3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   • Input Tensor: 224 x 224 x 6 Multispectral Patch (B02, B03, B04, B08, B11, B12).</a:t>
            </a:r>
          </a:p>
          <a:p>
            <a:pPr>
              <a:spcAft>
                <a:spcPts val="3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   • Pre-training Objective: Masked Autoencoder (MAE) across 100M+ global Sentinel scenes.</a:t>
            </a:r>
          </a:p>
          <a:p>
            <a:pPr>
              <a:spcAft>
                <a:spcPts val="3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   • Latent Feature Representation: 768-dimensional dense embedding per patch.</a:t>
            </a:r>
          </a:p>
          <a:p>
            <a:pPr>
              <a:spcAft>
                <a:spcPts val="300"/>
              </a:spcAft>
              <a:defRPr sz="950">
                <a:solidFill>
                  <a:srgbClr val="CADAEE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2. COMPUTATIONAL &amp; MEMORY EFFICIENCY:</a:t>
            </a:r>
          </a:p>
          <a:p>
            <a:pPr>
              <a:spcAft>
                <a:spcPts val="3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   • Adaptive VRAM Memory Sizing: Dynamically calculates batch size based on free GPU memory.</a:t>
            </a:r>
          </a:p>
          <a:p>
            <a:pPr>
              <a:spcAft>
                <a:spcPts val="3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   • Batch Size Formula: max(1, min(64, floor((VRAM_free - 1GB) / 150MB))).</a:t>
            </a:r>
          </a:p>
          <a:p>
            <a:pPr>
              <a:spcAft>
                <a:spcPts val="3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   • SCL Cloud Masking: Automatically masks Scene Classification Layer codes 8, 9, 10.</a:t>
            </a:r>
          </a:p>
          <a:p>
            <a:pPr>
              <a:spcAft>
                <a:spcPts val="300"/>
              </a:spcAft>
              <a:defRPr sz="950">
                <a:solidFill>
                  <a:srgbClr val="CADAEE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3. CLAY V1 FOUNDATION ENCODER:</a:t>
            </a:r>
          </a:p>
          <a:p>
            <a:pPr>
              <a:spcAft>
                <a:spcPts val="3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   • Universal multi-sensor representation model for global multitemporal analysis.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645920"/>
            <a:ext cx="5212080" cy="4480560"/>
          </a:xfrm>
          <a:prstGeom prst="rect">
            <a:avLst/>
          </a:prstGeom>
          <a:solidFill>
            <a:srgbClr val="0C1E3D"/>
          </a:solidFill>
          <a:ln w="12700">
            <a:solidFill>
              <a:srgbClr val="06D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792224"/>
            <a:ext cx="484632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22D3EE"/>
                </a:solidFill>
                <a:latin typeface="Consolas"/>
              </a:defRPr>
            </a:pPr>
            <a:r>
              <a:t>RAPID ADAPTATION OVER FROZEN EMBEDDINGS</a:t>
            </a:r>
          </a:p>
          <a:p>
            <a:pPr>
              <a:defRPr sz="1200" b="1">
                <a:solidFill>
                  <a:srgbClr val="F0FDFA"/>
                </a:solidFill>
                <a:latin typeface="Trebuchet MS"/>
              </a:defRPr>
            </a:pPr>
            <a:r>
              <a:t>FewShotClassifier Mathematical Engine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377440"/>
            <a:ext cx="4846320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1. ONE-VS-REST (OvR) L2-REGULARIZED LOGISTIC REGRESSION:</a:t>
            </a:r>
          </a:p>
          <a:p>
            <a:pPr>
              <a:spcAft>
                <a:spcPts val="3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   Loss = -1/N sum [ w+ y log(sigma(z)) + w- (1-y) log(1-sigma(z)) ] + 1/(2C) ||w||²</a:t>
            </a:r>
          </a:p>
          <a:p>
            <a:pPr>
              <a:spcAft>
                <a:spcPts val="3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   • Class Balancing: w+ = N / (2*N+), w- = N / (2*N-) to prevent class imbalance.</a:t>
            </a:r>
          </a:p>
          <a:p>
            <a:pPr>
              <a:spcAft>
                <a:spcPts val="3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   • Multiclass Softmax Probability: P(y=c|x) = exp(w_c^T x + b_c) / sum exp(w_k^T x + b_k).</a:t>
            </a:r>
          </a:p>
          <a:p>
            <a:pPr>
              <a:spcAft>
                <a:spcPts val="300"/>
              </a:spcAft>
              <a:defRPr sz="950">
                <a:solidFill>
                  <a:srgbClr val="CADAEE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2. COSINE-WEIGHTED k-NEAREST NEIGHBORS (k-NN):</a:t>
            </a:r>
          </a:p>
          <a:p>
            <a:pPr>
              <a:spcAft>
                <a:spcPts val="3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   Distance = 1.0 - (x . r_j) / (||x|| * ||r_j||)</a:t>
            </a:r>
          </a:p>
          <a:p>
            <a:pPr>
              <a:spcAft>
                <a:spcPts val="3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   • Voting Weights: w_j = 1.0 / (dist_j + 1e-5).</a:t>
            </a:r>
          </a:p>
          <a:p>
            <a:pPr>
              <a:spcAft>
                <a:spcPts val="3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   • Effective k = min(n_neighbors, training_samples_count).</a:t>
            </a:r>
          </a:p>
          <a:p>
            <a:pPr>
              <a:spcAft>
                <a:spcPts val="300"/>
              </a:spcAft>
              <a:defRPr sz="950">
                <a:solidFill>
                  <a:srgbClr val="CADAEE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3. STATE SERIALIZATION &amp; EDGE PORTABILITY:</a:t>
            </a:r>
          </a:p>
          <a:p>
            <a:pPr>
              <a:spcAft>
                <a:spcPts val="3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   • Complete model state exported to portable JSON (weights, biases, vectors).</a:t>
            </a:r>
          </a:p>
          <a:p>
            <a:pPr>
              <a:spcAft>
                <a:spcPts val="3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   • Allows zero-dependency edge inference in Node.js or browser without PyTorch.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73952"/>
            <a:ext cx="106984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750">
                <a:solidFill>
                  <a:srgbClr val="738CAD"/>
                </a:solidFill>
                <a:latin typeface="Consolas"/>
              </a:defRPr>
            </a:pPr>
            <a:r>
              <a:t>AQUASENSE OBSERVATORY • SENTINEL-2 L2A STAC • NDWI (B03-B08)/(B03+B08) • 10m/px • GEMINI 3.7 FLASH • 0x8a92f02c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7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645920" cy="381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75488"/>
            <a:ext cx="2011680" cy="256032"/>
          </a:xfrm>
          <a:prstGeom prst="roundRect">
            <a:avLst/>
          </a:prstGeom>
          <a:solidFill>
            <a:srgbClr val="0C1E3D"/>
          </a:solidFill>
          <a:ln w="9525">
            <a:solidFill>
              <a:srgbClr val="1D3D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18288" bIns="18288"/>
          <a:lstStyle/>
          <a:p>
            <a:pPr algn="ctr">
              <a:defRPr sz="850" b="1">
                <a:solidFill>
                  <a:srgbClr val="FBBF24"/>
                </a:solidFill>
                <a:latin typeface="Consolas"/>
              </a:defRPr>
            </a:pPr>
            <a:r>
              <a:t>ORBIT 10 // FIELD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0FDFA"/>
                </a:solidFill>
                <a:latin typeface="Trebuchet MS"/>
              </a:defRPr>
            </a:pPr>
            <a:r>
              <a:t>Pallikaranai Ramsar Marshland (Chennai) Multi-Year Audit</a:t>
            </a:r>
          </a:p>
          <a:p>
            <a:pPr>
              <a:spcBef>
                <a:spcPts val="200"/>
              </a:spcBef>
              <a:defRPr sz="1150">
                <a:solidFill>
                  <a:srgbClr val="738CAD"/>
                </a:solidFill>
                <a:latin typeface="Calibri"/>
              </a:defRPr>
            </a:pPr>
            <a:r>
              <a:t>Quantifying surface water shrinkage and urban encroachment across 2019-2025 satellite epochs.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2560320" cy="1097280"/>
          </a:xfrm>
          <a:prstGeom prst="rect">
            <a:avLst/>
          </a:prstGeom>
          <a:solidFill>
            <a:srgbClr val="0C1E3D"/>
          </a:solidFill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91640"/>
            <a:ext cx="22860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22D3EE"/>
                </a:solidFill>
                <a:latin typeface="Trebuchet MS"/>
              </a:defRPr>
            </a:pPr>
            <a:r>
              <a:t>4.12 km²</a:t>
            </a:r>
          </a:p>
          <a:p>
            <a:pPr>
              <a:defRPr sz="800" b="1">
                <a:solidFill>
                  <a:srgbClr val="F0FDFA"/>
                </a:solidFill>
                <a:latin typeface="Consolas"/>
              </a:defRPr>
            </a:pPr>
            <a:r>
              <a:t>2019 BASELINE WATER (T0)</a:t>
            </a:r>
          </a:p>
          <a:p>
            <a:pPr>
              <a:defRPr sz="850">
                <a:solidFill>
                  <a:srgbClr val="738CAD"/>
                </a:solidFill>
              </a:defRPr>
            </a:pPr>
            <a:r>
              <a:t>Post-monsoon water surface extent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0" y="1645920"/>
            <a:ext cx="2560320" cy="1097280"/>
          </a:xfrm>
          <a:prstGeom prst="rect">
            <a:avLst/>
          </a:prstGeom>
          <a:solidFill>
            <a:srgbClr val="0C1E3D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11880" y="1691640"/>
            <a:ext cx="22860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284C7"/>
                </a:solidFill>
                <a:latin typeface="Trebuchet MS"/>
              </a:defRPr>
            </a:pPr>
            <a:r>
              <a:t>3.48 km²</a:t>
            </a:r>
          </a:p>
          <a:p>
            <a:pPr>
              <a:defRPr sz="800" b="1">
                <a:solidFill>
                  <a:srgbClr val="F0FDFA"/>
                </a:solidFill>
                <a:latin typeface="Consolas"/>
              </a:defRPr>
            </a:pPr>
            <a:r>
              <a:t>2025 TARGET WATER (T1)</a:t>
            </a:r>
          </a:p>
          <a:p>
            <a:pPr>
              <a:defRPr sz="850">
                <a:solidFill>
                  <a:srgbClr val="738CAD"/>
                </a:solidFill>
              </a:defRPr>
            </a:pPr>
            <a:r>
              <a:t>Recent Sentinel-2 pass water extent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645920"/>
            <a:ext cx="2560320" cy="1097280"/>
          </a:xfrm>
          <a:prstGeom prst="rect">
            <a:avLst/>
          </a:prstGeom>
          <a:solidFill>
            <a:srgbClr val="0C1E3D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691640"/>
            <a:ext cx="22860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43F5E"/>
                </a:solidFill>
                <a:latin typeface="Trebuchet MS"/>
              </a:defRPr>
            </a:pPr>
            <a:r>
              <a:t>-0.64 km²</a:t>
            </a:r>
          </a:p>
          <a:p>
            <a:pPr>
              <a:defRPr sz="800" b="1">
                <a:solidFill>
                  <a:srgbClr val="F0FDFA"/>
                </a:solidFill>
                <a:latin typeface="Consolas"/>
              </a:defRPr>
            </a:pPr>
            <a:r>
              <a:t>ABSOLUTE NET CHANGE</a:t>
            </a:r>
          </a:p>
          <a:p>
            <a:pPr>
              <a:defRPr sz="850">
                <a:solidFill>
                  <a:srgbClr val="738CAD"/>
                </a:solidFill>
              </a:defRPr>
            </a:pPr>
            <a:r>
              <a:t>Permanent water surface lost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61120" y="1645920"/>
            <a:ext cx="2560320" cy="1097280"/>
          </a:xfrm>
          <a:prstGeom prst="rect">
            <a:avLst/>
          </a:prstGeom>
          <a:solidFill>
            <a:srgbClr val="0C1E3D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98280" y="1691640"/>
            <a:ext cx="22860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BBF24"/>
                </a:solidFill>
                <a:latin typeface="Trebuchet MS"/>
              </a:defRPr>
            </a:pPr>
            <a:r>
              <a:t>-15.53%</a:t>
            </a:r>
          </a:p>
          <a:p>
            <a:pPr>
              <a:defRPr sz="800" b="1">
                <a:solidFill>
                  <a:srgbClr val="F0FDFA"/>
                </a:solidFill>
                <a:latin typeface="Consolas"/>
              </a:defRPr>
            </a:pPr>
            <a:r>
              <a:t>RELATIVE WETLAND LOSS</a:t>
            </a:r>
          </a:p>
          <a:p>
            <a:pPr>
              <a:defRPr sz="850">
                <a:solidFill>
                  <a:srgbClr val="738CAD"/>
                </a:solidFill>
              </a:defRPr>
            </a:pPr>
            <a:r>
              <a:t>Severe hydrological constriction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2926080"/>
            <a:ext cx="5212080" cy="3200400"/>
          </a:xfrm>
          <a:prstGeom prst="rect">
            <a:avLst/>
          </a:prstGeom>
          <a:solidFill>
            <a:srgbClr val="0C1E3D"/>
          </a:solidFill>
          <a:ln w="127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072384"/>
            <a:ext cx="484632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22D3EE"/>
                </a:solidFill>
                <a:latin typeface="Consolas"/>
              </a:defRPr>
            </a:pPr>
            <a:r>
              <a:t>SATELLITE GROUND-TRUTH CONFIRMATION</a:t>
            </a:r>
          </a:p>
          <a:p>
            <a:pPr>
              <a:defRPr sz="1200" b="1">
                <a:solidFill>
                  <a:srgbClr val="F0FDFA"/>
                </a:solidFill>
                <a:latin typeface="Trebuchet MS"/>
              </a:defRPr>
            </a:pPr>
            <a:r>
              <a:t>Spatial Findings &amp; ESA Scene Metadata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566160"/>
            <a:ext cx="4846320" cy="2377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• Northern Perimeter Shrinkage: The Diff Mask reveals intense signal red loss along the Velachery-Tambaram IT corridor expansion.</a:t>
            </a:r>
          </a:p>
          <a:p>
            <a:pPr>
              <a:spcAft>
                <a:spcPts val="4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• Southern Floodwater Retention: Blue expansion confirms active monsoon buffering in the southern wildlife sanctuary zone.</a:t>
            </a:r>
          </a:p>
          <a:p>
            <a:pPr>
              <a:spcAft>
                <a:spcPts val="4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• Verified ESA Scenes: Baseline S2A_MSIL2A_20190325 (0.0% cloud) vs. Target S2B_MSIL2A_20250218 (4.2% cloud).</a:t>
            </a:r>
          </a:p>
          <a:p>
            <a:pPr>
              <a:spcAft>
                <a:spcPts val="4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• Ground-Truth Corroboration: Gemini Search grounding retrieved Chennai Smart City Corporation wetland desilting filings verifying boundaries.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2926080"/>
            <a:ext cx="5212080" cy="3200400"/>
          </a:xfrm>
          <a:prstGeom prst="rect">
            <a:avLst/>
          </a:prstGeom>
          <a:solidFill>
            <a:srgbClr val="0C1E3D"/>
          </a:solidFill>
          <a:ln w="12700">
            <a:solidFill>
              <a:srgbClr val="06D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3072384"/>
            <a:ext cx="484632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22D3EE"/>
                </a:solidFill>
                <a:latin typeface="Consolas"/>
              </a:defRPr>
            </a:pPr>
            <a:r>
              <a:t>INTERMEDIATE ANNUAL STAC SAMPLING</a:t>
            </a:r>
          </a:p>
          <a:p>
            <a:pPr>
              <a:defRPr sz="1200" b="1">
                <a:solidFill>
                  <a:srgbClr val="F0FDFA"/>
                </a:solidFill>
                <a:latin typeface="Trebuchet MS"/>
              </a:defRPr>
            </a:pPr>
            <a:r>
              <a:t>Annual Longitudinal Time-Series Data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6400800" y="3566160"/>
          <a:ext cx="48463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1280160"/>
                <a:gridCol w="1005840"/>
                <a:gridCol w="1737360"/>
              </a:tblGrid>
              <a:tr h="297180"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22D3EE"/>
                          </a:solidFill>
                          <a:latin typeface="Consolas"/>
                        </a:defRPr>
                      </a:pPr>
                      <a:r>
                        <a:t>YEAR</a:t>
                      </a:r>
                    </a:p>
                  </a:txBody>
                  <a:tcPr>
                    <a:solidFill>
                      <a:srgbClr val="17356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22D3EE"/>
                          </a:solidFill>
                          <a:latin typeface="Consolas"/>
                        </a:defRPr>
                      </a:pPr>
                      <a:r>
                        <a:t>WATER AREA (KM²)</a:t>
                      </a:r>
                    </a:p>
                  </a:txBody>
                  <a:tcPr>
                    <a:solidFill>
                      <a:srgbClr val="17356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22D3EE"/>
                          </a:solidFill>
                          <a:latin typeface="Consolas"/>
                        </a:defRPr>
                      </a:pPr>
                      <a:r>
                        <a:t>CLOUD COVER</a:t>
                      </a:r>
                    </a:p>
                  </a:txBody>
                  <a:tcPr>
                    <a:solidFill>
                      <a:srgbClr val="17356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22D3EE"/>
                          </a:solidFill>
                          <a:latin typeface="Consolas"/>
                        </a:defRPr>
                      </a:pPr>
                      <a:r>
                        <a:t>HYDROLOGICAL STATE</a:t>
                      </a:r>
                    </a:p>
                  </a:txBody>
                  <a:tcPr>
                    <a:solidFill>
                      <a:srgbClr val="173564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0FDFA"/>
                          </a:solidFill>
                          <a:latin typeface="Calibri"/>
                        </a:defRPr>
                      </a:pPr>
                      <a:r>
                        <a:t>2019</a:t>
                      </a:r>
                    </a:p>
                  </a:txBody>
                  <a:tcPr>
                    <a:solidFill>
                      <a:srgbClr val="0C1E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4.12 km²</a:t>
                      </a:r>
                    </a:p>
                  </a:txBody>
                  <a:tcPr>
                    <a:solidFill>
                      <a:srgbClr val="0C1E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>
                    <a:solidFill>
                      <a:srgbClr val="0C1E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Baseline Post-Drought Recovery</a:t>
                      </a:r>
                    </a:p>
                  </a:txBody>
                  <a:tcPr>
                    <a:solidFill>
                      <a:srgbClr val="0C1E3D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0FDFA"/>
                          </a:solidFill>
                          <a:latin typeface="Calibri"/>
                        </a:defRPr>
                      </a:pPr>
                      <a:r>
                        <a:t>2020</a:t>
                      </a:r>
                    </a:p>
                  </a:txBody>
                  <a:tcPr>
                    <a:solidFill>
                      <a:srgbClr val="0713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4.05 km²</a:t>
                      </a:r>
                    </a:p>
                  </a:txBody>
                  <a:tcPr>
                    <a:solidFill>
                      <a:srgbClr val="0713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2.1%</a:t>
                      </a:r>
                    </a:p>
                  </a:txBody>
                  <a:tcPr>
                    <a:solidFill>
                      <a:srgbClr val="0713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Stable Pre-Monsoon Capacity</a:t>
                      </a:r>
                    </a:p>
                  </a:txBody>
                  <a:tcPr>
                    <a:solidFill>
                      <a:srgbClr val="071326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0FDFA"/>
                          </a:solidFill>
                          <a:latin typeface="Calibri"/>
                        </a:defRPr>
                      </a:pPr>
                      <a:r>
                        <a:t>2021</a:t>
                      </a:r>
                    </a:p>
                  </a:txBody>
                  <a:tcPr>
                    <a:solidFill>
                      <a:srgbClr val="0C1E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4.38 km²</a:t>
                      </a:r>
                    </a:p>
                  </a:txBody>
                  <a:tcPr>
                    <a:solidFill>
                      <a:srgbClr val="0C1E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5.4%</a:t>
                      </a:r>
                    </a:p>
                  </a:txBody>
                  <a:tcPr>
                    <a:solidFill>
                      <a:srgbClr val="0C1E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Extreme Monsoon Inundation Peak</a:t>
                      </a:r>
                    </a:p>
                  </a:txBody>
                  <a:tcPr>
                    <a:solidFill>
                      <a:srgbClr val="0C1E3D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0FDFA"/>
                          </a:solidFill>
                          <a:latin typeface="Calibri"/>
                        </a:defRPr>
                      </a:pPr>
                      <a:r>
                        <a:t>2022</a:t>
                      </a:r>
                    </a:p>
                  </a:txBody>
                  <a:tcPr>
                    <a:solidFill>
                      <a:srgbClr val="0713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3.89 km²</a:t>
                      </a:r>
                    </a:p>
                  </a:txBody>
                  <a:tcPr>
                    <a:solidFill>
                      <a:srgbClr val="0713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1.8%</a:t>
                      </a:r>
                    </a:p>
                  </a:txBody>
                  <a:tcPr>
                    <a:solidFill>
                      <a:srgbClr val="0713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Construction Encroachment Phase</a:t>
                      </a:r>
                    </a:p>
                  </a:txBody>
                  <a:tcPr>
                    <a:solidFill>
                      <a:srgbClr val="071326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0FDFA"/>
                          </a:solidFill>
                          <a:latin typeface="Calibri"/>
                        </a:defRPr>
                      </a:pPr>
                      <a:r>
                        <a:t>2023</a:t>
                      </a:r>
                    </a:p>
                  </a:txBody>
                  <a:tcPr>
                    <a:solidFill>
                      <a:srgbClr val="0C1E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3.62 km²</a:t>
                      </a:r>
                    </a:p>
                  </a:txBody>
                  <a:tcPr>
                    <a:solidFill>
                      <a:srgbClr val="0C1E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0.9%</a:t>
                      </a:r>
                    </a:p>
                  </a:txBody>
                  <a:tcPr>
                    <a:solidFill>
                      <a:srgbClr val="0C1E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Summer Dry-Down &amp; Constriction</a:t>
                      </a:r>
                    </a:p>
                  </a:txBody>
                  <a:tcPr>
                    <a:solidFill>
                      <a:srgbClr val="0C1E3D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0FDFA"/>
                          </a:solidFill>
                          <a:latin typeface="Calibri"/>
                        </a:defRPr>
                      </a:pPr>
                      <a:r>
                        <a:t>2024</a:t>
                      </a:r>
                    </a:p>
                  </a:txBody>
                  <a:tcPr>
                    <a:solidFill>
                      <a:srgbClr val="0713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3.51 km²</a:t>
                      </a:r>
                    </a:p>
                  </a:txBody>
                  <a:tcPr>
                    <a:solidFill>
                      <a:srgbClr val="0713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3.2%</a:t>
                      </a:r>
                    </a:p>
                  </a:txBody>
                  <a:tcPr>
                    <a:solidFill>
                      <a:srgbClr val="0713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Fragmented Southern Retention</a:t>
                      </a:r>
                    </a:p>
                  </a:txBody>
                  <a:tcPr>
                    <a:solidFill>
                      <a:srgbClr val="071326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0FDFA"/>
                          </a:solidFill>
                          <a:latin typeface="Calibri"/>
                        </a:defRPr>
                      </a:pPr>
                      <a:r>
                        <a:t>2025</a:t>
                      </a:r>
                    </a:p>
                  </a:txBody>
                  <a:tcPr>
                    <a:solidFill>
                      <a:srgbClr val="0C1E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3.48 km²</a:t>
                      </a:r>
                    </a:p>
                  </a:txBody>
                  <a:tcPr>
                    <a:solidFill>
                      <a:srgbClr val="0C1E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4.2%</a:t>
                      </a:r>
                    </a:p>
                  </a:txBody>
                  <a:tcPr>
                    <a:solidFill>
                      <a:srgbClr val="0C1E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Current Verified Target (-15.53%)</a:t>
                      </a:r>
                    </a:p>
                  </a:txBody>
                  <a:tcPr>
                    <a:solidFill>
                      <a:srgbClr val="0C1E3D"/>
                    </a:solidFill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731520" y="6473952"/>
            <a:ext cx="106984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750">
                <a:solidFill>
                  <a:srgbClr val="738CAD"/>
                </a:solidFill>
                <a:latin typeface="Consolas"/>
              </a:defRPr>
            </a:pPr>
            <a:r>
              <a:t>AQUASENSE OBSERVATORY • SENTINEL-2 L2A STAC • NDWI (B03-B08)/(B03+B08) • 10m/px • GEMINI 3.7 FLASH • 0x8a92f02c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7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645920" cy="381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75488"/>
            <a:ext cx="2011680" cy="256032"/>
          </a:xfrm>
          <a:prstGeom prst="roundRect">
            <a:avLst/>
          </a:prstGeom>
          <a:solidFill>
            <a:srgbClr val="0C1E3D"/>
          </a:solidFill>
          <a:ln w="9525">
            <a:solidFill>
              <a:srgbClr val="1D3D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18288" bIns="18288"/>
          <a:lstStyle/>
          <a:p>
            <a:pPr algn="ctr">
              <a:defRPr sz="850" b="1">
                <a:solidFill>
                  <a:srgbClr val="FBBF24"/>
                </a:solidFill>
                <a:latin typeface="Consolas"/>
              </a:defRPr>
            </a:pPr>
            <a:r>
              <a:t>ORBIT 11 // STRATEGIC IMPACT &amp;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0FDFA"/>
                </a:solidFill>
                <a:latin typeface="Trebuchet MS"/>
              </a:defRPr>
            </a:pPr>
            <a:r>
              <a:t>Global Stakeholder Applications &amp; Strategic Scaling Roadmap</a:t>
            </a:r>
          </a:p>
          <a:p>
            <a:pPr>
              <a:spcBef>
                <a:spcPts val="200"/>
              </a:spcBef>
              <a:defRPr sz="1150">
                <a:solidFill>
                  <a:srgbClr val="738CAD"/>
                </a:solidFill>
                <a:latin typeface="Calibri"/>
              </a:defRPr>
            </a:pPr>
            <a:r>
              <a:t>Transforming satellite observation into verifiable conservation policy, smart city resilience, and planetary hydro-intelligence.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00200"/>
            <a:ext cx="5212080" cy="4572000"/>
          </a:xfrm>
          <a:prstGeom prst="rect">
            <a:avLst/>
          </a:prstGeom>
          <a:solidFill>
            <a:srgbClr val="0C1E3D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46504"/>
            <a:ext cx="484632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22D3EE"/>
                </a:solidFill>
                <a:latin typeface="Consolas"/>
              </a:defRPr>
            </a:pPr>
            <a:r>
              <a:t>GLOBAL APPLICATION DOMAINS</a:t>
            </a:r>
          </a:p>
          <a:p>
            <a:pPr>
              <a:defRPr sz="1200" b="1">
                <a:solidFill>
                  <a:srgbClr val="F0FDFA"/>
                </a:solidFill>
                <a:latin typeface="Trebuchet MS"/>
              </a:defRPr>
            </a:pPr>
            <a:r>
              <a:t>Target Stakeholders &amp; Real-World Impact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2240280"/>
            <a:ext cx="2331720" cy="1783080"/>
          </a:xfrm>
          <a:prstGeom prst="rect">
            <a:avLst/>
          </a:prstGeom>
          <a:solidFill>
            <a:srgbClr val="071326"/>
          </a:solidFill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331720"/>
            <a:ext cx="2148840" cy="1600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22D3EE"/>
                </a:solidFill>
                <a:latin typeface="Trebuchet MS"/>
              </a:defRPr>
            </a:pPr>
            <a:r>
              <a:t>🏛️ GOVERNANCE &amp; POLICY</a:t>
            </a:r>
          </a:p>
          <a:p>
            <a:pPr>
              <a:spcAft>
                <a:spcPts val="300"/>
              </a:spcAft>
              <a:defRPr sz="700" b="1">
                <a:solidFill>
                  <a:srgbClr val="738CAD"/>
                </a:solidFill>
                <a:latin typeface="Consolas"/>
              </a:defRPr>
            </a:pPr>
            <a:r>
              <a:t>WETLAND AUTHORITIES</a:t>
            </a:r>
          </a:p>
          <a:p>
            <a:pPr>
              <a:spcAft>
                <a:spcPts val="200"/>
              </a:spcAft>
              <a:defRPr sz="800">
                <a:solidFill>
                  <a:srgbClr val="CADAEE"/>
                </a:solidFill>
              </a:defRPr>
            </a:pPr>
            <a:r>
              <a:t>• Ramsar &amp; Biodiversity compliance reporting.</a:t>
            </a:r>
          </a:p>
          <a:p>
            <a:pPr>
              <a:spcAft>
                <a:spcPts val="200"/>
              </a:spcAft>
              <a:defRPr sz="800">
                <a:solidFill>
                  <a:srgbClr val="CADAEE"/>
                </a:solidFill>
              </a:defRPr>
            </a:pPr>
            <a:r>
              <a:t>• Automated alerts on illegal landfilling.</a:t>
            </a:r>
          </a:p>
          <a:p>
            <a:pPr>
              <a:spcAft>
                <a:spcPts val="200"/>
              </a:spcAft>
              <a:defRPr sz="800">
                <a:solidFill>
                  <a:srgbClr val="CADAEE"/>
                </a:solidFill>
              </a:defRPr>
            </a:pPr>
            <a:r>
              <a:t>• Court-admissible proof (hash: 0x8a92f02c).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3280" y="2240280"/>
            <a:ext cx="2331720" cy="1783080"/>
          </a:xfrm>
          <a:prstGeom prst="rect">
            <a:avLst/>
          </a:prstGeom>
          <a:solidFill>
            <a:srgbClr val="071326"/>
          </a:solidFill>
          <a:ln w="12700">
            <a:solidFill>
              <a:srgbClr val="06D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0" y="2331720"/>
            <a:ext cx="2148840" cy="1600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06D6A0"/>
                </a:solidFill>
                <a:latin typeface="Trebuchet MS"/>
              </a:defRPr>
            </a:pPr>
            <a:r>
              <a:t>🌱 CONSERVATION NGOS</a:t>
            </a:r>
          </a:p>
          <a:p>
            <a:pPr>
              <a:spcAft>
                <a:spcPts val="300"/>
              </a:spcAft>
              <a:defRPr sz="700" b="1">
                <a:solidFill>
                  <a:srgbClr val="738CAD"/>
                </a:solidFill>
                <a:latin typeface="Consolas"/>
              </a:defRPr>
            </a:pPr>
            <a:r>
              <a:t>ECOLOGISTS &amp; ADVOCACY</a:t>
            </a:r>
          </a:p>
          <a:p>
            <a:pPr>
              <a:spcAft>
                <a:spcPts val="200"/>
              </a:spcAft>
              <a:defRPr sz="800">
                <a:solidFill>
                  <a:srgbClr val="CADAEE"/>
                </a:solidFill>
              </a:defRPr>
            </a:pPr>
            <a:r>
              <a:t>• Continuous remote monitoring of basins.</a:t>
            </a:r>
          </a:p>
          <a:p>
            <a:pPr>
              <a:spcAft>
                <a:spcPts val="200"/>
              </a:spcAft>
              <a:defRPr sz="800">
                <a:solidFill>
                  <a:srgbClr val="CADAEE"/>
                </a:solidFill>
              </a:defRPr>
            </a:pPr>
            <a:r>
              <a:t>• Field photo ground-truthing portal.</a:t>
            </a:r>
          </a:p>
          <a:p>
            <a:pPr>
              <a:spcAft>
                <a:spcPts val="200"/>
              </a:spcAft>
              <a:defRPr sz="800">
                <a:solidFill>
                  <a:srgbClr val="CADAEE"/>
                </a:solidFill>
              </a:defRPr>
            </a:pPr>
            <a:r>
              <a:t>• Multi-year trend data for climate grants.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4114800"/>
            <a:ext cx="2331720" cy="1783080"/>
          </a:xfrm>
          <a:prstGeom prst="rect">
            <a:avLst/>
          </a:prstGeom>
          <a:solidFill>
            <a:srgbClr val="071326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206240"/>
            <a:ext cx="2148840" cy="1600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FBBF24"/>
                </a:solidFill>
                <a:latin typeface="Trebuchet MS"/>
              </a:defRPr>
            </a:pPr>
            <a:r>
              <a:t>🏙️ SMART CITIES &amp; PLANNERS</a:t>
            </a:r>
          </a:p>
          <a:p>
            <a:pPr>
              <a:spcAft>
                <a:spcPts val="300"/>
              </a:spcAft>
              <a:defRPr sz="700" b="1">
                <a:solidFill>
                  <a:srgbClr val="738CAD"/>
                </a:solidFill>
                <a:latin typeface="Consolas"/>
              </a:defRPr>
            </a:pPr>
            <a:r>
              <a:t>FLOOD ATTENUATION</a:t>
            </a:r>
          </a:p>
          <a:p>
            <a:pPr>
              <a:spcAft>
                <a:spcPts val="200"/>
              </a:spcAft>
              <a:defRPr sz="800">
                <a:solidFill>
                  <a:srgbClr val="CADAEE"/>
                </a:solidFill>
              </a:defRPr>
            </a:pPr>
            <a:r>
              <a:t>• Pre-monsoon water holding capacity checks.</a:t>
            </a:r>
          </a:p>
          <a:p>
            <a:pPr>
              <a:spcAft>
                <a:spcPts val="200"/>
              </a:spcAft>
              <a:defRPr sz="800">
                <a:solidFill>
                  <a:srgbClr val="CADAEE"/>
                </a:solidFill>
              </a:defRPr>
            </a:pPr>
            <a:r>
              <a:t>• Critical urban flood buffer preservation.</a:t>
            </a:r>
          </a:p>
          <a:p>
            <a:pPr>
              <a:spcAft>
                <a:spcPts val="200"/>
              </a:spcAft>
              <a:defRPr sz="800">
                <a:solidFill>
                  <a:srgbClr val="CADAEE"/>
                </a:solidFill>
              </a:defRPr>
            </a:pPr>
            <a:r>
              <a:t>• City emergency dashboard integration.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3280" y="4114800"/>
            <a:ext cx="2331720" cy="1783080"/>
          </a:xfrm>
          <a:prstGeom prst="rect">
            <a:avLst/>
          </a:prstGeom>
          <a:solidFill>
            <a:srgbClr val="071326"/>
          </a:solidFill>
          <a:ln w="127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0" y="4206240"/>
            <a:ext cx="2148840" cy="1600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F43F5E"/>
                </a:solidFill>
                <a:latin typeface="Trebuchet MS"/>
              </a:defRPr>
            </a:pPr>
            <a:r>
              <a:t>💼 ESG &amp; BLUE CARBON</a:t>
            </a:r>
          </a:p>
          <a:p>
            <a:pPr>
              <a:spcAft>
                <a:spcPts val="300"/>
              </a:spcAft>
              <a:defRPr sz="700" b="1">
                <a:solidFill>
                  <a:srgbClr val="738CAD"/>
                </a:solidFill>
                <a:latin typeface="Consolas"/>
              </a:defRPr>
            </a:pPr>
            <a:r>
              <a:t>SUSTAINABILITY AUDIT</a:t>
            </a:r>
          </a:p>
          <a:p>
            <a:pPr>
              <a:spcAft>
                <a:spcPts val="200"/>
              </a:spcAft>
              <a:defRPr sz="800">
                <a:solidFill>
                  <a:srgbClr val="CADAEE"/>
                </a:solidFill>
              </a:defRPr>
            </a:pPr>
            <a:r>
              <a:t>• Independent satellite MRV verification.</a:t>
            </a:r>
          </a:p>
          <a:p>
            <a:pPr>
              <a:spcAft>
                <a:spcPts val="200"/>
              </a:spcAft>
              <a:defRPr sz="800">
                <a:solidFill>
                  <a:srgbClr val="CADAEE"/>
                </a:solidFill>
              </a:defRPr>
            </a:pPr>
            <a:r>
              <a:t>• Auditable wetland carbon credit validation.</a:t>
            </a:r>
          </a:p>
          <a:p>
            <a:pPr>
              <a:spcAft>
                <a:spcPts val="200"/>
              </a:spcAft>
              <a:defRPr sz="800">
                <a:solidFill>
                  <a:srgbClr val="CADAEE"/>
                </a:solidFill>
              </a:defRPr>
            </a:pPr>
            <a:r>
              <a:t>• Corporate water stewardship reporting.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600200"/>
            <a:ext cx="5212080" cy="4572000"/>
          </a:xfrm>
          <a:prstGeom prst="rect">
            <a:avLst/>
          </a:prstGeom>
          <a:solidFill>
            <a:srgbClr val="0C1E3D"/>
          </a:solidFill>
          <a:ln w="12700">
            <a:solidFill>
              <a:srgbClr val="06D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1746504"/>
            <a:ext cx="484632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22D3EE"/>
                </a:solidFill>
                <a:latin typeface="Consolas"/>
              </a:defRPr>
            </a:pPr>
            <a:r>
              <a:t>PLANETARY DEPLOYMENT PHASES</a:t>
            </a:r>
          </a:p>
          <a:p>
            <a:pPr>
              <a:defRPr sz="1200" b="1">
                <a:solidFill>
                  <a:srgbClr val="F0FDFA"/>
                </a:solidFill>
                <a:latin typeface="Trebuchet MS"/>
              </a:defRPr>
            </a:pPr>
            <a:r>
              <a:t>Strategic Scaling Roadmap &amp; Milestones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0" y="2240280"/>
            <a:ext cx="4846320" cy="841248"/>
          </a:xfrm>
          <a:prstGeom prst="rect">
            <a:avLst/>
          </a:prstGeom>
          <a:solidFill>
            <a:srgbClr val="071326"/>
          </a:solidFill>
          <a:ln w="12700">
            <a:solidFill>
              <a:srgbClr val="06D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60" y="2313432"/>
            <a:ext cx="4572000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06D6A0"/>
                </a:solidFill>
                <a:latin typeface="Consolas"/>
              </a:defRPr>
            </a:pPr>
            <a:r>
              <a:t>PHASE 1: CURRENT PRODUCTION  //  BENCHMARK DEPLOYMENT</a:t>
            </a:r>
          </a:p>
          <a:p>
            <a:pPr>
              <a:spcBef>
                <a:spcPts val="200"/>
              </a:spcBef>
              <a:defRPr sz="800">
                <a:solidFill>
                  <a:srgbClr val="CADAEE"/>
                </a:solidFill>
              </a:defRPr>
            </a:pPr>
            <a:r>
              <a:t>✔ STAC pipeline, sub-second NDWI canvas kernel, Gemini 4-mode AI, JSON audit provenance, and Pallikaranai audit.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3172968"/>
            <a:ext cx="4846320" cy="841248"/>
          </a:xfrm>
          <a:prstGeom prst="rect">
            <a:avLst/>
          </a:prstGeom>
          <a:solidFill>
            <a:srgbClr val="071326"/>
          </a:solidFill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3246120"/>
            <a:ext cx="4572000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22D3EE"/>
                </a:solidFill>
                <a:latin typeface="Consolas"/>
              </a:defRPr>
            </a:pPr>
            <a:r>
              <a:t>PHASE 2: Q4 2025  //  MULTI-SENSOR RADAR FUSION</a:t>
            </a:r>
          </a:p>
          <a:p>
            <a:pPr>
              <a:spcBef>
                <a:spcPts val="200"/>
              </a:spcBef>
              <a:defRPr sz="800">
                <a:solidFill>
                  <a:srgbClr val="CADAEE"/>
                </a:solidFill>
              </a:defRPr>
            </a:pPr>
            <a:r>
              <a:t>• Sentinel-1 SAR C-band radar (all-weather penetrating), MNDWI/AWEI indices, STAC webhook alerts, GeoJSON vector export.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4105656"/>
            <a:ext cx="4846320" cy="841248"/>
          </a:xfrm>
          <a:prstGeom prst="rect">
            <a:avLst/>
          </a:prstGeom>
          <a:solidFill>
            <a:srgbClr val="071326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60" y="4178808"/>
            <a:ext cx="4572000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FBBF24"/>
                </a:solidFill>
                <a:latin typeface="Consolas"/>
              </a:defRPr>
            </a:pPr>
            <a:r>
              <a:t>PHASE 3: Q1 2026  //  ACTIVE LEARNING ML</a:t>
            </a:r>
          </a:p>
          <a:p>
            <a:pPr>
              <a:spcBef>
                <a:spcPts val="200"/>
              </a:spcBef>
              <a:defRPr sz="800">
                <a:solidFill>
                  <a:srgbClr val="CADAEE"/>
                </a:solidFill>
              </a:defRPr>
            </a:pPr>
            <a:r>
              <a:t>• Few-shot patch labeling UI, Prithvi-100M fine-tuning adapter, citizen science mobile photo portal, thermal water tracking.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0" y="5038344"/>
            <a:ext cx="4846320" cy="841248"/>
          </a:xfrm>
          <a:prstGeom prst="rect">
            <a:avLst/>
          </a:prstGeom>
          <a:solidFill>
            <a:srgbClr val="071326"/>
          </a:solidFill>
          <a:ln w="127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5111496"/>
            <a:ext cx="4572000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F43F5E"/>
                </a:solidFill>
                <a:latin typeface="Consolas"/>
              </a:defRPr>
            </a:pPr>
            <a:r>
              <a:t>PHASE 4: 2027 VISION  //  PLANETARY HYDRO-NETWORK</a:t>
            </a:r>
          </a:p>
          <a:p>
            <a:pPr>
              <a:spcBef>
                <a:spcPts val="200"/>
              </a:spcBef>
              <a:defRPr sz="800">
                <a:solidFill>
                  <a:srgbClr val="CADAEE"/>
                </a:solidFill>
              </a:defRPr>
            </a:pPr>
            <a:r>
              <a:t>• Pan-India &amp; Global Wetland Atlas, real-time flood surge forecasting, open public API for NGOs, automated Blue Carbon registry.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6473952"/>
            <a:ext cx="106984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750">
                <a:solidFill>
                  <a:srgbClr val="738CAD"/>
                </a:solidFill>
                <a:latin typeface="Consolas"/>
              </a:defRPr>
            </a:pPr>
            <a:r>
              <a:t>AQUASENSE OBSERVATORY • SENTINEL-2 L2A STAC • NDWI (B03-B08)/(B03+B08) • 10m/px • GEMINI 3.7 FLASH • 0x8a92f02c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