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2926080" cy="256032"/>
          </a:xfrm>
          <a:prstGeom prst="roundRect">
            <a:avLst/>
          </a:prstGeom>
          <a:solidFill>
            <a:srgbClr val="071326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00" b="1">
                <a:solidFill>
                  <a:srgbClr val="22D3EE"/>
                </a:solidFill>
                <a:latin typeface="Consolas"/>
              </a:defRPr>
            </a:pPr>
            <a:r>
              <a:t>ORBITAL NODE: ESA SENTINEL-2 // STAC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6459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669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200" b="1">
                <a:solidFill>
                  <a:srgbClr val="F0FDFA"/>
                </a:solidFill>
                <a:latin typeface="Trebuchet MS"/>
              </a:defRPr>
            </a:pPr>
            <a:r>
              <a:t>AquaSense</a:t>
            </a:r>
          </a:p>
          <a:p>
            <a:pPr>
              <a:spcBef>
                <a:spcPts val="400"/>
              </a:spcBef>
              <a:defRPr sz="1600" b="1">
                <a:solidFill>
                  <a:srgbClr val="22D3EE"/>
                </a:solidFill>
                <a:latin typeface="Calibri"/>
              </a:defRPr>
            </a:pPr>
            <a:r>
              <a:t>Autonomous Earth Observation &amp; AI Wetland Hydro-Observatory</a:t>
            </a:r>
          </a:p>
          <a:p>
            <a:pPr>
              <a:spcBef>
                <a:spcPts val="800"/>
              </a:spcBef>
              <a:defRPr sz="1150">
                <a:solidFill>
                  <a:srgbClr val="CADAEE"/>
                </a:solidFill>
                <a:latin typeface="Calibri"/>
              </a:defRPr>
            </a:pPr>
            <a:r>
              <a:t>Continuous multispectral satellite ingestion, real-time NDWI temporal quantification, and multimodal ecological reasoning powered by Google Gemini 3.7 &amp; Microsoft Planetary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00" b="1">
                <a:solidFill>
                  <a:srgbClr val="22D3EE"/>
                </a:solidFill>
                <a:latin typeface="Consolas"/>
              </a:defRPr>
            </a:pPr>
            <a:r>
              <a:t>🛰️ STAC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00" b="1">
                <a:solidFill>
                  <a:srgbClr val="06D6A0"/>
                </a:solidFill>
                <a:latin typeface="Consolas"/>
              </a:defRPr>
            </a:pPr>
            <a:r>
              <a:t>💧 NDWI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00" b="1">
                <a:solidFill>
                  <a:srgbClr val="FBBF24"/>
                </a:solidFill>
                <a:latin typeface="Consolas"/>
              </a:defRPr>
            </a:pPr>
            <a:r>
              <a:t>🧠 Gemini 3.7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3383280"/>
            <a:ext cx="1353312" cy="292608"/>
          </a:xfrm>
          <a:prstGeom prst="roundRect">
            <a:avLst/>
          </a:prstGeom>
          <a:solidFill>
            <a:srgbClr val="173564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00" b="1">
                <a:solidFill>
                  <a:srgbClr val="CADAEE"/>
                </a:solidFill>
                <a:latin typeface="Consolas"/>
              </a:defRPr>
            </a:pPr>
            <a:r>
              <a:t>🔬 Few-Shot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5486400" cy="2286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LONGITUDINAL HYDROLOGICAL TELEMETRY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Active Pilot: Pallikaranai Ramsar Basin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1206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Coordinates: [80.20°E, 12.91°N] to [80.23°E, 12.95°N] • Chennai, India</a:t>
            </a:r>
          </a:p>
          <a:p>
            <a:pPr>
              <a:spcAft>
                <a:spcPts val="2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Observation Epochs: Baseline 2019 (T0) → Target 2025 (T1) Multi-Year Audit</a:t>
            </a:r>
          </a:p>
          <a:p>
            <a:pPr>
              <a:spcAft>
                <a:spcPts val="2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Spectral Bands: Sentinel-2 L2A BOA (B03 Green 560nm, B08 NIR 842nm)</a:t>
            </a:r>
          </a:p>
          <a:p>
            <a:pPr>
              <a:spcAft>
                <a:spcPts val="2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Resolution &amp; Area Metric: 10m Ground Grid = 0.0001 km² / pixel</a:t>
            </a:r>
          </a:p>
          <a:p>
            <a:pPr>
              <a:spcAft>
                <a:spcPts val="2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Gemini Grounding: Real-time Search + Maps + Multimodal Drone Vision</a:t>
            </a:r>
          </a:p>
        </p:txBody>
      </p:sp>
      <p:pic>
        <p:nvPicPr>
          <p:cNvPr id="12" name="Picture 11" descr="satellite_earth_orb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4937760" cy="3657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92240" y="731520"/>
            <a:ext cx="4937760" cy="365760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01968" y="841248"/>
            <a:ext cx="2354579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SENTINEL-2 L2A ORBITAL STREAM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572000"/>
            <a:ext cx="4937760" cy="164592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718304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REAL-TIME TELEMETRY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Planetary Computer Ingestion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12064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✔ STAC Endpoint: planetarycomputer.microsoft.com/api/stac/v1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✔ Cloud Filter: Dynamic sorting by eo:cloud_cover (&lt;20%)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✔ Resilient Scene Resolver: Auto-fallback across top 5 candidate scenes</a:t>
            </a:r>
          </a:p>
          <a:p>
            <a:pPr>
              <a:spcAft>
                <a:spcPts val="200"/>
              </a:spcAft>
              <a:defRPr sz="900">
                <a:solidFill>
                  <a:srgbClr val="CADAEE"/>
                </a:solidFill>
                <a:latin typeface="Calibri"/>
              </a:defRPr>
            </a:pPr>
            <a:r>
              <a:t>✔ Provenance Hash: 0x8a92f02c • Output: Immutable JSON Audit Bundle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02 // CRISIS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The Global Wetland Crisis &amp; Monitoring Blindspots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Freshwater ecosystems are vanishing 3x faster than terrestrial forests, leaving catastrophic flood and drought vulnerabilities.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114800" cy="448056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GLOBAL HYDROLOGICAL ANOMALY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Ecosystem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6576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000" b="1">
                <a:solidFill>
                  <a:srgbClr val="F43F5E"/>
                </a:solidFill>
                <a:latin typeface="Trebuchet MS"/>
              </a:defRPr>
            </a:pPr>
            <a:r>
              <a:t>-35%</a:t>
            </a:r>
          </a:p>
          <a:p>
            <a:pPr>
              <a:spcAft>
                <a:spcPts val="1200"/>
              </a:spcAft>
              <a:defRPr sz="1000" b="1">
                <a:solidFill>
                  <a:srgbClr val="F0FDFA"/>
                </a:solidFill>
                <a:latin typeface="Consolas"/>
              </a:defRPr>
            </a:pPr>
            <a:r>
              <a:t>GLOBAL WETLANDS LOST SINCE 1970</a:t>
            </a:r>
          </a:p>
          <a:p>
            <a:pPr>
              <a:spcAft>
                <a:spcPts val="600"/>
              </a:spcAft>
              <a:defRPr sz="1000">
                <a:solidFill>
                  <a:srgbClr val="CADAEE"/>
                </a:solidFill>
              </a:defRPr>
            </a:pPr>
            <a:r>
              <a:t>• Ramsar Convention Data: Over 35% of natural freshwater marshlands and coastal wetlands destroyed in 50 years.</a:t>
            </a:r>
          </a:p>
          <a:p>
            <a:pPr>
              <a:spcAft>
                <a:spcPts val="600"/>
              </a:spcAft>
              <a:defRPr sz="1000">
                <a:solidFill>
                  <a:srgbClr val="CADAEE"/>
                </a:solidFill>
              </a:defRPr>
            </a:pPr>
            <a:r>
              <a:t>• Urban Encroachment: Rapid metropolitan expansion converts natural drainage basins into impermeable concrete surfaces.</a:t>
            </a:r>
          </a:p>
          <a:p>
            <a:pPr>
              <a:spcAft>
                <a:spcPts val="600"/>
              </a:spcAft>
              <a:defRPr sz="1000">
                <a:solidFill>
                  <a:srgbClr val="CADAEE"/>
                </a:solidFill>
              </a:defRPr>
            </a:pPr>
            <a:r>
              <a:t>• Climate Amplification: Unregulated infilling magnifies monsoon flash-flood destruction and summer groundwater collapse.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645920"/>
            <a:ext cx="6309360" cy="2103120"/>
          </a:xfrm>
          <a:prstGeom prst="rect">
            <a:avLst/>
          </a:prstGeom>
          <a:solidFill>
            <a:srgbClr val="0C1E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792224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DATA INSUFFICIENCY GAP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MONITORING LATENCY &amp; BLINDSPOTS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74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Manual Field Surveys: Expensive ($15k+ per basin), slow, and restricted to sparse discrete GPS points.</a:t>
            </a:r>
          </a:p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Static Decadal GIS: Municipalities rely on 5 to 10-year-old cartographic maps that miss illegal weekly encroachment.</a:t>
            </a:r>
          </a:p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Satellite Archive Inaccessibility: Terabytes of raw ESA Sentinel-2 STAC data remain trapped in complex GIS servers.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931920"/>
            <a:ext cx="6309360" cy="210312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4078224"/>
            <a:ext cx="5943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ACCOUNTABILITY GAP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UNVERIFIED RESTORATION INVESTMENTS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6634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Public Funding Waste: Governments allocate millions to wetland restoration without objective post-monsoon tracking.</a:t>
            </a:r>
          </a:p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Absence of Early Warnings: Wetland shrinkage is typically detected only after catastrophic flooding occurs.</a:t>
            </a:r>
          </a:p>
          <a:p>
            <a:pPr>
              <a:spcAft>
                <a:spcPts val="400"/>
              </a:spcAft>
              <a:defRPr sz="1000">
                <a:solidFill>
                  <a:srgbClr val="CADAEE"/>
                </a:solidFill>
                <a:latin typeface="Calibri"/>
              </a:defRPr>
            </a:pPr>
            <a:r>
              <a:t>• Disconnected AI Reasoning: Traditional remote sensing lacks automated ecological interpretation for city planners.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03 //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The AquaSense Solution: Autonomous Hydro-Observatory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A full-stack planetary observatory turning multi-spectral satellite streams into real-time verified ecological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480560"/>
          </a:xfrm>
          <a:prstGeom prst="rect">
            <a:avLst/>
          </a:prstGeom>
          <a:solidFill>
            <a:srgbClr val="0C1E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CORE EARTH OBSERVATION ENGINE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Autonomous Planetary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🛰️ Direct Planetary Computer STAC Integration: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Live query of Copernicus Sentinel-2 Level-2A surface reflectance data.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Dynamic cloud filtering (&lt;20%) with resilient fallback across candidate scenes.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💧 Zero-Latency Client-Side NDWI Processing: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Continuous evaluation of McFeeters band math: (B03-B08)/(B03+B08).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Instant sub-pixel canvas recounting across custom threshold ranges (-0.30 to +0.70).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🎨 7 Scientific Look-Up Table (LUT) Colormaps: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Viridis, Inferno, Turbo, Cividis, Mako, Blues, and Chlorophyll palettes.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Real-time gradient needle scale indicating active water cutoff.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📈 Multi-Year Longitudinal Trendlines:</a:t>
            </a:r>
          </a:p>
          <a:p>
            <a:pPr>
              <a:spcAft>
                <a:spcPts val="300"/>
              </a:spcAft>
              <a:defRPr sz="1050">
                <a:solidFill>
                  <a:srgbClr val="CADAEE"/>
                </a:solidFill>
                <a:latin typeface="Calibri"/>
              </a:defRPr>
            </a:pPr>
            <a:r>
              <a:t>   • Annual STAC scene sampling revealing decade-long wetland trajectories.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12064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92224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SPATIAL BITMASKING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TRIPARTITE CHANGE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ADAEE"/>
                </a:solidFill>
                <a:latin typeface="Calibri"/>
              </a:defRPr>
            </a:pPr>
            <a:r>
              <a:t>Isolates Water Gained (Inundation/Blue), Water Lost (Desiccation/Red), and Persistent Water on top of high-res satellite imagery.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182112"/>
            <a:ext cx="512064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328416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ECOLOGICAL REASONING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GEMINI 4-TIER AI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6791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ADAEE"/>
                </a:solidFill>
                <a:latin typeface="Calibri"/>
              </a:defRPr>
            </a:pPr>
            <a:r>
              <a:t>Combines Deep Reasoning (3.7 Flash), live Google Search grounding, Google Maps infrastructure analysis, and drone photo validation.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718304"/>
            <a:ext cx="512064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864608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CRYPTOGRAPHIC MRV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AUDIT-READY PROVENANCE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40410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CADAEE"/>
                </a:solidFill>
                <a:latin typeface="Calibri"/>
              </a:defRPr>
            </a:pPr>
            <a:r>
              <a:t>Generates immutable JSON audit logs containing system hashes, ESA scene IDs, pixel math, and bounding boxes for legal filings.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04 // EXECUTION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Live Earth Observation Pipeline &amp; Data Flow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How raw multispectral electromagnetic reflections transform into quantified surface water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01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STAC Ingestion &amp; Cloud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INPUT: GeoJSON BBOX + Years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Query Microsoft Planetary STAC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Filter Sentinel-2 L2A BOA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Sort by eo:cloud_cover &lt;20%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Auto-retry across 5 scenes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OUTPUT: ESA Scene Assets</a:t>
            </a:r>
          </a:p>
        </p:txBody>
      </p:sp>
      <p:pic>
        <p:nvPicPr>
          <p:cNvPr id="8" name="Picture 7" descr="node1_stac_satell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17720"/>
            <a:ext cx="2560320" cy="1691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617720"/>
            <a:ext cx="2560320" cy="1691640"/>
          </a:xfrm>
          <a:prstGeom prst="rect">
            <a:avLst/>
          </a:prstGeom>
          <a:noFill/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8" y="4727448"/>
            <a:ext cx="160020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STAC SATELLITE HUD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02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Spectral Band Mathematics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INPUT: B03 (560nm) &amp; B08 (842nm)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Compute NDWI expression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(B03-B08)/(B03+B08)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Rescale [-1, 1] → [0, 255] byte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256-color LUT pre-caching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OUTPUT: 8-Bit Grayscale Grid</a:t>
            </a:r>
          </a:p>
        </p:txBody>
      </p:sp>
      <p:pic>
        <p:nvPicPr>
          <p:cNvPr id="14" name="Picture 13" descr="node2_band_ma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617720"/>
            <a:ext cx="2560320" cy="1691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74720" y="4617720"/>
            <a:ext cx="2560320" cy="1691640"/>
          </a:xfrm>
          <a:prstGeom prst="rect">
            <a:avLst/>
          </a:prstGeom>
          <a:noFill/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84448" y="4727448"/>
            <a:ext cx="173736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SPECTRAL REFLECTANCE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03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Quantification &amp; Diff Mask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INPUT: Threshold Cutoff &gt; C_thresh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In-memory sub-pixel counting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Area = N_pixels × 0.0001 km²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Tri-state differencing bitmask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Annual STAC time-series audit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OUTPUT: km² Stats &amp; Diff Map</a:t>
            </a:r>
          </a:p>
        </p:txBody>
      </p:sp>
      <p:pic>
        <p:nvPicPr>
          <p:cNvPr id="20" name="Picture 19" descr="node3_diff_mas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617720"/>
            <a:ext cx="2560320" cy="16916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17920" y="4617720"/>
            <a:ext cx="2560320" cy="1691640"/>
          </a:xfrm>
          <a:prstGeom prst="rect">
            <a:avLst/>
          </a:prstGeom>
          <a:noFill/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27648" y="4727448"/>
            <a:ext cx="166878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TRI-STATE DIFF MASK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600200"/>
            <a:ext cx="2560320" cy="292608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1746504"/>
            <a:ext cx="2194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NODE 04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Gemini Multimodal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240280"/>
            <a:ext cx="2231136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INPUT: Spatial Area + Photos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Gemini 3.7: Deep synthesis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Google Search tool grounding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Google Maps landmark lookup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• Drone vision verification</a:t>
            </a:r>
          </a:p>
          <a:p>
            <a:pPr>
              <a:spcAft>
                <a:spcPts val="200"/>
              </a:spcAft>
              <a:defRPr sz="880">
                <a:solidFill>
                  <a:srgbClr val="CADAEE"/>
                </a:solidFill>
                <a:latin typeface="Calibri"/>
              </a:defRPr>
            </a:pPr>
            <a:r>
              <a:t>OUTPUT: Policy &amp; Audit JSON</a:t>
            </a:r>
          </a:p>
        </p:txBody>
      </p:sp>
      <p:pic>
        <p:nvPicPr>
          <p:cNvPr id="26" name="Picture 25" descr="node4_gemini_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617720"/>
            <a:ext cx="2560320" cy="16916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961120" y="4617720"/>
            <a:ext cx="2560320" cy="1691640"/>
          </a:xfrm>
          <a:prstGeom prst="rect">
            <a:avLst/>
          </a:prstGeom>
          <a:noFill/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70848" y="4727448"/>
            <a:ext cx="173736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GEMINI SYNTHESIS HUD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05 //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0561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rPr dirty="0"/>
              <a:t>End-to-End Software System Architecture &amp; Technical Approach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rPr dirty="0"/>
              <a:t>Comprehensive system blueprint connecting STAC ingestion, raster </a:t>
            </a:r>
            <a:r>
              <a:rPr dirty="0" err="1"/>
              <a:t>bitmasking</a:t>
            </a:r>
            <a:r>
              <a:rPr dirty="0"/>
              <a:t>, storage provenance, AI reasoning, and containerized DevOps.</a:t>
            </a:r>
          </a:p>
        </p:txBody>
      </p:sp>
      <p:pic>
        <p:nvPicPr>
          <p:cNvPr id="5" name="Picture 4" descr="technical_approach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709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63040"/>
            <a:ext cx="10698480" cy="47091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41120"/>
            <a:ext cx="3863339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rPr dirty="0"/>
              <a:t>SYSTEM ARCHITECTURE // COMPLETE TECHNICAL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06 // REMOTE SENSING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Sentinel-2 MSI Band Characteristics &amp; NDWI Heatmap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Electromagnetic wavelength properties and spatial area conversion mathematics.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85216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ELECTROMAGNETIC SPECTRUM &amp; BAND MATH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Sentinel-2 MSI Spectral Band Physics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BAND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WAVELENGTH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PHYSICAL ROLE IN AQUASENSE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B02 (Blue)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490 nm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True-Color RGB &amp; water clarity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B03 (Green)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560 nm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Primary NDWI numerator (high water reflection)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B04 (Red)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665 nm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Chlorophyll absorption &amp; vegetation boundary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B08 (NIR)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842 nm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10 m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Primary NDWI denominator (water absorbs, flora reflects)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B11 (SWIR-1)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1610 nm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20 m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Moisture stress &amp; Prithvi foundation encoder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846320"/>
            <a:ext cx="5486400" cy="1143000"/>
          </a:xfrm>
          <a:prstGeom prst="rect">
            <a:avLst/>
          </a:prstGeom>
          <a:solidFill>
            <a:srgbClr val="071326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892040"/>
            <a:ext cx="52120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Consolas"/>
              </a:defRPr>
            </a:pPr>
            <a:r>
              <a:t>NDWI FORMULA: (rho_Green - rho_NIR) / (rho_Green + rho_NIR) = (B03 - B08) / (B03 + B08)</a:t>
            </a:r>
          </a:p>
          <a:p>
            <a:pPr>
              <a:spcBef>
                <a:spcPts val="300"/>
              </a:spcBef>
              <a:defRPr sz="850">
                <a:solidFill>
                  <a:srgbClr val="CADAEE"/>
                </a:solidFill>
                <a:latin typeface="Consolas"/>
              </a:defRPr>
            </a:pPr>
            <a:r>
              <a:t>Spatial Scaling: 10m x 10m = 100 m² = 0.0001 km² / pixel | Cutoff: C = round(((T + 1) / 2) * 255)</a:t>
            </a:r>
          </a:p>
        </p:txBody>
      </p:sp>
      <p:pic>
        <p:nvPicPr>
          <p:cNvPr id="10" name="Picture 9" descr="wetland_ndwi_spect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383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645920"/>
            <a:ext cx="4572000" cy="338328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67728" y="1755648"/>
            <a:ext cx="2354579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TRUE-COLOR VS NDWI WATER MASK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5120640"/>
            <a:ext cx="4572000" cy="100584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526694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FALSE-COLOR NDWI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Visualizing Hydrological Inundation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55321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Left: Sentinel-2 True Color (TCI) RGB optical view.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Right: High-contrast NDWI water index (Cyan &gt; +0.20 water extent).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07 // PRODUCT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AquaSense Cartographic Observatory Layout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High-density scientific user interface delivering synchronized spatial, spectral, and temporal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926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LEFT: CONFIGURATION STAGE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Telemetry &amp; BBOX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560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Pipeline Status Telemetry: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[STAC Query ✓] [NDWI LUT ✓] [Diff ✓]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Interactive 8-Point BBOX Editor: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Draggable anchor handles for custom spatial bounds [minLon, minLat, maxLon, maxLat].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Dynamic Cloud Cover Slider: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Filters STAC scenes from &lt;1% to &lt;80%.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Epoch Selectors: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Baseline (2019) vs. Target (2025).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45920"/>
            <a:ext cx="4480560" cy="4480560"/>
          </a:xfrm>
          <a:prstGeom prst="rect">
            <a:avLst/>
          </a:prstGeom>
          <a:solidFill>
            <a:srgbClr val="132B5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792224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CENTER: SATELLITE VISUALIZATION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Observatory Canvas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77440"/>
            <a:ext cx="41148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Split-Screen Swipe Comparison: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Drag-handle divider comparing 2019 (T0) vs 2025 (T1) in True-Color RGB or False-Color NDWI.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Tri-State Hydrological Difference Mask: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🔵 Electric Blue: Water Extent Gained (Inundation)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🔴 Signal Red: Water Extent Lost (Desiccation)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🔷 Deep Navy: Persistent Water Body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7 Scientific LUT Palettes with Needle Bar: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Viridis, Inferno, Turbo, Cividis, Mako, Blues.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645920"/>
            <a:ext cx="2926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792224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RIGHT: METRICS &amp; REASONING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Quantification &amp; AI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377440"/>
            <a:ext cx="2560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Dynamic NDWI Threshold Slider: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Continuous range [-0.30, 0.70] with sub-second area recalculation.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Water Extent Metrics: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2019: 4.12 km² | 2025: 3.48 km²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Net Change: -0.64 km² (-15.53%)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Multi-Year Recharts Trendline: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Annual intermediate STAC samples.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Gemini 4-Mode Ecological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08 // MULTIMODAL AI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Google Gemini 4-Mode Ecological Intelligence Suite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Combining deep contextual reasoning, real-time web grounding, geographic spatial analysis, and drone 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GEMINI-3.7-FLASH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🧠 DEEP ECOLOGICAL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Formulates structured hydrological trajectory reports.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Isolates primary drivers (urban encroachment, rainfall deficits).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Assesses flood attenuation &amp; groundwater ecosystem services.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Generates prioritized ecological conservation interventions.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82112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28416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GEMINI-3.5-FLASH + GOOGLESEARCH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🔍 SEARCH-GROUNDED FACT CHECKING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Integrates live Google Search tool for current basin status.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Discovers recent municipal eco-restoration orders &amp; litigation.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Correlates satellite anomalies with extreme weather events.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Returns verifiable, clickable grounding citations.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18304"/>
            <a:ext cx="5852160" cy="1417320"/>
          </a:xfrm>
          <a:prstGeom prst="rect">
            <a:avLst/>
          </a:prstGeom>
          <a:solidFill>
            <a:srgbClr val="0C1E3D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864608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GEMINI-3.5-FLASH + GOOGLEMAPS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🗺️ MAPS-GROUNDED SPATIAL ZONING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04104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Google Maps spatial database integration.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Pinpoints surrounding industrial corridors and IT developments.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Maps protected bird sanctuaries and wildlife buffer zones.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Identifies primary storm-drain inlets and outflow bottlenecks.</a:t>
            </a:r>
          </a:p>
        </p:txBody>
      </p:sp>
      <p:pic>
        <p:nvPicPr>
          <p:cNvPr id="14" name="Picture 13" descr="multimodal_field_dr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1089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0" y="1645920"/>
            <a:ext cx="4572000" cy="3108960"/>
          </a:xfrm>
          <a:prstGeom prst="rect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67728" y="1755648"/>
            <a:ext cx="2217420" cy="219456"/>
          </a:xfrm>
          <a:prstGeom prst="roundRect">
            <a:avLst/>
          </a:prstGeom>
          <a:solidFill>
            <a:srgbClr val="030712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700" b="1">
                <a:solidFill>
                  <a:srgbClr val="22D3EE"/>
                </a:solidFill>
                <a:latin typeface="Consolas"/>
              </a:defRPr>
            </a:pPr>
            <a:r>
              <a:t>MULTIMODAL FIELD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846320"/>
            <a:ext cx="4572000" cy="1280160"/>
          </a:xfrm>
          <a:prstGeom prst="rect">
            <a:avLst/>
          </a:prstGeom>
          <a:solidFill>
            <a:srgbClr val="0C1E3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4992624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GEMINI 3.7 FLASH (MULTIMODAL VISION)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📸 Drone &amp; Ground-Truth Photo 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44068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Ingests field photos, drone captures, or handheld phone images.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Evaluates water turbidity, surface algae, and hyacinth mats.</a:t>
            </a:r>
          </a:p>
          <a:p>
            <a:pPr>
              <a:spcAft>
                <a:spcPts val="100"/>
              </a:spcAft>
              <a:defRPr sz="850">
                <a:solidFill>
                  <a:srgbClr val="CADAEE"/>
                </a:solidFill>
                <a:latin typeface="Calibri"/>
              </a:defRPr>
            </a:pPr>
            <a:r>
              <a:t>• Produces estimated Few-Shot class confidence breakdowns.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09 //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Earth Observation Foundation Models &amp; Few-Shot Learning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Overcoming spectral index limitations through dense latent representations and few-shot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PRE-TRAINED GEOSPATIAL FOUNDATION MODELS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IBM-NASA Prithvi-100M &amp; Clay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1. ARCHITECTURE &amp; SPECIFICATIONS: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Model Architecture: Temporal Vision Transformer (ViT-Base).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Input Tensor: 224 x 224 x 6 Multispectral Patch (B02, B03, B04, B08, B11, B12).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Pre-training Objective: Masked Autoencoder (MAE) across 100M+ global Sentinel scenes.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Latent Feature Representation: 768-dimensional dense embedding per patch.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2. COMPUTATIONAL &amp; MEMORY EFFICIENCY: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Adaptive VRAM Memory Sizing: Dynamically calculates batch size based on free GPU memory.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Batch Size Formula: max(1, min(64, floor((VRAM_free - 1GB) / 150MB))).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SCL Cloud Masking: Automatically masks Scene Classification Layer codes 8, 9, 10.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3. CLAY V1 FOUNDATION ENCODER: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Universal multi-sensor representation model for global multitemporal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48056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9222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RAPID ADAPTATION OVER FROZEN EMBEDDINGS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FewShotClassifier Mathematical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1. ONE-VS-REST (OvR) L2-REGULARIZED LOGISTIC REGRESSION: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Loss = -1/N sum [ w+ y log(sigma(z)) + w- (1-y) log(1-sigma(z)) ] + 1/(2C) ||w||²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Class Balancing: w+ = N / (2*N+), w- = N / (2*N-) to prevent class imbalance.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Multiclass Softmax Probability: P(y=c|x) = exp(w_c^T x + b_c) / sum exp(w_k^T x + b_k).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2. COSINE-WEIGHTED k-NEAREST NEIGHBORS (k-NN):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Distance = 1.0 - (x . r_j) / (||x|| * ||r_j||)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Voting Weights: w_j = 1.0 / (dist_j + 1e-5).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Effective k = min(n_neighbors, training_samples_count).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3. STATE SERIALIZATION &amp; EDGE PORTABILITY: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Complete model state exported to portable JSON (weights, biases, vectors).</a:t>
            </a:r>
          </a:p>
          <a:p>
            <a:pPr>
              <a:spcAft>
                <a:spcPts val="3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   • Allows zero-dependency edge inference in Node.js or browser without PyTorch.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10 // FIELD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Pallikaranai Ramsar Marshland (Chennai) Multi-Year Audit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Quantifying surface water shrinkage and urban encroachment across 2019-2025 satellite epochs.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4.12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2019 BASELINE WATER (T0)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Post-monsoon water surface extent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3.48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2025 TARGET WATER (T1)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Recent Sentinel-2 pass water extent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43F5E"/>
                </a:solidFill>
                <a:latin typeface="Trebuchet MS"/>
              </a:defRPr>
            </a:pPr>
            <a:r>
              <a:t>-0.64 km²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ABSOLUTE NET CHANGE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Permanent water surface lost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45920"/>
            <a:ext cx="2560320" cy="1097280"/>
          </a:xfrm>
          <a:prstGeom prst="rect">
            <a:avLst/>
          </a:prstGeom>
          <a:solidFill>
            <a:srgbClr val="0C1E3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Trebuchet MS"/>
              </a:defRPr>
            </a:pPr>
            <a:r>
              <a:t>-15.53%</a:t>
            </a:r>
          </a:p>
          <a:p>
            <a:pPr>
              <a:defRPr sz="800" b="1">
                <a:solidFill>
                  <a:srgbClr val="F0FDFA"/>
                </a:solidFill>
                <a:latin typeface="Consolas"/>
              </a:defRPr>
            </a:pPr>
            <a:r>
              <a:t>RELATIVE WETLAND LOSS</a:t>
            </a:r>
          </a:p>
          <a:p>
            <a:pPr>
              <a:defRPr sz="850">
                <a:solidFill>
                  <a:srgbClr val="738CAD"/>
                </a:solidFill>
              </a:defRPr>
            </a:pPr>
            <a:r>
              <a:t>Severe hydrological constriction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212080" cy="3200400"/>
          </a:xfrm>
          <a:prstGeom prst="rect">
            <a:avLst/>
          </a:prstGeom>
          <a:solidFill>
            <a:srgbClr val="0C1E3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SATELLITE GROUND-TRUTH CONFIRMATION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Spatial Findings &amp; ESA Scene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Northern Perimeter Shrinkage: The Diff Mask reveals intense signal red loss along the Velachery-Tambaram IT corridor expansion.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Southern Floodwater Retention: Blue expansion confirms active monsoon buffering in the southern wildlife sanctuary zone.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Verified ESA Scenes: Baseline S2A_MSIL2A_20190325 (0.0% cloud) vs. Target S2B_MSIL2A_20250218 (4.2% cloud).</a:t>
            </a:r>
          </a:p>
          <a:p>
            <a:pPr>
              <a:spcAft>
                <a:spcPts val="400"/>
              </a:spcAft>
              <a:defRPr sz="950">
                <a:solidFill>
                  <a:srgbClr val="CADAEE"/>
                </a:solidFill>
                <a:latin typeface="Calibri"/>
              </a:defRPr>
            </a:pPr>
            <a:r>
              <a:t>• Ground-Truth Corroboration: Gemini Search grounding retrieved Chennai Smart City Corporation wetland desilting filings verifying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212080" cy="320040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INTERMEDIATE ANNUAL STAC SAMPLING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Annual Longitudinal Time-Series Data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356616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WATER AREA (KM²)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CLOUD COVER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2D3EE"/>
                          </a:solidFill>
                          <a:latin typeface="Consolas"/>
                        </a:defRPr>
                      </a:pPr>
                      <a:r>
                        <a:t>HYDROLOGICAL STATE</a:t>
                      </a:r>
                    </a:p>
                  </a:txBody>
                  <a:tcPr>
                    <a:solidFill>
                      <a:srgbClr val="173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4.12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Baseline Post-Drought Recovery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4.05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Stable Pre-Monsoon Capacity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4.38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Extreme Monsoon Inundation Peak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3.89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Construction Encroachment Phase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3.62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Summer Dry-Down &amp; Constriction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3.51 km²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Fragmented Southern Retention</a:t>
                      </a:r>
                    </a:p>
                  </a:txBody>
                  <a:tcPr>
                    <a:solidFill>
                      <a:srgbClr val="071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0FDFA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3.48 km²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ADAEE"/>
                          </a:solidFill>
                          <a:latin typeface="Calibri"/>
                        </a:defRPr>
                      </a:pPr>
                      <a:r>
                        <a:t>Current Verified Target (-15.53%)</a:t>
                      </a:r>
                    </a:p>
                  </a:txBody>
                  <a:tcPr>
                    <a:solidFill>
                      <a:srgbClr val="0C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6459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75488"/>
            <a:ext cx="2011680" cy="256032"/>
          </a:xfrm>
          <a:prstGeom prst="roundRect">
            <a:avLst/>
          </a:prstGeom>
          <a:solidFill>
            <a:srgbClr val="0C1E3D"/>
          </a:solidFill>
          <a:ln w="9525">
            <a:solidFill>
              <a:srgbClr val="1D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18288" rIns="54864" bIns="18288" rtlCol="0" anchor="ctr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ORBIT 11 // STRATEGIC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0FDFA"/>
                </a:solidFill>
                <a:latin typeface="Trebuchet MS"/>
              </a:defRPr>
            </a:pPr>
            <a:r>
              <a:t>Global Stakeholder Applications &amp; Strategic Scaling Roadmap</a:t>
            </a:r>
          </a:p>
          <a:p>
            <a:pPr>
              <a:spcBef>
                <a:spcPts val="200"/>
              </a:spcBef>
              <a:defRPr sz="1150">
                <a:solidFill>
                  <a:srgbClr val="738CAD"/>
                </a:solidFill>
                <a:latin typeface="Calibri"/>
              </a:defRPr>
            </a:pPr>
            <a:r>
              <a:t>Transforming satellite observation into verifiable conservation policy, smart city resilience, and planetary hydro-intelligence.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212080" cy="4572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GLOBAL APPLICATION DOMAINS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Target Stakeholders &amp; Real-World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4028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Trebuchet MS"/>
              </a:defRPr>
            </a:pPr>
            <a:r>
              <a:t>🏛️ GOVERNANCE &amp; POLICY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WETLAND AUTHORITIES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Ramsar &amp; Biodiversity compliance reporting.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Automated alerts on illegal landfilling.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Court-admissible proof (hash: 0x8a92f02c).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4028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33172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6D6A0"/>
                </a:solidFill>
                <a:latin typeface="Trebuchet MS"/>
              </a:defRPr>
            </a:pPr>
            <a:r>
              <a:t>🌱 CONSERVATION NGOS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ECOLOGISTS &amp; ADVOCACY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Continuous remote monitoring of basins.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Field photo ground-truthing portal.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Multi-year trend data for climate grants.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Trebuchet MS"/>
              </a:defRPr>
            </a:pPr>
            <a:r>
              <a:t>🏙️ SMART CITIES &amp; PLANNERS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FLOOD ATTENUATION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Pre-monsoon water holding capacity checks.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Critical urban flood buffer preservation.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City emergency dashboard integration.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114800"/>
            <a:ext cx="2331720" cy="1783080"/>
          </a:xfrm>
          <a:prstGeom prst="rect">
            <a:avLst/>
          </a:prstGeom>
          <a:solidFill>
            <a:srgbClr val="0713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4206240"/>
            <a:ext cx="21488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Trebuchet MS"/>
              </a:defRPr>
            </a:pPr>
            <a:r>
              <a:t>💼 ESG &amp; BLUE CARBON</a:t>
            </a:r>
          </a:p>
          <a:p>
            <a:pPr>
              <a:spcAft>
                <a:spcPts val="300"/>
              </a:spcAft>
              <a:defRPr sz="700" b="1">
                <a:solidFill>
                  <a:srgbClr val="738CAD"/>
                </a:solidFill>
                <a:latin typeface="Consolas"/>
              </a:defRPr>
            </a:pPr>
            <a:r>
              <a:t>SUSTAINABILITY AUDIT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Independent satellite MRV verification.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Auditable wetland carbon credit validation.</a:t>
            </a:r>
          </a:p>
          <a:p>
            <a:pPr>
              <a:spcAft>
                <a:spcPts val="200"/>
              </a:spcAft>
              <a:defRPr sz="800">
                <a:solidFill>
                  <a:srgbClr val="CADAEE"/>
                </a:solidFill>
              </a:defRPr>
            </a:pPr>
            <a:r>
              <a:t>• Corporate water stewardship reporting.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5212080" cy="4572000"/>
          </a:xfrm>
          <a:prstGeom prst="rect">
            <a:avLst/>
          </a:prstGeom>
          <a:solidFill>
            <a:srgbClr val="0C1E3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746504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2D3EE"/>
                </a:solidFill>
                <a:latin typeface="Consolas"/>
              </a:defRPr>
            </a:pPr>
            <a:r>
              <a:t>PLANETARY DEPLOYMENT PHASES</a:t>
            </a:r>
          </a:p>
          <a:p>
            <a:pPr>
              <a:defRPr sz="1200" b="1">
                <a:solidFill>
                  <a:srgbClr val="F0FDFA"/>
                </a:solidFill>
                <a:latin typeface="Trebuchet MS"/>
              </a:defRPr>
            </a:pPr>
            <a:r>
              <a:t>Strategic Scaling Roadmap &amp; Milestones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313432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6D6A0"/>
                </a:solidFill>
                <a:latin typeface="Consolas"/>
              </a:defRPr>
            </a:pPr>
            <a:r>
              <a:t>PHASE 1: CURRENT PRODUCTION  //  BENCHMARK DEPLOYMENT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✔ STAC pipeline, sub-second NDWI canvas kernel, Gemini 4-mode AI, JSON audit provenance, and Pallikaranai audit.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72968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Consolas"/>
              </a:defRPr>
            </a:pPr>
            <a:r>
              <a:t>PHASE 2: Q4 2025  //  MULTI-SENSOR RADAR FUSION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Sentinel-1 SAR C-band radar (all-weather penetrating), MNDWI/AWEI indices, STAC webhook alerts, GeoJSON vector export.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05656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178808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BBF24"/>
                </a:solidFill>
                <a:latin typeface="Consolas"/>
              </a:defRPr>
            </a:pPr>
            <a:r>
              <a:t>PHASE 3: Q1 2026  //  ACTIVE LEARNING ML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Few-shot patch labeling UI, Prithvi-100M fine-tuning adapter, citizen science mobile photo portal, thermal water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038344"/>
            <a:ext cx="4846320" cy="841248"/>
          </a:xfrm>
          <a:prstGeom prst="rect">
            <a:avLst/>
          </a:prstGeom>
          <a:solidFill>
            <a:srgbClr val="0713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5111496"/>
            <a:ext cx="4572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Consolas"/>
              </a:defRPr>
            </a:pPr>
            <a:r>
              <a:t>PHASE 4: 2027 VISION  //  PLANETARY HYDRO-NETWORK</a:t>
            </a:r>
          </a:p>
          <a:p>
            <a:pPr>
              <a:spcBef>
                <a:spcPts val="200"/>
              </a:spcBef>
              <a:defRPr sz="800">
                <a:solidFill>
                  <a:srgbClr val="CADAEE"/>
                </a:solidFill>
              </a:defRPr>
            </a:pPr>
            <a:r>
              <a:t>• Pan-India &amp; Global Wetland Atlas, real-time flood surge forecasting, open public API for NGOs, automated Blue Carbon registry.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73952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>
                <a:solidFill>
                  <a:srgbClr val="738CAD"/>
                </a:solidFill>
                <a:latin typeface="Consolas"/>
              </a:defRPr>
            </a:pPr>
            <a:r>
              <a:t>AQUASENSE OBSERVATORY • SENTINEL-2 L2A STAC • NDWI (B03-B08)/(B03+B08) • 10m/px • GEMINI 3.7 FLASH • 0x8a92f02c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2658</Words>
  <Application>Microsoft Office PowerPoint</Application>
  <PresentationFormat>Widescreen</PresentationFormat>
  <Paragraphs>351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NAEHA</cp:lastModifiedBy>
  <cp:revision>2</cp:revision>
  <dcterms:created xsi:type="dcterms:W3CDTF">2013-01-27T09:14:16Z</dcterms:created>
  <dcterms:modified xsi:type="dcterms:W3CDTF">2026-08-21T16:48:52Z</dcterms:modified>
  <cp:category/>
</cp:coreProperties>
</file>