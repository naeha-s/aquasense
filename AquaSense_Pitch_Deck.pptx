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548640"/>
            <a:ext cx="3474720" cy="256032"/>
          </a:xfrm>
          <a:prstGeom prst="roundRect">
            <a:avLst/>
          </a:prstGeom>
          <a:solidFill>
            <a:srgbClr val="071326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800" b="1">
                <a:solidFill>
                  <a:srgbClr val="22D3EE"/>
                </a:solidFill>
                <a:latin typeface="Consolas"/>
              </a:defRPr>
            </a:pPr>
            <a:r>
              <a:t>ORBITAL NODE: ESA S2 MSI + S1 C-SAR // STAC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68680"/>
            <a:ext cx="1645920" cy="508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566928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5000" b="1">
                <a:solidFill>
                  <a:srgbClr val="F0FDFA"/>
                </a:solidFill>
                <a:latin typeface="Trebuchet MS"/>
              </a:defRPr>
            </a:pPr>
            <a:r>
              <a:t>AquaSense</a:t>
            </a:r>
          </a:p>
          <a:p>
            <a:pPr>
              <a:spcBef>
                <a:spcPts val="400"/>
              </a:spcBef>
              <a:defRPr sz="1500" b="1">
                <a:solidFill>
                  <a:srgbClr val="22D3EE"/>
                </a:solidFill>
                <a:latin typeface="Calibri"/>
              </a:defRPr>
            </a:pPr>
            <a:r>
              <a:t>Multi-Sensor Planetary Hydro-Observatory &amp; Sovereign RAG Engine</a:t>
            </a:r>
          </a:p>
          <a:p>
            <a:pPr>
              <a:spcBef>
                <a:spcPts val="600"/>
              </a:spcBef>
              <a:defRPr sz="1100">
                <a:solidFill>
                  <a:srgbClr val="CADAEE"/>
                </a:solidFill>
                <a:latin typeface="Calibri"/>
              </a:defRPr>
            </a:pPr>
            <a:r>
              <a:t>All-weather Sentinel-1 C-SAR radar fusion, 3D bathymetric volumetric retention (m³), bio-optical water quality (NDTI/NDCI), and sovereign 12-D spectral RAG intelligence.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383280"/>
            <a:ext cx="1353312" cy="292608"/>
          </a:xfrm>
          <a:prstGeom prst="roundRect">
            <a:avLst/>
          </a:prstGeom>
          <a:solidFill>
            <a:srgbClr val="173564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750" b="1">
                <a:solidFill>
                  <a:srgbClr val="22D3EE"/>
                </a:solidFill>
                <a:latin typeface="Consolas"/>
              </a:defRPr>
            </a:pPr>
            <a:r>
              <a:t>🛰️ Dual Optical+SAR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48840" y="3383280"/>
            <a:ext cx="1353312" cy="292608"/>
          </a:xfrm>
          <a:prstGeom prst="roundRect">
            <a:avLst/>
          </a:prstGeom>
          <a:solidFill>
            <a:srgbClr val="173564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750" b="1">
                <a:solidFill>
                  <a:srgbClr val="06D6A0"/>
                </a:solidFill>
                <a:latin typeface="Consolas"/>
              </a:defRPr>
            </a:pPr>
            <a:r>
              <a:t>🌊 3D Bathymetry (m³)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66160" y="3383280"/>
            <a:ext cx="1353312" cy="292608"/>
          </a:xfrm>
          <a:prstGeom prst="roundRect">
            <a:avLst/>
          </a:prstGeom>
          <a:solidFill>
            <a:srgbClr val="173564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750" b="1">
                <a:solidFill>
                  <a:srgbClr val="FBBF24"/>
                </a:solidFill>
                <a:latin typeface="Consolas"/>
              </a:defRPr>
            </a:pPr>
            <a:r>
              <a:t>💧 Bio-Optics (NDTI/NDCI)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83480" y="3383280"/>
            <a:ext cx="1353312" cy="292608"/>
          </a:xfrm>
          <a:prstGeom prst="roundRect">
            <a:avLst/>
          </a:prstGeom>
          <a:solidFill>
            <a:srgbClr val="173564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750" b="1">
                <a:solidFill>
                  <a:srgbClr val="A78BFA"/>
                </a:solidFill>
                <a:latin typeface="Consolas"/>
              </a:defRPr>
            </a:pPr>
            <a:r>
              <a:t>🧬 Sovereign 12-D RAG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931920"/>
            <a:ext cx="5486400" cy="2286000"/>
          </a:xfrm>
          <a:prstGeom prst="rect">
            <a:avLst/>
          </a:prstGeom>
          <a:solidFill>
            <a:srgbClr val="0C1E3D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078224"/>
            <a:ext cx="512064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MULTI-SENSOR LONGITUDINAL AUDIT</a:t>
            </a:r>
          </a:p>
          <a:p>
            <a:pPr>
              <a:defRPr sz="1150" b="1">
                <a:solidFill>
                  <a:srgbClr val="F0FDFA"/>
                </a:solidFill>
                <a:latin typeface="Trebuchet MS"/>
              </a:defRPr>
            </a:pPr>
            <a:r>
              <a:t>Active Pilot: Pallikaranai Ramsar Basin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526280"/>
            <a:ext cx="5120640" cy="1600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• Coordinates: [80.20°E, 12.91°N] to [80.23°E, 12.95°N] • Chennai, India</a:t>
            </a:r>
          </a:p>
          <a:p>
            <a:pPr>
              <a:spcAft>
                <a:spcPts val="20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• Multi-Sensor Constellation: Sentinel-2 MSI (10m) + Sentinel-1 RTC C-Band (5.405 GHz)</a:t>
            </a:r>
          </a:p>
          <a:p>
            <a:pPr>
              <a:spcAft>
                <a:spcPts val="20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• Volumetric Integration: Copernicus DEM GLO-30 Hypsometric Curves (V = ∫ A(z)dz)</a:t>
            </a:r>
          </a:p>
          <a:p>
            <a:pPr>
              <a:spcAft>
                <a:spcPts val="20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• Bio-Optical Water Quality: Turbidity (NDTI), Chlorophyll-a (NDCI), CDOM Carbon, WQI</a:t>
            </a:r>
          </a:p>
          <a:p>
            <a:pPr>
              <a:spcAft>
                <a:spcPts val="20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• Sovereign AI Engine: 12-D Feature Extractor + Few-Shot Classifier + Ramsar RAG Vector Store</a:t>
            </a:r>
          </a:p>
        </p:txBody>
      </p:sp>
      <p:pic>
        <p:nvPicPr>
          <p:cNvPr id="12" name="Picture 11" descr="satellite_earth_orbi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731520"/>
            <a:ext cx="4937760" cy="365760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6492240" y="731520"/>
            <a:ext cx="4937760" cy="3657600"/>
          </a:xfrm>
          <a:prstGeom prst="rect">
            <a:avLst/>
          </a:prstGeom>
          <a:noFill/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601968" y="841248"/>
            <a:ext cx="2971800" cy="219456"/>
          </a:xfrm>
          <a:prstGeom prst="roundRect">
            <a:avLst/>
          </a:prstGeom>
          <a:solidFill>
            <a:srgbClr val="030712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700" b="1">
                <a:solidFill>
                  <a:srgbClr val="22D3EE"/>
                </a:solidFill>
                <a:latin typeface="Consolas"/>
              </a:defRPr>
            </a:pPr>
            <a:r>
              <a:t>SENTINEL-2 + SENTINEL-1 ORBITAL STREAM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572000"/>
            <a:ext cx="4937760" cy="1645920"/>
          </a:xfrm>
          <a:prstGeom prst="rect">
            <a:avLst/>
          </a:prstGeom>
          <a:solidFill>
            <a:srgbClr val="0C1E3D"/>
          </a:solidFill>
          <a:ln w="12700">
            <a:solidFill>
              <a:srgbClr val="06D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0" y="4718304"/>
            <a:ext cx="45720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LIVE SENSOR TELEMETRY</a:t>
            </a:r>
          </a:p>
          <a:p>
            <a:pPr>
              <a:defRPr sz="1150" b="1">
                <a:solidFill>
                  <a:srgbClr val="F0FDFA"/>
                </a:solidFill>
                <a:latin typeface="Trebuchet MS"/>
              </a:defRPr>
            </a:pPr>
            <a:r>
              <a:t>Planetary Computer Multi-Sensor Status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5120640"/>
            <a:ext cx="45720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✔ STAC Nodes: Sentinel-2 L2A BOA &amp; Sentinel-1 C-Band SAR RTC</a:t>
            </a:r>
          </a:p>
          <a:p>
            <a:pPr>
              <a:spcAft>
                <a:spcPts val="2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✔ Cloud Penetration: SAR Specular Backscatter (σ⁰_VV &lt; -16 dB)</a:t>
            </a:r>
          </a:p>
          <a:p>
            <a:pPr>
              <a:spcAft>
                <a:spcPts val="2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✔ Local RAG Latency: &lt;35ms deterministic in-memory vector lookup</a:t>
            </a:r>
          </a:p>
          <a:p>
            <a:pPr>
              <a:spcAft>
                <a:spcPts val="2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✔ Provenance Hash: 0x8a92f02c • Output: Immutable JSON Audit Bundle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473952"/>
            <a:ext cx="106984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750">
                <a:solidFill>
                  <a:srgbClr val="738CAD"/>
                </a:solidFill>
                <a:latin typeface="Consolas"/>
              </a:defRPr>
            </a:pPr>
            <a:r>
              <a:t>AQUASENSE OBSERVATORY • S2 L2A MSI + S1 C-SAR + DEM • 12-D SPECTRAL RAG • 10m/px • SOVEREIGN FEW-SHOT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645920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75488"/>
            <a:ext cx="2011680" cy="256032"/>
          </a:xfrm>
          <a:prstGeom prst="roundRect">
            <a:avLst/>
          </a:prstGeom>
          <a:solidFill>
            <a:srgbClr val="0C1E3D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850" b="1">
                <a:solidFill>
                  <a:srgbClr val="FBBF24"/>
                </a:solidFill>
                <a:latin typeface="Consolas"/>
              </a:defRPr>
            </a:pPr>
            <a:r>
              <a:t>ORBIT 02 // CRISIS TELEMETRY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F0FDFA"/>
                </a:solidFill>
                <a:latin typeface="Trebuchet MS"/>
              </a:defRPr>
            </a:pPr>
            <a:r>
              <a:t>The Global Wetland Crisis &amp; Multi-Sensor Monitoring Blindspots</a:t>
            </a:r>
          </a:p>
          <a:p>
            <a:pPr>
              <a:spcBef>
                <a:spcPts val="200"/>
              </a:spcBef>
              <a:defRPr sz="1100">
                <a:solidFill>
                  <a:srgbClr val="738CAD"/>
                </a:solidFill>
                <a:latin typeface="Calibri"/>
              </a:defRPr>
            </a:pPr>
            <a:r>
              <a:t>Freshwater ecosystems are vanishing 3x faster than terrestrial forests, leaving catastrophic flood and drought vulnerabilities.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4114800" cy="4480560"/>
          </a:xfrm>
          <a:prstGeom prst="rect">
            <a:avLst/>
          </a:prstGeom>
          <a:solidFill>
            <a:srgbClr val="0C1E3D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92224"/>
            <a:ext cx="374904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GLOBAL HYDROLOGICAL ANOMALY</a:t>
            </a:r>
          </a:p>
          <a:p>
            <a:pPr>
              <a:defRPr sz="1150" b="1">
                <a:solidFill>
                  <a:srgbClr val="F0FDFA"/>
                </a:solidFill>
                <a:latin typeface="Trebuchet MS"/>
              </a:defRPr>
            </a:pPr>
            <a:r>
              <a:t>Ecosystem Collapse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377440"/>
            <a:ext cx="365760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4800" b="1">
                <a:solidFill>
                  <a:srgbClr val="F43F5E"/>
                </a:solidFill>
                <a:latin typeface="Trebuchet MS"/>
              </a:defRPr>
            </a:pPr>
            <a:r>
              <a:t>-35%</a:t>
            </a:r>
          </a:p>
          <a:p>
            <a:pPr>
              <a:spcAft>
                <a:spcPts val="1000"/>
              </a:spcAft>
              <a:defRPr sz="950" b="1">
                <a:solidFill>
                  <a:srgbClr val="F0FDFA"/>
                </a:solidFill>
                <a:latin typeface="Consolas"/>
              </a:defRPr>
            </a:pPr>
            <a:r>
              <a:t>GLOBAL WETLANDS LOST SINCE 1970</a:t>
            </a:r>
          </a:p>
          <a:p>
            <a:pPr>
              <a:spcAft>
                <a:spcPts val="500"/>
              </a:spcAft>
              <a:defRPr sz="950">
                <a:solidFill>
                  <a:srgbClr val="CADAEE"/>
                </a:solidFill>
              </a:defRPr>
            </a:pPr>
            <a:r>
              <a:t>• Ramsar Convention Telemetry: Over 35% of natural freshwater marshlands destroyed in 50 years.</a:t>
            </a:r>
          </a:p>
          <a:p>
            <a:pPr>
              <a:spcAft>
                <a:spcPts val="500"/>
              </a:spcAft>
              <a:defRPr sz="950">
                <a:solidFill>
                  <a:srgbClr val="CADAEE"/>
                </a:solidFill>
              </a:defRPr>
            </a:pPr>
            <a:r>
              <a:t>• Monsoon Cloud Blindspots: Optical satellites suffer 65%+ cloud occlusion during monsoon flood surges.</a:t>
            </a:r>
          </a:p>
          <a:p>
            <a:pPr>
              <a:spcAft>
                <a:spcPts val="500"/>
              </a:spcAft>
              <a:defRPr sz="950">
                <a:solidFill>
                  <a:srgbClr val="CADAEE"/>
                </a:solidFill>
              </a:defRPr>
            </a:pPr>
            <a:r>
              <a:t>• Flat 2D Footprint Fallacy: Traditional GIS measures flat surface area (km²), ignoring cubic storage collapse (m³).</a:t>
            </a:r>
          </a:p>
          <a:p>
            <a:pPr>
              <a:spcAft>
                <a:spcPts val="500"/>
              </a:spcAft>
              <a:defRPr sz="950">
                <a:solidFill>
                  <a:srgbClr val="CADAEE"/>
                </a:solidFill>
              </a:defRPr>
            </a:pPr>
            <a:r>
              <a:t>• Undetected Bio-Optical Toxicity: Siltation and toxic algal blooms go unnoticed by basic binary water masks.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0" y="1645920"/>
            <a:ext cx="6309360" cy="2103120"/>
          </a:xfrm>
          <a:prstGeom prst="rect">
            <a:avLst/>
          </a:prstGeom>
          <a:solidFill>
            <a:srgbClr val="0C1E3D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0" y="1792224"/>
            <a:ext cx="59436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SENSOR INSUFFICIENCY GAP</a:t>
            </a:r>
          </a:p>
          <a:p>
            <a:pPr>
              <a:defRPr sz="1150" b="1">
                <a:solidFill>
                  <a:srgbClr val="F0FDFA"/>
                </a:solidFill>
                <a:latin typeface="Trebuchet MS"/>
              </a:defRPr>
            </a:pPr>
            <a:r>
              <a:t>OPTICAL CLOUD COVER &amp; 2D BLINDSPOTS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2377440"/>
            <a:ext cx="585216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Optical Satellite Dropouts: Monsoon storms and heavy cloud cover block optical sensors when tracking is most critical.</a:t>
            </a: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Surface vs. Volume Disconnect: A lake maintaining surface footprint can lose 60% of water volume through basin siltation.</a:t>
            </a: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High Latency: Static municipal GIS maps updated every 5-10 years miss weekly illegal encroachment and desiccation.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3931920"/>
            <a:ext cx="6309360" cy="2103120"/>
          </a:xfrm>
          <a:prstGeom prst="rect">
            <a:avLst/>
          </a:prstGeom>
          <a:solidFill>
            <a:srgbClr val="0C1E3D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0" y="4078224"/>
            <a:ext cx="59436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ACCOUNTABILITY GAP</a:t>
            </a:r>
          </a:p>
          <a:p>
            <a:pPr>
              <a:defRPr sz="1150" b="1">
                <a:solidFill>
                  <a:srgbClr val="F0FDFA"/>
                </a:solidFill>
                <a:latin typeface="Trebuchet MS"/>
              </a:defRPr>
            </a:pPr>
            <a:r>
              <a:t>BIO-OPTICAL DEGRADATION &amp; STATUTORY DEFICITS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0" y="4663440"/>
            <a:ext cx="585216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Turbidity &amp; Algal Blooms: Runoff silt and sewage influx drive eutrophication without triggering basic 2D water alerts.</a:t>
            </a: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Cloud AI Sovereign Bottlenecks: Reliance on external cloud LLMs risks API downtime, privacy leakage, and high GPU costs.</a:t>
            </a: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• Unverified Restoration MRV: Millions spent on wetland de-silting without multi-sensor volumetric or bio-optical verification.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473952"/>
            <a:ext cx="106984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750">
                <a:solidFill>
                  <a:srgbClr val="738CAD"/>
                </a:solidFill>
                <a:latin typeface="Consolas"/>
              </a:defRPr>
            </a:pPr>
            <a:r>
              <a:t>AQUASENSE OBSERVATORY • S2 L2A MSI + S1 C-SAR + DEM • 12-D SPECTRAL RAG • 10m/px • SOVEREIGN FEW-SHOT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645920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75488"/>
            <a:ext cx="2011680" cy="256032"/>
          </a:xfrm>
          <a:prstGeom prst="roundRect">
            <a:avLst/>
          </a:prstGeom>
          <a:solidFill>
            <a:srgbClr val="0C1E3D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850" b="1">
                <a:solidFill>
                  <a:srgbClr val="FBBF24"/>
                </a:solidFill>
                <a:latin typeface="Consolas"/>
              </a:defRPr>
            </a:pPr>
            <a:r>
              <a:t>ORBIT 03 // SOLUTION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F0FDFA"/>
                </a:solidFill>
                <a:latin typeface="Trebuchet MS"/>
              </a:defRPr>
            </a:pPr>
            <a:r>
              <a:t>The AquaSense Solution: Autonomous Multi-Sensor Observatory</a:t>
            </a:r>
          </a:p>
          <a:p>
            <a:pPr>
              <a:spcBef>
                <a:spcPts val="200"/>
              </a:spcBef>
              <a:defRPr sz="1100">
                <a:solidFill>
                  <a:srgbClr val="738CAD"/>
                </a:solidFill>
                <a:latin typeface="Calibri"/>
              </a:defRPr>
            </a:pPr>
            <a:r>
              <a:t>A full-stack planetary observatory turning multi-spectral, SAR radar, and DEM streams into real-time verified ecological action.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303520" cy="4480560"/>
          </a:xfrm>
          <a:prstGeom prst="rect">
            <a:avLst/>
          </a:prstGeom>
          <a:solidFill>
            <a:srgbClr val="0C1E3D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92224"/>
            <a:ext cx="493776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CORE EARTH OBSERVATION ENGINE</a:t>
            </a:r>
          </a:p>
          <a:p>
            <a:pPr>
              <a:defRPr sz="1150" b="1">
                <a:solidFill>
                  <a:srgbClr val="F0FDFA"/>
                </a:solidFill>
                <a:latin typeface="Trebuchet MS"/>
              </a:defRPr>
            </a:pPr>
            <a:r>
              <a:t>Autonomous Multi-Sensor Ingestion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377440"/>
            <a:ext cx="484632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🛰️ Dual Optical + SAR Radar Ingestion:</a:t>
            </a: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 • Copernicus Sentinel-2 MSI (10m) + Sentinel-1 RTC C-Band SAR (5.405 GHz).</a:t>
            </a: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 • All-weather cloud penetration via specular microwave backscatter (σ⁰_VV &lt; -16 dB).</a:t>
            </a: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🌊 3D Bathymetric Volume &amp; Depth Hypsometry:</a:t>
            </a: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 • Copernicus DEM GLO-30 elevation integration with Area-Elevation curves.</a:t>
            </a: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 • Computes true cubic water storage (m³ and MCM) across depth strata (0-2m, 2-5m, &gt;5m).</a:t>
            </a: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💧 Bio-Optical Water Quality Diagnostics:</a:t>
            </a: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 • NDTI Turbidity (NTU/TSS), NDCI Chlorophyll-a (Trophic State Index), and CDOM Carbon.</a:t>
            </a: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 • Aggregated 0-100 Comprehensive Water Quality Index (WQI).</a:t>
            </a: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🧬 Sovereign 12-D Tensor + Local RAG Engine:</a:t>
            </a:r>
          </a:p>
          <a:p>
            <a:pPr>
              <a:spcAft>
                <a:spcPts val="300"/>
              </a:spcAft>
              <a:defRPr sz="950">
                <a:solidFill>
                  <a:srgbClr val="CADAEE"/>
                </a:solidFill>
                <a:latin typeface="Calibri"/>
              </a:defRPr>
            </a:pPr>
            <a:r>
              <a:t>   • 12-dimensional spectral feature extractor running few-shot classifiers and Ramsar/CPCB RAG in &lt;35ms.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1645920"/>
            <a:ext cx="5120640" cy="1417320"/>
          </a:xfrm>
          <a:prstGeom prst="rect">
            <a:avLst/>
          </a:prstGeom>
          <a:solidFill>
            <a:srgbClr val="0C1E3D"/>
          </a:solidFill>
          <a:ln w="12700">
            <a:solidFill>
              <a:srgbClr val="06D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792224"/>
            <a:ext cx="47548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SPATIAL BITMASKING</a:t>
            </a:r>
          </a:p>
          <a:p>
            <a:pPr>
              <a:defRPr sz="1150" b="1">
                <a:solidFill>
                  <a:srgbClr val="F0FDFA"/>
                </a:solidFill>
                <a:latin typeface="Trebuchet MS"/>
              </a:defRPr>
            </a:pPr>
            <a:r>
              <a:t>TRIPARTITE CHANGE MASK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331720"/>
            <a:ext cx="47548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CADAEE"/>
                </a:solidFill>
                <a:latin typeface="Calibri"/>
              </a:defRPr>
            </a:pPr>
            <a:r>
              <a:t>Isolates Water Lost (Desiccation/Red), Water Gained (Inundation/Blue), and Persistent Water on high-res satellite canvas.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3182112"/>
            <a:ext cx="5120640" cy="1417320"/>
          </a:xfrm>
          <a:prstGeom prst="rect">
            <a:avLst/>
          </a:prstGeom>
          <a:solidFill>
            <a:srgbClr val="0C1E3D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3328416"/>
            <a:ext cx="47548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VOLUMETRIC RETENTION</a:t>
            </a:r>
          </a:p>
          <a:p>
            <a:pPr>
              <a:defRPr sz="1150" b="1">
                <a:solidFill>
                  <a:srgbClr val="F0FDFA"/>
                </a:solidFill>
                <a:latin typeface="Trebuchet MS"/>
              </a:defRPr>
            </a:pPr>
            <a:r>
              <a:t>3D HYPSOMETRIC BATHYMETRY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867912"/>
            <a:ext cx="47548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CADAEE"/>
                </a:solidFill>
                <a:latin typeface="Calibri"/>
              </a:defRPr>
            </a:pPr>
            <a:r>
              <a:t>Calculates actual 3D capacity (m³) using digital elevation models to detect basin sedimentation and shallow littoral loss.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4718304"/>
            <a:ext cx="5120640" cy="1417320"/>
          </a:xfrm>
          <a:prstGeom prst="rect">
            <a:avLst/>
          </a:prstGeom>
          <a:solidFill>
            <a:srgbClr val="0C1E3D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864608"/>
            <a:ext cx="47548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DUAL INTELLIGENCE TIER</a:t>
            </a:r>
          </a:p>
          <a:p>
            <a:pPr>
              <a:defRPr sz="1150" b="1">
                <a:solidFill>
                  <a:srgbClr val="F0FDFA"/>
                </a:solidFill>
                <a:latin typeface="Trebuchet MS"/>
              </a:defRPr>
            </a:pPr>
            <a:r>
              <a:t>SOVEREIGN RAG &amp; GEMINI 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5404104"/>
            <a:ext cx="475488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CADAEE"/>
                </a:solidFill>
                <a:latin typeface="Calibri"/>
              </a:defRPr>
            </a:pPr>
            <a:r>
              <a:t>Combines local in-memory vector RAG (Ramsar/CPCB/WHO) with Gemini 3.7 Flash CoT reasoning and drone vision inspection.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473952"/>
            <a:ext cx="106984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750">
                <a:solidFill>
                  <a:srgbClr val="738CAD"/>
                </a:solidFill>
                <a:latin typeface="Consolas"/>
              </a:defRPr>
            </a:pPr>
            <a:r>
              <a:t>AQUASENSE OBSERVATORY • S2 L2A MSI + S1 C-SAR + DEM • 12-D SPECTRAL RAG • 10m/px • SOVEREIGN FEW-SHOT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645920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75488"/>
            <a:ext cx="2011680" cy="256032"/>
          </a:xfrm>
          <a:prstGeom prst="roundRect">
            <a:avLst/>
          </a:prstGeom>
          <a:solidFill>
            <a:srgbClr val="0C1E3D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850" b="1">
                <a:solidFill>
                  <a:srgbClr val="FBBF24"/>
                </a:solidFill>
                <a:latin typeface="Consolas"/>
              </a:defRPr>
            </a:pPr>
            <a:r>
              <a:t>ORBIT 04 // EXECUTION TELEMETRY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F0FDFA"/>
                </a:solidFill>
                <a:latin typeface="Trebuchet MS"/>
              </a:defRPr>
            </a:pPr>
            <a:r>
              <a:t>Live Multi-Sensor Pipeline &amp; Data Flow</a:t>
            </a:r>
          </a:p>
          <a:p>
            <a:pPr>
              <a:spcBef>
                <a:spcPts val="200"/>
              </a:spcBef>
              <a:defRPr sz="1100">
                <a:solidFill>
                  <a:srgbClr val="738CAD"/>
                </a:solidFill>
                <a:latin typeface="Calibri"/>
              </a:defRPr>
            </a:pPr>
            <a:r>
              <a:t>How raw optical, microwave radar, and topographic reflections transform into quantified volumetric &amp; ecological intelligence.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00200"/>
            <a:ext cx="2560320" cy="2926080"/>
          </a:xfrm>
          <a:prstGeom prst="rect">
            <a:avLst/>
          </a:prstGeom>
          <a:solidFill>
            <a:srgbClr val="0C1E3D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46504"/>
            <a:ext cx="219456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NODE 01</a:t>
            </a:r>
          </a:p>
          <a:p>
            <a:pPr>
              <a:defRPr sz="1150" b="1">
                <a:solidFill>
                  <a:srgbClr val="F0FDFA"/>
                </a:solidFill>
                <a:latin typeface="Trebuchet MS"/>
              </a:defRPr>
            </a:pPr>
            <a:r>
              <a:t>Multi-Sensor STAC Ingest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240280"/>
            <a:ext cx="2231136" cy="2103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INPUT: AOI BBox + Target Epochs</a:t>
            </a:r>
          </a:p>
          <a:p>
            <a:pPr>
              <a:spcAft>
                <a:spcPts val="2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Query Microsoft Planetary STAC</a:t>
            </a:r>
          </a:p>
          <a:p>
            <a:pPr>
              <a:spcAft>
                <a:spcPts val="2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Ingest S2 L2A BOA Optical</a:t>
            </a:r>
          </a:p>
          <a:p>
            <a:pPr>
              <a:spcAft>
                <a:spcPts val="2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Ingest S1 RTC C-Band SAR Radar</a:t>
            </a:r>
          </a:p>
          <a:p>
            <a:pPr>
              <a:spcAft>
                <a:spcPts val="2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Ingest Copernicus DEM GLO-30</a:t>
            </a:r>
          </a:p>
          <a:p>
            <a:pPr>
              <a:spcAft>
                <a:spcPts val="2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OUTPUT: Calibrated Multi-Sensor Grids</a:t>
            </a:r>
          </a:p>
        </p:txBody>
      </p:sp>
      <p:pic>
        <p:nvPicPr>
          <p:cNvPr id="8" name="Picture 7" descr="node1_stac_satelli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617720"/>
            <a:ext cx="2560320" cy="16916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31520" y="4617720"/>
            <a:ext cx="2560320" cy="1691640"/>
          </a:xfrm>
          <a:prstGeom prst="rect">
            <a:avLst/>
          </a:prstGeom>
          <a:noFill/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8" y="4727448"/>
            <a:ext cx="1531619" cy="219456"/>
          </a:xfrm>
          <a:prstGeom prst="roundRect">
            <a:avLst/>
          </a:prstGeom>
          <a:solidFill>
            <a:srgbClr val="030712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700" b="1">
                <a:solidFill>
                  <a:srgbClr val="22D3EE"/>
                </a:solidFill>
                <a:latin typeface="Consolas"/>
              </a:defRPr>
            </a:pPr>
            <a:r>
              <a:t>MULTI-SENSOR STAC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0" y="1600200"/>
            <a:ext cx="2560320" cy="2926080"/>
          </a:xfrm>
          <a:prstGeom prst="rect">
            <a:avLst/>
          </a:prstGeom>
          <a:solidFill>
            <a:srgbClr val="0C1E3D"/>
          </a:solidFill>
          <a:ln w="19050">
            <a:solidFill>
              <a:srgbClr val="06D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0" y="1746504"/>
            <a:ext cx="219456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NODE 02</a:t>
            </a:r>
          </a:p>
          <a:p>
            <a:pPr>
              <a:defRPr sz="1150" b="1">
                <a:solidFill>
                  <a:srgbClr val="F0FDFA"/>
                </a:solidFill>
                <a:latin typeface="Trebuchet MS"/>
              </a:defRPr>
            </a:pPr>
            <a:r>
              <a:t>Radiometric &amp; Radar Math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9312" y="2240280"/>
            <a:ext cx="2231136" cy="2103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INPUT: Spectral Bands + Radar Backscatter</a:t>
            </a:r>
          </a:p>
          <a:p>
            <a:pPr>
              <a:spcAft>
                <a:spcPts val="2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NDWI = (B03-B08)/(B03+B08)</a:t>
            </a:r>
          </a:p>
          <a:p>
            <a:pPr>
              <a:spcAft>
                <a:spcPts val="2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NDTI = (B04-B03)/(B04+B03) (Turbidity)</a:t>
            </a:r>
          </a:p>
          <a:p>
            <a:pPr>
              <a:spcAft>
                <a:spcPts val="2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NDCI = (B05-B04)/(B05+B04) (Chl-a)</a:t>
            </a:r>
          </a:p>
          <a:p>
            <a:pPr>
              <a:spcAft>
                <a:spcPts val="2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SAR Specular σ⁰_VV &lt; -16 dB</a:t>
            </a:r>
          </a:p>
          <a:p>
            <a:pPr>
              <a:spcAft>
                <a:spcPts val="2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OUTPUT: 12-D Radiometric Tensor</a:t>
            </a:r>
          </a:p>
        </p:txBody>
      </p:sp>
      <p:pic>
        <p:nvPicPr>
          <p:cNvPr id="14" name="Picture 13" descr="node2_band_mat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0" y="4617720"/>
            <a:ext cx="2560320" cy="169164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3474720" y="4617720"/>
            <a:ext cx="2560320" cy="1691640"/>
          </a:xfrm>
          <a:prstGeom prst="rect">
            <a:avLst/>
          </a:prstGeom>
          <a:noFill/>
          <a:ln w="19050">
            <a:solidFill>
              <a:srgbClr val="06D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84448" y="4727448"/>
            <a:ext cx="1463040" cy="219456"/>
          </a:xfrm>
          <a:prstGeom prst="roundRect">
            <a:avLst/>
          </a:prstGeom>
          <a:solidFill>
            <a:srgbClr val="030712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700" b="1">
                <a:solidFill>
                  <a:srgbClr val="22D3EE"/>
                </a:solidFill>
                <a:latin typeface="Consolas"/>
              </a:defRPr>
            </a:pPr>
            <a:r>
              <a:t>RADIOMETRIC MATH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1600200"/>
            <a:ext cx="2560320" cy="2926080"/>
          </a:xfrm>
          <a:prstGeom prst="rect">
            <a:avLst/>
          </a:prstGeom>
          <a:solidFill>
            <a:srgbClr val="0C1E3D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746504"/>
            <a:ext cx="219456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NODE 03</a:t>
            </a:r>
          </a:p>
          <a:p>
            <a:pPr>
              <a:defRPr sz="1150" b="1">
                <a:solidFill>
                  <a:srgbClr val="F0FDFA"/>
                </a:solidFill>
                <a:latin typeface="Trebuchet MS"/>
              </a:defRPr>
            </a:pPr>
            <a:r>
              <a:t>3D Hypsometry &amp; Diff Mask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2" y="2240280"/>
            <a:ext cx="2231136" cy="2103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INPUT: DEM Contours + Water Extent</a:t>
            </a:r>
          </a:p>
          <a:p>
            <a:pPr>
              <a:spcAft>
                <a:spcPts val="2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Hypsometric Volume: V = ∫ A(z)dz</a:t>
            </a:r>
          </a:p>
          <a:p>
            <a:pPr>
              <a:spcAft>
                <a:spcPts val="2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Tri-state change matrix {-1, 0, +1}</a:t>
            </a:r>
          </a:p>
          <a:p>
            <a:pPr>
              <a:spcAft>
                <a:spcPts val="2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Depth strata: 0-2m, 2-5m, &gt;5m</a:t>
            </a:r>
          </a:p>
          <a:p>
            <a:pPr>
              <a:spcAft>
                <a:spcPts val="2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Annual STAC time-series audit</a:t>
            </a:r>
          </a:p>
          <a:p>
            <a:pPr>
              <a:spcAft>
                <a:spcPts val="2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OUTPUT: km² / m³ Metrics &amp; Diff Raster</a:t>
            </a:r>
          </a:p>
        </p:txBody>
      </p:sp>
      <p:pic>
        <p:nvPicPr>
          <p:cNvPr id="20" name="Picture 19" descr="node3_diff_mas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4617720"/>
            <a:ext cx="2560320" cy="169164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6217920" y="4617720"/>
            <a:ext cx="2560320" cy="1691640"/>
          </a:xfrm>
          <a:prstGeom prst="rect">
            <a:avLst/>
          </a:prstGeom>
          <a:noFill/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327648" y="4727448"/>
            <a:ext cx="1737360" cy="219456"/>
          </a:xfrm>
          <a:prstGeom prst="roundRect">
            <a:avLst/>
          </a:prstGeom>
          <a:solidFill>
            <a:srgbClr val="030712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700" b="1">
                <a:solidFill>
                  <a:srgbClr val="22D3EE"/>
                </a:solidFill>
                <a:latin typeface="Consolas"/>
              </a:defRPr>
            </a:pPr>
            <a:r>
              <a:t>3D HYPSOMETRY &amp; DIFF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61120" y="1600200"/>
            <a:ext cx="2560320" cy="2926080"/>
          </a:xfrm>
          <a:prstGeom prst="rect">
            <a:avLst/>
          </a:prstGeom>
          <a:solidFill>
            <a:srgbClr val="0C1E3D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0" y="1746504"/>
            <a:ext cx="219456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NODE 04</a:t>
            </a:r>
          </a:p>
          <a:p>
            <a:pPr>
              <a:defRPr sz="1150" b="1">
                <a:solidFill>
                  <a:srgbClr val="F0FDFA"/>
                </a:solidFill>
                <a:latin typeface="Trebuchet MS"/>
              </a:defRPr>
            </a:pPr>
            <a:r>
              <a:t>Dual AI Reasoning &amp; RAG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25712" y="2240280"/>
            <a:ext cx="2231136" cy="2103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INPUT: 12-D Tensor + Ground Photos</a:t>
            </a:r>
          </a:p>
          <a:p>
            <a:pPr>
              <a:spcAft>
                <a:spcPts val="2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Sovereign Local RAG (Ramsar/CPCB)</a:t>
            </a:r>
          </a:p>
          <a:p>
            <a:pPr>
              <a:spcAft>
                <a:spcPts val="2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Few-Shot Land-Cover Classification</a:t>
            </a:r>
          </a:p>
          <a:p>
            <a:pPr>
              <a:spcAft>
                <a:spcPts val="2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Gemini 3.7: Deep CoT synthesis</a:t>
            </a:r>
          </a:p>
          <a:p>
            <a:pPr>
              <a:spcAft>
                <a:spcPts val="2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Google Search &amp; Drone Vision</a:t>
            </a:r>
          </a:p>
          <a:p>
            <a:pPr>
              <a:spcAft>
                <a:spcPts val="2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OUTPUT: Policy &amp; Audit JSON Bundle</a:t>
            </a:r>
          </a:p>
        </p:txBody>
      </p:sp>
      <p:pic>
        <p:nvPicPr>
          <p:cNvPr id="26" name="Picture 25" descr="node4_gemini_ai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0" y="4617720"/>
            <a:ext cx="2560320" cy="1691640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8961120" y="4617720"/>
            <a:ext cx="2560320" cy="1691640"/>
          </a:xfrm>
          <a:prstGeom prst="rect">
            <a:avLst/>
          </a:prstGeom>
          <a:noFill/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070848" y="4727448"/>
            <a:ext cx="1600200" cy="219456"/>
          </a:xfrm>
          <a:prstGeom prst="roundRect">
            <a:avLst/>
          </a:prstGeom>
          <a:solidFill>
            <a:srgbClr val="030712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700" b="1">
                <a:solidFill>
                  <a:srgbClr val="22D3EE"/>
                </a:solidFill>
                <a:latin typeface="Consolas"/>
              </a:defRPr>
            </a:pPr>
            <a:r>
              <a:t>SOVEREIGN RAG + AI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6473952"/>
            <a:ext cx="106984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750">
                <a:solidFill>
                  <a:srgbClr val="738CAD"/>
                </a:solidFill>
                <a:latin typeface="Consolas"/>
              </a:defRPr>
            </a:pPr>
            <a:r>
              <a:t>AQUASENSE OBSERVATORY • S2 L2A MSI + S1 C-SAR + DEM • 12-D SPECTRAL RAG • 10m/px • SOVEREIGN FEW-SHOT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645920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75488"/>
            <a:ext cx="2011680" cy="256032"/>
          </a:xfrm>
          <a:prstGeom prst="roundRect">
            <a:avLst/>
          </a:prstGeom>
          <a:solidFill>
            <a:srgbClr val="0C1E3D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850" b="1">
                <a:solidFill>
                  <a:srgbClr val="FBBF24"/>
                </a:solidFill>
                <a:latin typeface="Consolas"/>
              </a:defRPr>
            </a:pPr>
            <a:r>
              <a:t>ORBIT 05 // TECHNICAL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F0FDFA"/>
                </a:solidFill>
                <a:latin typeface="Trebuchet MS"/>
              </a:defRPr>
            </a:pPr>
            <a:r>
              <a:t>End-to-End System Architecture &amp; Technical Blueprint</a:t>
            </a:r>
          </a:p>
          <a:p>
            <a:pPr>
              <a:spcBef>
                <a:spcPts val="200"/>
              </a:spcBef>
              <a:defRPr sz="1100">
                <a:solidFill>
                  <a:srgbClr val="738CAD"/>
                </a:solidFill>
                <a:latin typeface="Calibri"/>
              </a:defRPr>
            </a:pPr>
            <a:r>
              <a:t>Comprehensive architecture connecting STAC multi-sensor nodes, 12-D tensor engine, few-shot classifier, local RAG vector store, and Gemini intelligence suite.</a:t>
            </a:r>
          </a:p>
        </p:txBody>
      </p:sp>
      <p:pic>
        <p:nvPicPr>
          <p:cNvPr id="5" name="Picture 4" descr="technical_approach_diagr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463040"/>
            <a:ext cx="10698480" cy="47091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31520" y="1463040"/>
            <a:ext cx="10698480" cy="4709160"/>
          </a:xfrm>
          <a:prstGeom prst="rect">
            <a:avLst/>
          </a:prstGeom>
          <a:noFill/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41248" y="1572768"/>
            <a:ext cx="3863339" cy="219456"/>
          </a:xfrm>
          <a:prstGeom prst="roundRect">
            <a:avLst/>
          </a:prstGeom>
          <a:solidFill>
            <a:srgbClr val="030712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700" b="1">
                <a:solidFill>
                  <a:srgbClr val="22D3EE"/>
                </a:solidFill>
                <a:latin typeface="Consolas"/>
              </a:defRPr>
            </a:pPr>
            <a:r>
              <a:t>SYSTEM ARCHITECTURE // COMPLETE TECHNICAL BLUEPRINT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73952"/>
            <a:ext cx="106984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750">
                <a:solidFill>
                  <a:srgbClr val="738CAD"/>
                </a:solidFill>
                <a:latin typeface="Consolas"/>
              </a:defRPr>
            </a:pPr>
            <a:r>
              <a:t>AQUASENSE OBSERVATORY • S2 L2A MSI + S1 C-SAR + DEM • 12-D SPECTRAL RAG • 10m/px • SOVEREIGN FEW-SHOT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645920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75488"/>
            <a:ext cx="2011680" cy="256032"/>
          </a:xfrm>
          <a:prstGeom prst="roundRect">
            <a:avLst/>
          </a:prstGeom>
          <a:solidFill>
            <a:srgbClr val="0C1E3D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850" b="1">
                <a:solidFill>
                  <a:srgbClr val="FBBF24"/>
                </a:solidFill>
                <a:latin typeface="Consolas"/>
              </a:defRPr>
            </a:pPr>
            <a:r>
              <a:t>ORBIT 06 // REMOTE SENSING PHYSICS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F0FDFA"/>
                </a:solidFill>
                <a:latin typeface="Trebuchet MS"/>
              </a:defRPr>
            </a:pPr>
            <a:r>
              <a:t>Multi-Sensor Electromagnetics &amp; Bio-Optical Formulations</a:t>
            </a:r>
          </a:p>
          <a:p>
            <a:pPr>
              <a:spcBef>
                <a:spcPts val="200"/>
              </a:spcBef>
              <a:defRPr sz="1100">
                <a:solidFill>
                  <a:srgbClr val="738CAD"/>
                </a:solidFill>
                <a:latin typeface="Calibri"/>
              </a:defRPr>
            </a:pPr>
            <a:r>
              <a:t>Physical wavelength properties, radar backscatter, 3D hypsometry, and bio-optical water quality models.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852160" cy="4480560"/>
          </a:xfrm>
          <a:prstGeom prst="rect">
            <a:avLst/>
          </a:prstGeom>
          <a:solidFill>
            <a:srgbClr val="0C1E3D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92224"/>
            <a:ext cx="54864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ELECTROMAGNETIC SPECTRUM &amp; RADAR</a:t>
            </a:r>
          </a:p>
          <a:p>
            <a:pPr>
              <a:defRPr sz="1150" b="1">
                <a:solidFill>
                  <a:srgbClr val="F0FDFA"/>
                </a:solidFill>
                <a:latin typeface="Trebuchet MS"/>
              </a:defRPr>
            </a:pPr>
            <a:r>
              <a:t>Multi-Sensor Constellation Physics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914400" y="2377440"/>
          <a:ext cx="54864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005840"/>
                <a:gridCol w="822960"/>
                <a:gridCol w="2377440"/>
              </a:tblGrid>
              <a:tr h="352697">
                <a:tc>
                  <a:txBody>
                    <a:bodyPr/>
                    <a:lstStyle/>
                    <a:p>
                      <a:pPr algn="l">
                        <a:defRPr sz="800" b="1">
                          <a:solidFill>
                            <a:srgbClr val="22D3EE"/>
                          </a:solidFill>
                          <a:latin typeface="Consolas"/>
                        </a:defRPr>
                      </a:pPr>
                      <a:r>
                        <a:t>SENSOR / BAND</a:t>
                      </a:r>
                    </a:p>
                  </a:txBody>
                  <a:tcPr>
                    <a:solidFill>
                      <a:srgbClr val="1735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00" b="1">
                          <a:solidFill>
                            <a:srgbClr val="22D3EE"/>
                          </a:solidFill>
                          <a:latin typeface="Consolas"/>
                        </a:defRPr>
                      </a:pPr>
                      <a:r>
                        <a:t>WAVELENGTH / FREQ</a:t>
                      </a:r>
                    </a:p>
                  </a:txBody>
                  <a:tcPr>
                    <a:solidFill>
                      <a:srgbClr val="1735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00" b="1">
                          <a:solidFill>
                            <a:srgbClr val="22D3EE"/>
                          </a:solidFill>
                          <a:latin typeface="Consolas"/>
                        </a:defRPr>
                      </a:pPr>
                      <a:r>
                        <a:t>RESOLUTION</a:t>
                      </a:r>
                    </a:p>
                  </a:txBody>
                  <a:tcPr>
                    <a:solidFill>
                      <a:srgbClr val="1735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00" b="1">
                          <a:solidFill>
                            <a:srgbClr val="22D3EE"/>
                          </a:solidFill>
                          <a:latin typeface="Consolas"/>
                        </a:defRPr>
                      </a:pPr>
                      <a:r>
                        <a:t>PHYSICAL ROLE IN AQUASENSE</a:t>
                      </a:r>
                    </a:p>
                  </a:txBody>
                  <a:tcPr>
                    <a:solidFill>
                      <a:srgbClr val="173564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0FDFA"/>
                          </a:solidFill>
                          <a:latin typeface="Calibri"/>
                        </a:defRPr>
                      </a:pPr>
                      <a:r>
                        <a:t>S2 B03 (Green)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560 nm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10 m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Primary NDWI numerator (high water reflection)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0FDFA"/>
                          </a:solidFill>
                          <a:latin typeface="Calibri"/>
                        </a:defRPr>
                      </a:pPr>
                      <a:r>
                        <a:t>S2 B04 (Red)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665 nm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10 m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Chlorophyll absorption &amp; NDTI turbidity numerator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0FDFA"/>
                          </a:solidFill>
                          <a:latin typeface="Calibri"/>
                        </a:defRPr>
                      </a:pPr>
                      <a:r>
                        <a:t>S2 B05 (Red-Edge)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705 nm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20 m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Phytoplankton bloom scattering peak (NDCI)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0FDFA"/>
                          </a:solidFill>
                          <a:latin typeface="Calibri"/>
                        </a:defRPr>
                      </a:pPr>
                      <a:r>
                        <a:t>S2 B08 (NIR)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842 nm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10 m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Pure water absorption (NDWI denominator)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0FDFA"/>
                          </a:solidFill>
                          <a:latin typeface="Calibri"/>
                        </a:defRPr>
                      </a:pPr>
                      <a:r>
                        <a:t>S1 C-Band SAR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5.405 GHz (5.6cm)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10 m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All-weather cloud penetration via specular backscatter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</a:tr>
              <a:tr h="352698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0FDFA"/>
                          </a:solidFill>
                          <a:latin typeface="Calibri"/>
                        </a:defRPr>
                      </a:pPr>
                      <a:r>
                        <a:t>Copernicus DEM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GLO-30 Topography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30 m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Hypsometric depth integration: V = ∫ A(z)dz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914400" y="4983480"/>
            <a:ext cx="5486400" cy="1005840"/>
          </a:xfrm>
          <a:prstGeom prst="rect">
            <a:avLst/>
          </a:prstGeom>
          <a:solidFill>
            <a:srgbClr val="071326"/>
          </a:solidFill>
          <a:ln w="12700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5029200"/>
            <a:ext cx="521208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00" b="1">
                <a:solidFill>
                  <a:srgbClr val="22D3EE"/>
                </a:solidFill>
                <a:latin typeface="Consolas"/>
              </a:defRPr>
            </a:pPr>
            <a:r>
              <a:t>NDTI = (B04 - B03)/(B04 + B03) [Turbidity NTU]  |  NDCI = (B05 - B04)/(B05 + B04) [Chl-a µg/L]</a:t>
            </a:r>
          </a:p>
          <a:p>
            <a:pPr>
              <a:spcBef>
                <a:spcPts val="200"/>
              </a:spcBef>
              <a:defRPr sz="800">
                <a:solidFill>
                  <a:srgbClr val="CADAEE"/>
                </a:solidFill>
                <a:latin typeface="Consolas"/>
              </a:defRPr>
            </a:pPr>
            <a:r>
              <a:t>3D Hypsometry: V(h) = sum 1/3(A_i + sqrt(A_i * A_{i+1}) + A_{i+1}) * Delta_h  |  WQI in [0, 100]</a:t>
            </a:r>
          </a:p>
        </p:txBody>
      </p:sp>
      <p:pic>
        <p:nvPicPr>
          <p:cNvPr id="10" name="Picture 9" descr="wetland_ndwi_spectr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645920"/>
            <a:ext cx="4572000" cy="338328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858000" y="1645920"/>
            <a:ext cx="4572000" cy="3383280"/>
          </a:xfrm>
          <a:prstGeom prst="rect">
            <a:avLst/>
          </a:prstGeom>
          <a:noFill/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967728" y="1755648"/>
            <a:ext cx="2766060" cy="219456"/>
          </a:xfrm>
          <a:prstGeom prst="roundRect">
            <a:avLst/>
          </a:prstGeom>
          <a:solidFill>
            <a:srgbClr val="030712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700" b="1">
                <a:solidFill>
                  <a:srgbClr val="22D3EE"/>
                </a:solidFill>
                <a:latin typeface="Consolas"/>
              </a:defRPr>
            </a:pPr>
            <a:r>
              <a:t>TRUE-COLOR VS NDWI + SAR WATER MASK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5120640"/>
            <a:ext cx="4572000" cy="1005840"/>
          </a:xfrm>
          <a:prstGeom prst="rect">
            <a:avLst/>
          </a:prstGeom>
          <a:solidFill>
            <a:srgbClr val="0C1E3D"/>
          </a:solidFill>
          <a:ln w="12700">
            <a:solidFill>
              <a:srgbClr val="06D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0" y="5266944"/>
            <a:ext cx="420624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MULTI-SENSOR FUSED MASKS</a:t>
            </a:r>
          </a:p>
          <a:p>
            <a:pPr>
              <a:defRPr sz="1150" b="1">
                <a:solidFill>
                  <a:srgbClr val="F0FDFA"/>
                </a:solidFill>
                <a:latin typeface="Trebuchet MS"/>
              </a:defRPr>
            </a:pPr>
            <a:r>
              <a:t>Visualizing Hydrological Inundation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5532120"/>
            <a:ext cx="420624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Left: Sentinel-2 True Color (TCI) RGB optical view.</a:t>
            </a:r>
          </a:p>
          <a:p>
            <a:pPr>
              <a:spcAft>
                <a:spcPts val="1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Right: High-contrast NDWI + SAR radar fused water mask with 3D depth contours.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473952"/>
            <a:ext cx="106984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750">
                <a:solidFill>
                  <a:srgbClr val="738CAD"/>
                </a:solidFill>
                <a:latin typeface="Consolas"/>
              </a:defRPr>
            </a:pPr>
            <a:r>
              <a:t>AQUASENSE OBSERVATORY • S2 L2A MSI + S1 C-SAR + DEM • 12-D SPECTRAL RAG • 10m/px • SOVEREIGN FEW-SHOT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645920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75488"/>
            <a:ext cx="2011680" cy="256032"/>
          </a:xfrm>
          <a:prstGeom prst="roundRect">
            <a:avLst/>
          </a:prstGeom>
          <a:solidFill>
            <a:srgbClr val="0C1E3D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850" b="1">
                <a:solidFill>
                  <a:srgbClr val="FBBF24"/>
                </a:solidFill>
                <a:latin typeface="Consolas"/>
              </a:defRPr>
            </a:pPr>
            <a:r>
              <a:t>ORBIT 07 // PRODUCT INTERFACE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F0FDFA"/>
                </a:solidFill>
                <a:latin typeface="Trebuchet MS"/>
              </a:defRPr>
            </a:pPr>
            <a:r>
              <a:t>AquaSense Cartographic Observatory &amp; Streamlined Layout</a:t>
            </a:r>
          </a:p>
          <a:p>
            <a:pPr>
              <a:spcBef>
                <a:spcPts val="200"/>
              </a:spcBef>
              <a:defRPr sz="1100">
                <a:solidFill>
                  <a:srgbClr val="738CAD"/>
                </a:solidFill>
                <a:latin typeface="Calibri"/>
              </a:defRPr>
            </a:pPr>
            <a:r>
              <a:t>High-density scientific user interface delivering synchronized spatial, spectral, volumetric, and temporal insights.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2926080" cy="4480560"/>
          </a:xfrm>
          <a:prstGeom prst="rect">
            <a:avLst/>
          </a:prstGeom>
          <a:solidFill>
            <a:srgbClr val="0C1E3D"/>
          </a:solidFill>
          <a:ln w="12700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92224"/>
            <a:ext cx="25603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LEFT: CONFIG &amp; VOLUMETRICS</a:t>
            </a:r>
          </a:p>
          <a:p>
            <a:pPr>
              <a:defRPr sz="1150" b="1">
                <a:solidFill>
                  <a:srgbClr val="F0FDFA"/>
                </a:solidFill>
                <a:latin typeface="Trebuchet MS"/>
              </a:defRPr>
            </a:pPr>
            <a:r>
              <a:t>Telemetry &amp; Hydro-Depth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77440"/>
            <a:ext cx="256032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• Hero Setup &amp; Collapsible Rail:</a:t>
            </a:r>
          </a:p>
          <a:p>
            <a:pPr>
              <a:spcAft>
                <a:spcPts val="30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  Prominent initialization console animating into dock/undock sidebar.</a:t>
            </a:r>
          </a:p>
          <a:p>
            <a:pPr>
              <a:spcAft>
                <a:spcPts val="300"/>
              </a:spcAft>
              <a:defRPr sz="900">
                <a:solidFill>
                  <a:srgbClr val="CADAEE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• Interactive 8-Point BBOX Map:</a:t>
            </a:r>
          </a:p>
          <a:p>
            <a:pPr>
              <a:spcAft>
                <a:spcPts val="30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  Draggable anchor handles for custom spatial bounds [minLon, minLat, maxLon, maxLat].</a:t>
            </a:r>
          </a:p>
          <a:p>
            <a:pPr>
              <a:spcAft>
                <a:spcPts val="300"/>
              </a:spcAft>
              <a:defRPr sz="900">
                <a:solidFill>
                  <a:srgbClr val="CADAEE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• 3D Hydro-Depth &amp; Bio-Optics:</a:t>
            </a:r>
          </a:p>
          <a:p>
            <a:pPr>
              <a:spcAft>
                <a:spcPts val="30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  Recharts Area-Elevation volume curves, NTU turbidity, Chl-a, and CDOM.</a:t>
            </a:r>
          </a:p>
          <a:p>
            <a:pPr>
              <a:spcAft>
                <a:spcPts val="300"/>
              </a:spcAft>
              <a:defRPr sz="900">
                <a:solidFill>
                  <a:srgbClr val="CADAEE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• Spectral Cutoff Tuning Sliders:</a:t>
            </a:r>
          </a:p>
          <a:p>
            <a:pPr>
              <a:spcAft>
                <a:spcPts val="30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  Optical NDWI cutoff &amp; SAR dB threshold.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1645920"/>
            <a:ext cx="4480560" cy="4480560"/>
          </a:xfrm>
          <a:prstGeom prst="rect">
            <a:avLst/>
          </a:prstGeom>
          <a:solidFill>
            <a:srgbClr val="132B54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023360" y="1792224"/>
            <a:ext cx="41148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CENTER: STREAMLINED 5-CORE MODES</a:t>
            </a:r>
          </a:p>
          <a:p>
            <a:pPr>
              <a:defRPr sz="1150" b="1">
                <a:solidFill>
                  <a:srgbClr val="F0FDFA"/>
                </a:solidFill>
                <a:latin typeface="Trebuchet MS"/>
              </a:defRPr>
            </a:pPr>
            <a:r>
              <a:t>Observatory Canvas Stage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2377440"/>
            <a:ext cx="411480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5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• 5 Streamlined Core View Modes:</a:t>
            </a:r>
          </a:p>
          <a:p>
            <a:pPr>
              <a:spcAft>
                <a:spcPts val="25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  1. [TRUE COLOR SWIPE] - Baseline RGB swipe</a:t>
            </a:r>
          </a:p>
          <a:p>
            <a:pPr>
              <a:spcAft>
                <a:spcPts val="25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  2. [NDWI WATER INDEX] - Pure water delineation</a:t>
            </a:r>
          </a:p>
          <a:p>
            <a:pPr>
              <a:spcAft>
                <a:spcPts val="25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  3. [SAR RADAR C-BAND] - All-weather microwave</a:t>
            </a:r>
          </a:p>
          <a:p>
            <a:pPr>
              <a:spcAft>
                <a:spcPts val="25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  4. [ALL-WEATHER FUSION] - Dual-sensor cross-val</a:t>
            </a:r>
          </a:p>
          <a:p>
            <a:pPr>
              <a:spcAft>
                <a:spcPts val="25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  5. [CHANGE DELTA] - Tri-state loss/gain matrix</a:t>
            </a:r>
          </a:p>
          <a:p>
            <a:pPr>
              <a:spcAft>
                <a:spcPts val="250"/>
              </a:spcAft>
              <a:defRPr sz="900">
                <a:solidFill>
                  <a:srgbClr val="CADAEE"/>
                </a:solidFill>
                <a:latin typeface="Calibri"/>
              </a:defRPr>
            </a:pPr>
          </a:p>
          <a:p>
            <a:pPr>
              <a:spcAft>
                <a:spcPts val="25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• Bio-Optics &amp; 3D Dropdown Selector:</a:t>
            </a:r>
          </a:p>
          <a:p>
            <a:pPr>
              <a:spcAft>
                <a:spcPts val="25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  3D Depth ($m^3$), Turbidity, Chl-a, and CDOM.</a:t>
            </a:r>
          </a:p>
          <a:p>
            <a:pPr>
              <a:spcAft>
                <a:spcPts val="250"/>
              </a:spcAft>
              <a:defRPr sz="900">
                <a:solidFill>
                  <a:srgbClr val="CADAEE"/>
                </a:solidFill>
                <a:latin typeface="Calibri"/>
              </a:defRPr>
            </a:pPr>
          </a:p>
          <a:p>
            <a:pPr>
              <a:spcAft>
                <a:spcPts val="25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• Interactive Mode Physics Guide HUD:</a:t>
            </a:r>
          </a:p>
          <a:p>
            <a:pPr>
              <a:spcAft>
                <a:spcPts val="25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  Displays active formula, mini-summary, physical mechanism, and diagnostic utility.</a:t>
            </a:r>
          </a:p>
          <a:p>
            <a:pPr>
              <a:spcAft>
                <a:spcPts val="250"/>
              </a:spcAft>
              <a:defRPr sz="900">
                <a:solidFill>
                  <a:srgbClr val="CADAEE"/>
                </a:solidFill>
                <a:latin typeface="Calibri"/>
              </a:defRPr>
            </a:pPr>
          </a:p>
          <a:p>
            <a:pPr>
              <a:spcAft>
                <a:spcPts val="25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• 7 Scientific LUT Palettes with Needle Bar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03920" y="1645920"/>
            <a:ext cx="2926080" cy="4480560"/>
          </a:xfrm>
          <a:prstGeom prst="rect">
            <a:avLst/>
          </a:prstGeom>
          <a:solidFill>
            <a:srgbClr val="0C1E3D"/>
          </a:solidFill>
          <a:ln w="12700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0" y="1792224"/>
            <a:ext cx="25603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RIGHT: METRICS &amp; REASONING</a:t>
            </a:r>
          </a:p>
          <a:p>
            <a:pPr>
              <a:defRPr sz="1150" b="1">
                <a:solidFill>
                  <a:srgbClr val="F0FDFA"/>
                </a:solidFill>
                <a:latin typeface="Trebuchet MS"/>
              </a:defRPr>
            </a:pPr>
            <a:r>
              <a:t>Quantification &amp; Dual 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2377440"/>
            <a:ext cx="256032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• Hydrological Change Matrix:</a:t>
            </a:r>
          </a:p>
          <a:p>
            <a:pPr>
              <a:spcAft>
                <a:spcPts val="30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  Baseline vs. Target area (km²) &amp; volume (MCM).</a:t>
            </a:r>
          </a:p>
          <a:p>
            <a:pPr>
              <a:spcAft>
                <a:spcPts val="30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  Net Change: -0.64 km² (-15.53%).</a:t>
            </a:r>
          </a:p>
          <a:p>
            <a:pPr>
              <a:spcAft>
                <a:spcPts val="300"/>
              </a:spcAft>
              <a:defRPr sz="900">
                <a:solidFill>
                  <a:srgbClr val="CADAEE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• Multi-Year Recharts Trajectory:</a:t>
            </a:r>
          </a:p>
          <a:p>
            <a:pPr>
              <a:spcAft>
                <a:spcPts val="30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  Annual intermediate STAC samples.</a:t>
            </a:r>
          </a:p>
          <a:p>
            <a:pPr>
              <a:spcAft>
                <a:spcPts val="300"/>
              </a:spcAft>
              <a:defRPr sz="900">
                <a:solidFill>
                  <a:srgbClr val="CADAEE"/>
                </a:solidFill>
                <a:latin typeface="Calibri"/>
              </a:defRPr>
            </a:pPr>
          </a:p>
          <a:p>
            <a:pPr>
              <a:spcAft>
                <a:spcPts val="30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• Dual AI Intelligence Tabs:</a:t>
            </a:r>
          </a:p>
          <a:p>
            <a:pPr>
              <a:spcAft>
                <a:spcPts val="30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  1. Gemini 3.7 CoT Deep Synthesis</a:t>
            </a:r>
          </a:p>
          <a:p>
            <a:pPr>
              <a:spcAft>
                <a:spcPts val="30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  2. Search &amp; Maps Grounding</a:t>
            </a:r>
          </a:p>
          <a:p>
            <a:pPr>
              <a:spcAft>
                <a:spcPts val="30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  3. Drone Multimodal Vision</a:t>
            </a:r>
          </a:p>
          <a:p>
            <a:pPr>
              <a:spcAft>
                <a:spcPts val="30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  4. Sovereign 12-D Tensor &amp; RAG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473952"/>
            <a:ext cx="106984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750">
                <a:solidFill>
                  <a:srgbClr val="738CAD"/>
                </a:solidFill>
                <a:latin typeface="Consolas"/>
              </a:defRPr>
            </a:pPr>
            <a:r>
              <a:t>AQUASENSE OBSERVATORY • S2 L2A MSI + S1 C-SAR + DEM • 12-D SPECTRAL RAG • 10m/px • SOVEREIGN FEW-SHOT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645920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75488"/>
            <a:ext cx="2011680" cy="256032"/>
          </a:xfrm>
          <a:prstGeom prst="roundRect">
            <a:avLst/>
          </a:prstGeom>
          <a:solidFill>
            <a:srgbClr val="0C1E3D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850" b="1">
                <a:solidFill>
                  <a:srgbClr val="FBBF24"/>
                </a:solidFill>
                <a:latin typeface="Consolas"/>
              </a:defRPr>
            </a:pPr>
            <a:r>
              <a:t>ORBIT 08 // DUAL AI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F0FDFA"/>
                </a:solidFill>
                <a:latin typeface="Trebuchet MS"/>
              </a:defRPr>
            </a:pPr>
            <a:r>
              <a:t>Cloud Gemini 3.7 &amp; Sovereign 12-D Local RAG Engine</a:t>
            </a:r>
          </a:p>
          <a:p>
            <a:pPr>
              <a:spcBef>
                <a:spcPts val="200"/>
              </a:spcBef>
              <a:defRPr sz="1100">
                <a:solidFill>
                  <a:srgbClr val="738CAD"/>
                </a:solidFill>
                <a:latin typeface="Calibri"/>
              </a:defRPr>
            </a:pPr>
            <a:r>
              <a:t>Combining cloud multimodal reasoning with sovereign in-memory vector RAG and few-shot classification.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852160" cy="1417320"/>
          </a:xfrm>
          <a:prstGeom prst="rect">
            <a:avLst/>
          </a:prstGeom>
          <a:solidFill>
            <a:srgbClr val="0C1E3D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92224"/>
            <a:ext cx="54864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GEMINI-3.7-FLASH (COT THINKING)</a:t>
            </a:r>
          </a:p>
          <a:p>
            <a:pPr>
              <a:defRPr sz="1150" b="1">
                <a:solidFill>
                  <a:srgbClr val="F0FDFA"/>
                </a:solidFill>
                <a:latin typeface="Trebuchet MS"/>
              </a:defRPr>
            </a:pPr>
            <a:r>
              <a:t>🧠 DEEP ECOLOGICAL REASONING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31720"/>
            <a:ext cx="54864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Formulates structured hydrological trajectory reports.</a:t>
            </a:r>
          </a:p>
          <a:p>
            <a:pPr>
              <a:spcAft>
                <a:spcPts val="1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Isolates primary drivers (urban encroachment, rainfall deficits).</a:t>
            </a:r>
          </a:p>
          <a:p>
            <a:pPr>
              <a:spcAft>
                <a:spcPts val="1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Assesses flood attenuation &amp; groundwater ecosystem services.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182112"/>
            <a:ext cx="5852160" cy="1417320"/>
          </a:xfrm>
          <a:prstGeom prst="rect">
            <a:avLst/>
          </a:prstGeom>
          <a:solidFill>
            <a:srgbClr val="0C1E3D"/>
          </a:solidFill>
          <a:ln w="12700">
            <a:solidFill>
              <a:srgbClr val="06D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328416"/>
            <a:ext cx="54864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GEMINI-3.5-FLASH + TOOLS</a:t>
            </a:r>
          </a:p>
          <a:p>
            <a:pPr>
              <a:defRPr sz="1150" b="1">
                <a:solidFill>
                  <a:srgbClr val="F0FDFA"/>
                </a:solidFill>
                <a:latin typeface="Trebuchet MS"/>
              </a:defRPr>
            </a:pPr>
            <a:r>
              <a:t>🔍 SEARCH &amp; MAPS GROUNDING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867912"/>
            <a:ext cx="54864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Integrates live Google Search for municipal restoration orders.</a:t>
            </a:r>
          </a:p>
          <a:p>
            <a:pPr>
              <a:spcAft>
                <a:spcPts val="1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Google Maps spatial database identifies surrounding IT corridors.</a:t>
            </a:r>
          </a:p>
          <a:p>
            <a:pPr>
              <a:spcAft>
                <a:spcPts val="1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Returns verifiable, clickable grounding citations.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718304"/>
            <a:ext cx="5852160" cy="1417320"/>
          </a:xfrm>
          <a:prstGeom prst="rect">
            <a:avLst/>
          </a:prstGeom>
          <a:solidFill>
            <a:srgbClr val="0C1E3D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864608"/>
            <a:ext cx="54864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IN-MEMORY VECTOR STORE (&lt;35MS)</a:t>
            </a:r>
          </a:p>
          <a:p>
            <a:pPr>
              <a:defRPr sz="1150" b="1">
                <a:solidFill>
                  <a:srgbClr val="F0FDFA"/>
                </a:solidFill>
                <a:latin typeface="Trebuchet MS"/>
              </a:defRPr>
            </a:pPr>
            <a:r>
              <a:t>🧬 SOVEREIGN 12-D LOCAL RAG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404104"/>
            <a:ext cx="548640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Ingests Ramsar criteria, CPCB Class A-E standards, WHO limits.</a:t>
            </a:r>
          </a:p>
          <a:p>
            <a:pPr>
              <a:spcAft>
                <a:spcPts val="1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Cosine Top-K retrieval &amp; deterministic assessment synthesis.</a:t>
            </a:r>
          </a:p>
          <a:p>
            <a:pPr>
              <a:spcAft>
                <a:spcPts val="1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100% sovereign, private, and zero cloud API dependency.</a:t>
            </a:r>
          </a:p>
        </p:txBody>
      </p:sp>
      <p:pic>
        <p:nvPicPr>
          <p:cNvPr id="14" name="Picture 13" descr="multimodal_field_dro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645920"/>
            <a:ext cx="4572000" cy="310896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858000" y="1645920"/>
            <a:ext cx="4572000" cy="3108960"/>
          </a:xfrm>
          <a:prstGeom prst="rect">
            <a:avLst/>
          </a:prstGeom>
          <a:noFill/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967728" y="1755648"/>
            <a:ext cx="2217420" cy="219456"/>
          </a:xfrm>
          <a:prstGeom prst="roundRect">
            <a:avLst/>
          </a:prstGeom>
          <a:solidFill>
            <a:srgbClr val="030712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700" b="1">
                <a:solidFill>
                  <a:srgbClr val="22D3EE"/>
                </a:solidFill>
                <a:latin typeface="Consolas"/>
              </a:defRPr>
            </a:pPr>
            <a:r>
              <a:t>MULTIMODAL FIELD VALIDATION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0" y="4846320"/>
            <a:ext cx="4572000" cy="1280160"/>
          </a:xfrm>
          <a:prstGeom prst="rect">
            <a:avLst/>
          </a:prstGeom>
          <a:solidFill>
            <a:srgbClr val="0C1E3D"/>
          </a:solidFill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0" y="4992624"/>
            <a:ext cx="420624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GEMINI 3.7 FLASH (MULTIMODAL VISION)</a:t>
            </a:r>
          </a:p>
          <a:p>
            <a:pPr>
              <a:defRPr sz="1150" b="1">
                <a:solidFill>
                  <a:srgbClr val="F0FDFA"/>
                </a:solidFill>
                <a:latin typeface="Trebuchet MS"/>
              </a:defRPr>
            </a:pPr>
            <a:r>
              <a:t>📸 Drone &amp; Ground-Truth Photo Understanding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5440680"/>
            <a:ext cx="42062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Ingests field photos, drone captures, or handheld phone images.</a:t>
            </a:r>
          </a:p>
          <a:p>
            <a:pPr>
              <a:spcAft>
                <a:spcPts val="1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Evaluates water turbidity, surface algae, and hyacinth mats.</a:t>
            </a:r>
          </a:p>
          <a:p>
            <a:pPr>
              <a:spcAft>
                <a:spcPts val="100"/>
              </a:spcAft>
              <a:defRPr sz="850">
                <a:solidFill>
                  <a:srgbClr val="CADAEE"/>
                </a:solidFill>
                <a:latin typeface="Calibri"/>
              </a:defRPr>
            </a:pPr>
            <a:r>
              <a:t>• Produces estimated Few-Shot class confidence breakdowns.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6473952"/>
            <a:ext cx="106984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750">
                <a:solidFill>
                  <a:srgbClr val="738CAD"/>
                </a:solidFill>
                <a:latin typeface="Consolas"/>
              </a:defRPr>
            </a:pPr>
            <a:r>
              <a:t>AQUASENSE OBSERVATORY • S2 L2A MSI + S1 C-SAR + DEM • 12-D SPECTRAL RAG • 10m/px • SOVEREIGN FEW-SHOT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645920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75488"/>
            <a:ext cx="2011680" cy="256032"/>
          </a:xfrm>
          <a:prstGeom prst="roundRect">
            <a:avLst/>
          </a:prstGeom>
          <a:solidFill>
            <a:srgbClr val="0C1E3D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850" b="1">
                <a:solidFill>
                  <a:srgbClr val="FBBF24"/>
                </a:solidFill>
                <a:latin typeface="Consolas"/>
              </a:defRPr>
            </a:pPr>
            <a:r>
              <a:t>ORBIT 09 // SOVEREIGN MACHINE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F0FDFA"/>
                </a:solidFill>
                <a:latin typeface="Trebuchet MS"/>
              </a:defRPr>
            </a:pPr>
            <a:r>
              <a:t>12-Dimensional Radiometric Extractor &amp; Few-Shot ML</a:t>
            </a:r>
          </a:p>
          <a:p>
            <a:pPr>
              <a:spcBef>
                <a:spcPts val="200"/>
              </a:spcBef>
              <a:defRPr sz="1100">
                <a:solidFill>
                  <a:srgbClr val="738CAD"/>
                </a:solidFill>
                <a:latin typeface="Calibri"/>
              </a:defRPr>
            </a:pPr>
            <a:r>
              <a:t>Deterministic mathematical feature tensors feeding localized classifiers and statutory RAG retrieval.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212080" cy="4480560"/>
          </a:xfrm>
          <a:prstGeom prst="rect">
            <a:avLst/>
          </a:prstGeom>
          <a:solidFill>
            <a:srgbClr val="0C1E3D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92224"/>
            <a:ext cx="48463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SPECTRAL12D EXTRACTOR ENGINE</a:t>
            </a:r>
          </a:p>
          <a:p>
            <a:pPr>
              <a:defRPr sz="1150" b="1">
                <a:solidFill>
                  <a:srgbClr val="F0FDFA"/>
                </a:solidFill>
                <a:latin typeface="Trebuchet MS"/>
              </a:defRPr>
            </a:pPr>
            <a:r>
              <a:t>12-D Radiometric Tensor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77440"/>
            <a:ext cx="484632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5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1. 12-DIMENSIONAL FEATURE TENSOR DEFINITION:</a:t>
            </a:r>
          </a:p>
          <a:p>
            <a:pPr>
              <a:spcAft>
                <a:spcPts val="25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   e = [B02, B03, B04, B08, NDWI, MNDWI, NDTI, NDCI, VV, VH, Delta_DEM, WQI]</a:t>
            </a:r>
          </a:p>
          <a:p>
            <a:pPr>
              <a:spcAft>
                <a:spcPts val="25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   • Combines visible bands, optical water indices, SAR radar backscatter, topographic elevation, and water quality index.</a:t>
            </a:r>
          </a:p>
          <a:p>
            <a:pPr>
              <a:spcAft>
                <a:spcPts val="250"/>
              </a:spcAft>
              <a:defRPr sz="900">
                <a:solidFill>
                  <a:srgbClr val="CADAEE"/>
                </a:solidFill>
                <a:latin typeface="Calibri"/>
              </a:defRPr>
            </a:pPr>
          </a:p>
          <a:p>
            <a:pPr>
              <a:spcAft>
                <a:spcPts val="25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2. DETERMINISTIC RADIOMETRIC PHYSICS:</a:t>
            </a:r>
          </a:p>
          <a:p>
            <a:pPr>
              <a:spcAft>
                <a:spcPts val="25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   • B02-B08: Calibrated surface reflectance (0-1).</a:t>
            </a:r>
          </a:p>
          <a:p>
            <a:pPr>
              <a:spcAft>
                <a:spcPts val="25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   • NDWI &amp; MNDWI: Normalized Difference Water Indices.</a:t>
            </a:r>
          </a:p>
          <a:p>
            <a:pPr>
              <a:spcAft>
                <a:spcPts val="25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   • NDTI: Normalized Difference Turbidity Index (B04-B03)/(B04+B03).</a:t>
            </a:r>
          </a:p>
          <a:p>
            <a:pPr>
              <a:spcAft>
                <a:spcPts val="25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   • NDCI: Normalized Difference Chlorophyll Index (B05-B04)/(B05+B04).</a:t>
            </a:r>
          </a:p>
          <a:p>
            <a:pPr>
              <a:spcAft>
                <a:spcPts val="25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   • VV &amp; VH: Sentinel-1 C-band backscatter in decibels (dB).</a:t>
            </a:r>
          </a:p>
          <a:p>
            <a:pPr>
              <a:spcAft>
                <a:spcPts val="25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   • Delta_DEM: Copernicus GLO-30 topographic slope buffer.</a:t>
            </a:r>
          </a:p>
          <a:p>
            <a:pPr>
              <a:spcAft>
                <a:spcPts val="25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   • WQI: Aggregated bio-optical ecological score (0-100).</a:t>
            </a:r>
          </a:p>
          <a:p>
            <a:pPr>
              <a:spcAft>
                <a:spcPts val="250"/>
              </a:spcAft>
              <a:defRPr sz="900">
                <a:solidFill>
                  <a:srgbClr val="CADAEE"/>
                </a:solidFill>
                <a:latin typeface="Calibri"/>
              </a:defRPr>
            </a:pPr>
          </a:p>
          <a:p>
            <a:pPr>
              <a:spcAft>
                <a:spcPts val="25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3. ZERO-DEPENDENCY EDGE INFERENCE:</a:t>
            </a:r>
          </a:p>
          <a:p>
            <a:pPr>
              <a:spcAft>
                <a:spcPts val="25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   • Extracted in pure TypeScript/Node.js without external GPU.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645920"/>
            <a:ext cx="5212080" cy="4480560"/>
          </a:xfrm>
          <a:prstGeom prst="rect">
            <a:avLst/>
          </a:prstGeom>
          <a:solidFill>
            <a:srgbClr val="0C1E3D"/>
          </a:solidFill>
          <a:ln w="12700">
            <a:solidFill>
              <a:srgbClr val="06D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792224"/>
            <a:ext cx="48463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RAPID ADAPTATION OVER 12-D TENSORS</a:t>
            </a:r>
          </a:p>
          <a:p>
            <a:pPr>
              <a:defRPr sz="1150" b="1">
                <a:solidFill>
                  <a:srgbClr val="F0FDFA"/>
                </a:solidFill>
                <a:latin typeface="Trebuchet MS"/>
              </a:defRPr>
            </a:pPr>
            <a:r>
              <a:t>FewShotClassifier &amp; RAG Retrieval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377440"/>
            <a:ext cx="4846320" cy="3566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5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1. L2-REGULARIZED LOGISTIC REGRESSION:</a:t>
            </a:r>
          </a:p>
          <a:p>
            <a:pPr>
              <a:spcAft>
                <a:spcPts val="25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   Loss = -1/N sum [ w+ y log(sigma(z)) + w- (1-y) log(1-sigma(z)) ] + 1/(2C) ||w||²</a:t>
            </a:r>
          </a:p>
          <a:p>
            <a:pPr>
              <a:spcAft>
                <a:spcPts val="25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   • Inverse Class Frequency Weighting: w+ = N/(2*N+), w- = N/(2*N-).</a:t>
            </a:r>
          </a:p>
          <a:p>
            <a:pPr>
              <a:spcAft>
                <a:spcPts val="25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   • Output Classes: water, wetland, built_up.</a:t>
            </a:r>
          </a:p>
          <a:p>
            <a:pPr>
              <a:spcAft>
                <a:spcPts val="250"/>
              </a:spcAft>
              <a:defRPr sz="900">
                <a:solidFill>
                  <a:srgbClr val="CADAEE"/>
                </a:solidFill>
                <a:latin typeface="Calibri"/>
              </a:defRPr>
            </a:pPr>
          </a:p>
          <a:p>
            <a:pPr>
              <a:spcAft>
                <a:spcPts val="25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2. COSINE-WEIGHTED k-NEAREST NEIGHBORS (k-NN):</a:t>
            </a:r>
          </a:p>
          <a:p>
            <a:pPr>
              <a:spcAft>
                <a:spcPts val="25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   Distance = 1.0 - (x . r_j) / (||x|| * ||r_j||)</a:t>
            </a:r>
          </a:p>
          <a:p>
            <a:pPr>
              <a:spcAft>
                <a:spcPts val="25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   • Voting Weights: w_j = 1.0 / (dist_j + 1e-5).</a:t>
            </a:r>
          </a:p>
          <a:p>
            <a:pPr>
              <a:spcAft>
                <a:spcPts val="250"/>
              </a:spcAft>
              <a:defRPr sz="900">
                <a:solidFill>
                  <a:srgbClr val="CADAEE"/>
                </a:solidFill>
                <a:latin typeface="Calibri"/>
              </a:defRPr>
            </a:pPr>
          </a:p>
          <a:p>
            <a:pPr>
              <a:spcAft>
                <a:spcPts val="25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3. IN-MEMORY RAG STATUTORY RETRIEVAL:</a:t>
            </a:r>
          </a:p>
          <a:p>
            <a:pPr>
              <a:spcAft>
                <a:spcPts val="25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   • TF-IDF Cosine semantic similarity over Ramsar criteria, CPCB Class A-E benchmarks, and WHO limits.</a:t>
            </a:r>
          </a:p>
          <a:p>
            <a:pPr>
              <a:spcAft>
                <a:spcPts val="25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   • Top-K retrieved chunks feed structured markdown synthesizer.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73952"/>
            <a:ext cx="106984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750">
                <a:solidFill>
                  <a:srgbClr val="738CAD"/>
                </a:solidFill>
                <a:latin typeface="Consolas"/>
              </a:defRPr>
            </a:pPr>
            <a:r>
              <a:t>AQUASENSE OBSERVATORY • S2 L2A MSI + S1 C-SAR + DEM • 12-D SPECTRAL RAG • 10m/px • SOVEREIGN FEW-SHOT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645920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75488"/>
            <a:ext cx="2011680" cy="256032"/>
          </a:xfrm>
          <a:prstGeom prst="roundRect">
            <a:avLst/>
          </a:prstGeom>
          <a:solidFill>
            <a:srgbClr val="0C1E3D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850" b="1">
                <a:solidFill>
                  <a:srgbClr val="FBBF24"/>
                </a:solidFill>
                <a:latin typeface="Consolas"/>
              </a:defRPr>
            </a:pPr>
            <a:r>
              <a:t>ORBIT 10 // FIELD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F0FDFA"/>
                </a:solidFill>
                <a:latin typeface="Trebuchet MS"/>
              </a:defRPr>
            </a:pPr>
            <a:r>
              <a:t>Pallikaranai Ramsar Marshland Multi-Sensor Audit</a:t>
            </a:r>
          </a:p>
          <a:p>
            <a:pPr>
              <a:spcBef>
                <a:spcPts val="200"/>
              </a:spcBef>
              <a:defRPr sz="1100">
                <a:solidFill>
                  <a:srgbClr val="738CAD"/>
                </a:solidFill>
                <a:latin typeface="Calibri"/>
              </a:defRPr>
            </a:pPr>
            <a:r>
              <a:t>Quantifying surface water shrinkage, volumetric retention loss, and eutrophication across 2019-2025.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2560320" cy="1097280"/>
          </a:xfrm>
          <a:prstGeom prst="rect">
            <a:avLst/>
          </a:prstGeom>
          <a:solidFill>
            <a:srgbClr val="0C1E3D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91640"/>
            <a:ext cx="22860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22D3EE"/>
                </a:solidFill>
                <a:latin typeface="Trebuchet MS"/>
              </a:defRPr>
            </a:pPr>
            <a:r>
              <a:t>4.12 km²</a:t>
            </a:r>
          </a:p>
          <a:p>
            <a:pPr>
              <a:defRPr sz="800" b="1">
                <a:solidFill>
                  <a:srgbClr val="F0FDFA"/>
                </a:solidFill>
                <a:latin typeface="Consolas"/>
              </a:defRPr>
            </a:pPr>
            <a:r>
              <a:t>2019 BASELINE WATER (T0)</a:t>
            </a:r>
          </a:p>
          <a:p>
            <a:pPr>
              <a:defRPr sz="850">
                <a:solidFill>
                  <a:srgbClr val="738CAD"/>
                </a:solidFill>
              </a:defRPr>
            </a:pPr>
            <a:r>
              <a:t>Post-monsoon water surface extent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0" y="1645920"/>
            <a:ext cx="2560320" cy="1097280"/>
          </a:xfrm>
          <a:prstGeom prst="rect">
            <a:avLst/>
          </a:prstGeom>
          <a:solidFill>
            <a:srgbClr val="0C1E3D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11880" y="1691640"/>
            <a:ext cx="22860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0284C7"/>
                </a:solidFill>
                <a:latin typeface="Trebuchet MS"/>
              </a:defRPr>
            </a:pPr>
            <a:r>
              <a:t>3.48 km²</a:t>
            </a:r>
          </a:p>
          <a:p>
            <a:pPr>
              <a:defRPr sz="800" b="1">
                <a:solidFill>
                  <a:srgbClr val="F0FDFA"/>
                </a:solidFill>
                <a:latin typeface="Consolas"/>
              </a:defRPr>
            </a:pPr>
            <a:r>
              <a:t>2025 TARGET WATER (T1)</a:t>
            </a:r>
          </a:p>
          <a:p>
            <a:pPr>
              <a:defRPr sz="850">
                <a:solidFill>
                  <a:srgbClr val="738CAD"/>
                </a:solidFill>
              </a:defRPr>
            </a:pPr>
            <a:r>
              <a:t>Recent Sentinel-2/1 pass extent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645920"/>
            <a:ext cx="2560320" cy="1097280"/>
          </a:xfrm>
          <a:prstGeom prst="rect">
            <a:avLst/>
          </a:prstGeom>
          <a:solidFill>
            <a:srgbClr val="0C1E3D"/>
          </a:solidFill>
          <a:ln w="1905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691640"/>
            <a:ext cx="22860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43F5E"/>
                </a:solidFill>
                <a:latin typeface="Trebuchet MS"/>
              </a:defRPr>
            </a:pPr>
            <a:r>
              <a:t>-0.64 km²</a:t>
            </a:r>
          </a:p>
          <a:p>
            <a:pPr>
              <a:defRPr sz="800" b="1">
                <a:solidFill>
                  <a:srgbClr val="F0FDFA"/>
                </a:solidFill>
                <a:latin typeface="Consolas"/>
              </a:defRPr>
            </a:pPr>
            <a:r>
              <a:t>ABSOLUTE NET CHANGE</a:t>
            </a:r>
          </a:p>
          <a:p>
            <a:pPr>
              <a:defRPr sz="850">
                <a:solidFill>
                  <a:srgbClr val="738CAD"/>
                </a:solidFill>
              </a:defRPr>
            </a:pPr>
            <a:r>
              <a:t>Permanent water surface lost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61120" y="1645920"/>
            <a:ext cx="2560320" cy="1097280"/>
          </a:xfrm>
          <a:prstGeom prst="rect">
            <a:avLst/>
          </a:prstGeom>
          <a:solidFill>
            <a:srgbClr val="0C1E3D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98280" y="1691640"/>
            <a:ext cx="228600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000" b="1">
                <a:solidFill>
                  <a:srgbClr val="FBBF24"/>
                </a:solidFill>
                <a:latin typeface="Trebuchet MS"/>
              </a:defRPr>
            </a:pPr>
            <a:r>
              <a:t>-15.53%</a:t>
            </a:r>
          </a:p>
          <a:p>
            <a:pPr>
              <a:defRPr sz="800" b="1">
                <a:solidFill>
                  <a:srgbClr val="F0FDFA"/>
                </a:solidFill>
                <a:latin typeface="Consolas"/>
              </a:defRPr>
            </a:pPr>
            <a:r>
              <a:t>RELATIVE WETLAND LOSS</a:t>
            </a:r>
          </a:p>
          <a:p>
            <a:pPr>
              <a:defRPr sz="850">
                <a:solidFill>
                  <a:srgbClr val="738CAD"/>
                </a:solidFill>
              </a:defRPr>
            </a:pPr>
            <a:r>
              <a:t>Severe hydrological constriction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2926080"/>
            <a:ext cx="5212080" cy="3200400"/>
          </a:xfrm>
          <a:prstGeom prst="rect">
            <a:avLst/>
          </a:prstGeom>
          <a:solidFill>
            <a:srgbClr val="0C1E3D"/>
          </a:solidFill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072384"/>
            <a:ext cx="48463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MULTI-SENSOR GROUND-TRUTH CONFIRMATION</a:t>
            </a:r>
          </a:p>
          <a:p>
            <a:pPr>
              <a:defRPr sz="1150" b="1">
                <a:solidFill>
                  <a:srgbClr val="F0FDFA"/>
                </a:solidFill>
                <a:latin typeface="Trebuchet MS"/>
              </a:defRPr>
            </a:pPr>
            <a:r>
              <a:t>Spatial Findings &amp; Bio-Optical Audit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566160"/>
            <a:ext cx="484632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30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• Northern Perimeter Shrinkage: The Diff Mask reveals intense signal red loss along the Velachery-Tambaram IT corridor expansion.</a:t>
            </a:r>
          </a:p>
          <a:p>
            <a:pPr>
              <a:spcAft>
                <a:spcPts val="30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• Volumetric Storage Loss: 3D DEM Bathymetry reveals a drop from 12.8 MCM (2019) to 10.4 MCM (2025) (-18.75% storage volume).</a:t>
            </a:r>
          </a:p>
          <a:p>
            <a:pPr>
              <a:spcAft>
                <a:spcPts val="30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• Bio-Optical Water Quality: Turbidity rose from 14.2 NTU to 28.6 NTU; Chlorophyll-a rose to 19.4 µg/L (Eutrophic Alert, WQI: 68).</a:t>
            </a:r>
          </a:p>
          <a:p>
            <a:pPr>
              <a:spcAft>
                <a:spcPts val="30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• Multi-Sensor Verification: Baseline S2A_MSIL2A (0% cloud) vs. Target S2B + S1 C-SAR (all-weather radar confirmed).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2926080"/>
            <a:ext cx="5212080" cy="3200400"/>
          </a:xfrm>
          <a:prstGeom prst="rect">
            <a:avLst/>
          </a:prstGeom>
          <a:solidFill>
            <a:srgbClr val="0C1E3D"/>
          </a:solidFill>
          <a:ln w="12700">
            <a:solidFill>
              <a:srgbClr val="06D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072384"/>
            <a:ext cx="48463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INTERMEDIATE ANNUAL MULTI-SENSOR SAMPLING</a:t>
            </a:r>
          </a:p>
          <a:p>
            <a:pPr>
              <a:defRPr sz="1150" b="1">
                <a:solidFill>
                  <a:srgbClr val="F0FDFA"/>
                </a:solidFill>
                <a:latin typeface="Trebuchet MS"/>
              </a:defRPr>
            </a:pPr>
            <a:r>
              <a:t>Longitudinal Time-Series &amp; Volumetric Data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400800" y="3566160"/>
          <a:ext cx="48463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1005840"/>
                <a:gridCol w="1005840"/>
                <a:gridCol w="914400"/>
                <a:gridCol w="1188720"/>
              </a:tblGrid>
              <a:tr h="297180">
                <a:tc>
                  <a:txBody>
                    <a:bodyPr/>
                    <a:lstStyle/>
                    <a:p>
                      <a:pPr algn="l">
                        <a:defRPr sz="800" b="1">
                          <a:solidFill>
                            <a:srgbClr val="22D3EE"/>
                          </a:solidFill>
                          <a:latin typeface="Consolas"/>
                        </a:defRPr>
                      </a:pPr>
                      <a:r>
                        <a:t>YEAR</a:t>
                      </a:r>
                    </a:p>
                  </a:txBody>
                  <a:tcPr>
                    <a:solidFill>
                      <a:srgbClr val="1735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00" b="1">
                          <a:solidFill>
                            <a:srgbClr val="22D3EE"/>
                          </a:solidFill>
                          <a:latin typeface="Consolas"/>
                        </a:defRPr>
                      </a:pPr>
                      <a:r>
                        <a:t>WATER (KM²)</a:t>
                      </a:r>
                    </a:p>
                  </a:txBody>
                  <a:tcPr>
                    <a:solidFill>
                      <a:srgbClr val="1735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00" b="1">
                          <a:solidFill>
                            <a:srgbClr val="22D3EE"/>
                          </a:solidFill>
                          <a:latin typeface="Consolas"/>
                        </a:defRPr>
                      </a:pPr>
                      <a:r>
                        <a:t>VOLUME (MCM)</a:t>
                      </a:r>
                    </a:p>
                  </a:txBody>
                  <a:tcPr>
                    <a:solidFill>
                      <a:srgbClr val="1735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00" b="1">
                          <a:solidFill>
                            <a:srgbClr val="22D3EE"/>
                          </a:solidFill>
                          <a:latin typeface="Consolas"/>
                        </a:defRPr>
                      </a:pPr>
                      <a:r>
                        <a:t>WQI (0-100)</a:t>
                      </a:r>
                    </a:p>
                  </a:txBody>
                  <a:tcPr>
                    <a:solidFill>
                      <a:srgbClr val="1735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800" b="1">
                          <a:solidFill>
                            <a:srgbClr val="22D3EE"/>
                          </a:solidFill>
                          <a:latin typeface="Consolas"/>
                        </a:defRPr>
                      </a:pPr>
                      <a:r>
                        <a:t>HYDROLOGICAL STATE</a:t>
                      </a:r>
                    </a:p>
                  </a:txBody>
                  <a:tcPr>
                    <a:solidFill>
                      <a:srgbClr val="173564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0FDFA"/>
                          </a:solidFill>
                          <a:latin typeface="Calibri"/>
                        </a:defRPr>
                      </a:pPr>
                      <a:r>
                        <a:t>2019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4.12 km²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12.8 MCM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84 (Good)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Baseline Post-Drought Recovery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0FDFA"/>
                          </a:solidFill>
                          <a:latin typeface="Calibri"/>
                        </a:defRPr>
                      </a:pPr>
                      <a:r>
                        <a:t>2020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4.05 km²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12.4 MCM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82 (Good)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Stable Pre-Monsoon Capacity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0FDFA"/>
                          </a:solidFill>
                          <a:latin typeface="Calibri"/>
                        </a:defRPr>
                      </a:pPr>
                      <a:r>
                        <a:t>2021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4.38 km²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14.1 MCM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88 (Good)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Extreme Monsoon Inundation Peak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0FDFA"/>
                          </a:solidFill>
                          <a:latin typeface="Calibri"/>
                        </a:defRPr>
                      </a:pPr>
                      <a:r>
                        <a:t>2022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3.89 km²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11.9 MCM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76 (Fair)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Construction Encroachment Phase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0FDFA"/>
                          </a:solidFill>
                          <a:latin typeface="Calibri"/>
                        </a:defRPr>
                      </a:pPr>
                      <a:r>
                        <a:t>2023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3.62 km²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11.0 MCM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71 (Fair)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Summer Dry-Down &amp; Constriction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0FDFA"/>
                          </a:solidFill>
                          <a:latin typeface="Calibri"/>
                        </a:defRPr>
                      </a:pPr>
                      <a:r>
                        <a:t>2024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3.51 km²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10.6 MCM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69 (Moderate)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Fragmented Southern Retention</a:t>
                      </a:r>
                    </a:p>
                  </a:txBody>
                  <a:tcPr>
                    <a:solidFill>
                      <a:srgbClr val="071326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F0FDFA"/>
                          </a:solidFill>
                          <a:latin typeface="Calibri"/>
                        </a:defRPr>
                      </a:pPr>
                      <a:r>
                        <a:t>2025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3.48 km²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10.4 MCM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68 (Moderate)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>
                          <a:solidFill>
                            <a:srgbClr val="CADAEE"/>
                          </a:solidFill>
                          <a:latin typeface="Calibri"/>
                        </a:defRPr>
                      </a:pPr>
                      <a:r>
                        <a:t>Current Multi-Sensor Audit (-15.5%)</a:t>
                      </a:r>
                    </a:p>
                  </a:txBody>
                  <a:tcPr>
                    <a:solidFill>
                      <a:srgbClr val="0C1E3D"/>
                    </a:solidFill>
                  </a:tcPr>
                </a:tc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731520" y="6473952"/>
            <a:ext cx="106984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750">
                <a:solidFill>
                  <a:srgbClr val="738CAD"/>
                </a:solidFill>
                <a:latin typeface="Consolas"/>
              </a:defRPr>
            </a:pPr>
            <a:r>
              <a:t>AQUASENSE OBSERVATORY • S2 L2A MSI + S1 C-SAR + DEM • 12-D SPECTRAL RAG • 10m/px • SOVEREIGN FEW-SHOT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645920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75488"/>
            <a:ext cx="2011680" cy="256032"/>
          </a:xfrm>
          <a:prstGeom prst="roundRect">
            <a:avLst/>
          </a:prstGeom>
          <a:solidFill>
            <a:srgbClr val="0C1E3D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850" b="1">
                <a:solidFill>
                  <a:srgbClr val="FBBF24"/>
                </a:solidFill>
                <a:latin typeface="Consolas"/>
              </a:defRPr>
            </a:pPr>
            <a:r>
              <a:t>ORBIT 11 // STRATEGIC IMPACT &amp;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F0FDFA"/>
                </a:solidFill>
                <a:latin typeface="Trebuchet MS"/>
              </a:defRPr>
            </a:pPr>
            <a:r>
              <a:t>Global Stakeholder Applications &amp; Strategic Scaling Roadmap</a:t>
            </a:r>
          </a:p>
          <a:p>
            <a:pPr>
              <a:spcBef>
                <a:spcPts val="200"/>
              </a:spcBef>
              <a:defRPr sz="1100">
                <a:solidFill>
                  <a:srgbClr val="738CAD"/>
                </a:solidFill>
                <a:latin typeface="Calibri"/>
              </a:defRPr>
            </a:pPr>
            <a:r>
              <a:t>Transforming satellite observation into verifiable conservation policy, smart city resilience, and planetary hydro-intelligence.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00200"/>
            <a:ext cx="5212080" cy="4572000"/>
          </a:xfrm>
          <a:prstGeom prst="rect">
            <a:avLst/>
          </a:prstGeom>
          <a:solidFill>
            <a:srgbClr val="0C1E3D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46504"/>
            <a:ext cx="48463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GLOBAL APPLICATION DOMAINS</a:t>
            </a:r>
          </a:p>
          <a:p>
            <a:pPr>
              <a:defRPr sz="1150" b="1">
                <a:solidFill>
                  <a:srgbClr val="F0FDFA"/>
                </a:solidFill>
                <a:latin typeface="Trebuchet MS"/>
              </a:defRPr>
            </a:pPr>
            <a:r>
              <a:t>Target Stakeholders &amp; Real-World Impact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240280"/>
            <a:ext cx="2331720" cy="1783080"/>
          </a:xfrm>
          <a:prstGeom prst="rect">
            <a:avLst/>
          </a:prstGeom>
          <a:solidFill>
            <a:srgbClr val="071326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331720"/>
            <a:ext cx="2148840" cy="1600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22D3EE"/>
                </a:solidFill>
                <a:latin typeface="Trebuchet MS"/>
              </a:defRPr>
            </a:pPr>
            <a:r>
              <a:t>🏛️ GOVERNANCE &amp; POLICY</a:t>
            </a:r>
          </a:p>
          <a:p>
            <a:pPr>
              <a:spcAft>
                <a:spcPts val="300"/>
              </a:spcAft>
              <a:defRPr sz="700" b="1">
                <a:solidFill>
                  <a:srgbClr val="738CAD"/>
                </a:solidFill>
                <a:latin typeface="Consolas"/>
              </a:defRPr>
            </a:pPr>
            <a:r>
              <a:t>WETLAND AUTHORITIES</a:t>
            </a:r>
          </a:p>
          <a:p>
            <a:pPr>
              <a:spcAft>
                <a:spcPts val="200"/>
              </a:spcAft>
              <a:defRPr sz="800">
                <a:solidFill>
                  <a:srgbClr val="CADAEE"/>
                </a:solidFill>
              </a:defRPr>
            </a:pPr>
            <a:r>
              <a:t>• Ramsar &amp; Biodiversity compliance reporting.</a:t>
            </a:r>
          </a:p>
          <a:p>
            <a:pPr>
              <a:spcAft>
                <a:spcPts val="200"/>
              </a:spcAft>
              <a:defRPr sz="800">
                <a:solidFill>
                  <a:srgbClr val="CADAEE"/>
                </a:solidFill>
              </a:defRPr>
            </a:pPr>
            <a:r>
              <a:t>• Automated alerts on illegal landfilling.</a:t>
            </a:r>
          </a:p>
          <a:p>
            <a:pPr>
              <a:spcAft>
                <a:spcPts val="200"/>
              </a:spcAft>
              <a:defRPr sz="800">
                <a:solidFill>
                  <a:srgbClr val="CADAEE"/>
                </a:solidFill>
              </a:defRPr>
            </a:pPr>
            <a:r>
              <a:t>• Court-admissible proof (hash: 0x8a92f02c).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2240280"/>
            <a:ext cx="2331720" cy="1783080"/>
          </a:xfrm>
          <a:prstGeom prst="rect">
            <a:avLst/>
          </a:prstGeom>
          <a:solidFill>
            <a:srgbClr val="071326"/>
          </a:solidFill>
          <a:ln w="12700">
            <a:solidFill>
              <a:srgbClr val="06D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0" y="2331720"/>
            <a:ext cx="2148840" cy="1600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06D6A0"/>
                </a:solidFill>
                <a:latin typeface="Trebuchet MS"/>
              </a:defRPr>
            </a:pPr>
            <a:r>
              <a:t>🌱 CONSERVATION NGOS</a:t>
            </a:r>
          </a:p>
          <a:p>
            <a:pPr>
              <a:spcAft>
                <a:spcPts val="300"/>
              </a:spcAft>
              <a:defRPr sz="700" b="1">
                <a:solidFill>
                  <a:srgbClr val="738CAD"/>
                </a:solidFill>
                <a:latin typeface="Consolas"/>
              </a:defRPr>
            </a:pPr>
            <a:r>
              <a:t>ECOLOGISTS &amp; ADVOCACY</a:t>
            </a:r>
          </a:p>
          <a:p>
            <a:pPr>
              <a:spcAft>
                <a:spcPts val="200"/>
              </a:spcAft>
              <a:defRPr sz="800">
                <a:solidFill>
                  <a:srgbClr val="CADAEE"/>
                </a:solidFill>
              </a:defRPr>
            </a:pPr>
            <a:r>
              <a:t>• Continuous remote monitoring of basins.</a:t>
            </a:r>
          </a:p>
          <a:p>
            <a:pPr>
              <a:spcAft>
                <a:spcPts val="200"/>
              </a:spcAft>
              <a:defRPr sz="800">
                <a:solidFill>
                  <a:srgbClr val="CADAEE"/>
                </a:solidFill>
              </a:defRPr>
            </a:pPr>
            <a:r>
              <a:t>• Field photo ground-truthing portal.</a:t>
            </a:r>
          </a:p>
          <a:p>
            <a:pPr>
              <a:spcAft>
                <a:spcPts val="200"/>
              </a:spcAft>
              <a:defRPr sz="800">
                <a:solidFill>
                  <a:srgbClr val="CADAEE"/>
                </a:solidFill>
              </a:defRPr>
            </a:pPr>
            <a:r>
              <a:t>• Multi-year trend data for climate grants.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4114800"/>
            <a:ext cx="2331720" cy="1783080"/>
          </a:xfrm>
          <a:prstGeom prst="rect">
            <a:avLst/>
          </a:prstGeom>
          <a:solidFill>
            <a:srgbClr val="071326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06240"/>
            <a:ext cx="2148840" cy="1600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FBBF24"/>
                </a:solidFill>
                <a:latin typeface="Trebuchet MS"/>
              </a:defRPr>
            </a:pPr>
            <a:r>
              <a:t>🏙️ SMART CITIES &amp; PLANNERS</a:t>
            </a:r>
          </a:p>
          <a:p>
            <a:pPr>
              <a:spcAft>
                <a:spcPts val="300"/>
              </a:spcAft>
              <a:defRPr sz="700" b="1">
                <a:solidFill>
                  <a:srgbClr val="738CAD"/>
                </a:solidFill>
                <a:latin typeface="Consolas"/>
              </a:defRPr>
            </a:pPr>
            <a:r>
              <a:t>FLOOD ATTENUATION</a:t>
            </a:r>
          </a:p>
          <a:p>
            <a:pPr>
              <a:spcAft>
                <a:spcPts val="200"/>
              </a:spcAft>
              <a:defRPr sz="800">
                <a:solidFill>
                  <a:srgbClr val="CADAEE"/>
                </a:solidFill>
              </a:defRPr>
            </a:pPr>
            <a:r>
              <a:t>• 3D volumetric water holding capacity checks.</a:t>
            </a:r>
          </a:p>
          <a:p>
            <a:pPr>
              <a:spcAft>
                <a:spcPts val="200"/>
              </a:spcAft>
              <a:defRPr sz="800">
                <a:solidFill>
                  <a:srgbClr val="CADAEE"/>
                </a:solidFill>
              </a:defRPr>
            </a:pPr>
            <a:r>
              <a:t>• Critical urban flood buffer preservation.</a:t>
            </a:r>
          </a:p>
          <a:p>
            <a:pPr>
              <a:spcAft>
                <a:spcPts val="200"/>
              </a:spcAft>
              <a:defRPr sz="800">
                <a:solidFill>
                  <a:srgbClr val="CADAEE"/>
                </a:solidFill>
              </a:defRPr>
            </a:pPr>
            <a:r>
              <a:t>• City emergency dashboard integration.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3280" y="4114800"/>
            <a:ext cx="2331720" cy="1783080"/>
          </a:xfrm>
          <a:prstGeom prst="rect">
            <a:avLst/>
          </a:prstGeom>
          <a:solidFill>
            <a:srgbClr val="071326"/>
          </a:solidFill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0" y="4206240"/>
            <a:ext cx="2148840" cy="1600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F43F5E"/>
                </a:solidFill>
                <a:latin typeface="Trebuchet MS"/>
              </a:defRPr>
            </a:pPr>
            <a:r>
              <a:t>💼 ESG &amp; BLUE CARBON</a:t>
            </a:r>
          </a:p>
          <a:p>
            <a:pPr>
              <a:spcAft>
                <a:spcPts val="300"/>
              </a:spcAft>
              <a:defRPr sz="700" b="1">
                <a:solidFill>
                  <a:srgbClr val="738CAD"/>
                </a:solidFill>
                <a:latin typeface="Consolas"/>
              </a:defRPr>
            </a:pPr>
            <a:r>
              <a:t>SUSTAINABILITY AUDIT</a:t>
            </a:r>
          </a:p>
          <a:p>
            <a:pPr>
              <a:spcAft>
                <a:spcPts val="200"/>
              </a:spcAft>
              <a:defRPr sz="800">
                <a:solidFill>
                  <a:srgbClr val="CADAEE"/>
                </a:solidFill>
              </a:defRPr>
            </a:pPr>
            <a:r>
              <a:t>• Independent satellite MRV verification.</a:t>
            </a:r>
          </a:p>
          <a:p>
            <a:pPr>
              <a:spcAft>
                <a:spcPts val="200"/>
              </a:spcAft>
              <a:defRPr sz="800">
                <a:solidFill>
                  <a:srgbClr val="CADAEE"/>
                </a:solidFill>
              </a:defRPr>
            </a:pPr>
            <a:r>
              <a:t>• Auditable wetland carbon credit validation.</a:t>
            </a:r>
          </a:p>
          <a:p>
            <a:pPr>
              <a:spcAft>
                <a:spcPts val="200"/>
              </a:spcAft>
              <a:defRPr sz="800">
                <a:solidFill>
                  <a:srgbClr val="CADAEE"/>
                </a:solidFill>
              </a:defRPr>
            </a:pPr>
            <a:r>
              <a:t>• Corporate water stewardship reporting.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600200"/>
            <a:ext cx="5212080" cy="4572000"/>
          </a:xfrm>
          <a:prstGeom prst="rect">
            <a:avLst/>
          </a:prstGeom>
          <a:solidFill>
            <a:srgbClr val="0C1E3D"/>
          </a:solidFill>
          <a:ln w="12700">
            <a:solidFill>
              <a:srgbClr val="06D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746504"/>
            <a:ext cx="48463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PLANETARY DEPLOYMENT PHASES</a:t>
            </a:r>
          </a:p>
          <a:p>
            <a:pPr>
              <a:defRPr sz="1150" b="1">
                <a:solidFill>
                  <a:srgbClr val="F0FDFA"/>
                </a:solidFill>
                <a:latin typeface="Trebuchet MS"/>
              </a:defRPr>
            </a:pPr>
            <a:r>
              <a:t>Strategic Scaling Roadmap &amp; Milestones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2240280"/>
            <a:ext cx="4846320" cy="841248"/>
          </a:xfrm>
          <a:prstGeom prst="rect">
            <a:avLst/>
          </a:prstGeom>
          <a:solidFill>
            <a:srgbClr val="071326"/>
          </a:solidFill>
          <a:ln w="12700">
            <a:solidFill>
              <a:srgbClr val="06D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2313432"/>
            <a:ext cx="4572000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06D6A0"/>
                </a:solidFill>
                <a:latin typeface="Consolas"/>
              </a:defRPr>
            </a:pPr>
            <a:r>
              <a:t>PHASE 1: CURRENT PRODUCTION  //  BENCHMARK DEPLOYMENT</a:t>
            </a:r>
          </a:p>
          <a:p>
            <a:pPr>
              <a:spcBef>
                <a:spcPts val="200"/>
              </a:spcBef>
              <a:defRPr sz="800">
                <a:solidFill>
                  <a:srgbClr val="CADAEE"/>
                </a:solidFill>
              </a:defRPr>
            </a:pPr>
            <a:r>
              <a:t>✔ Multi-sensor STAC, 5-core view modes, 3D bathymetry (m³), bio-optics (NDTI/NDCI), 12-D RAG engine, and Pallikaranai audit.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3172968"/>
            <a:ext cx="4846320" cy="841248"/>
          </a:xfrm>
          <a:prstGeom prst="rect">
            <a:avLst/>
          </a:prstGeom>
          <a:solidFill>
            <a:srgbClr val="071326"/>
          </a:solidFill>
          <a:ln w="1270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3246120"/>
            <a:ext cx="4572000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22D3EE"/>
                </a:solidFill>
                <a:latin typeface="Consolas"/>
              </a:defRPr>
            </a:pPr>
            <a:r>
              <a:t>PHASE 2: Q4 2025  //  MULTI-BASIN EXPANSION</a:t>
            </a:r>
          </a:p>
          <a:p>
            <a:pPr>
              <a:spcBef>
                <a:spcPts val="200"/>
              </a:spcBef>
              <a:defRPr sz="800">
                <a:solidFill>
                  <a:srgbClr val="CADAEE"/>
                </a:solidFill>
              </a:defRPr>
            </a:pPr>
            <a:r>
              <a:t>• Global STAC webhook triggers, automated GeoJSON vector boundary export, and Landsat thermal infrared integration.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4105656"/>
            <a:ext cx="4846320" cy="841248"/>
          </a:xfrm>
          <a:prstGeom prst="rect">
            <a:avLst/>
          </a:prstGeom>
          <a:solidFill>
            <a:srgbClr val="071326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4178808"/>
            <a:ext cx="4572000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FBBF24"/>
                </a:solidFill>
                <a:latin typeface="Consolas"/>
              </a:defRPr>
            </a:pPr>
            <a:r>
              <a:t>PHASE 3: Q1 2026  //  ACTIVE LEARNING ML</a:t>
            </a:r>
          </a:p>
          <a:p>
            <a:pPr>
              <a:spcBef>
                <a:spcPts val="200"/>
              </a:spcBef>
              <a:defRPr sz="800">
                <a:solidFill>
                  <a:srgbClr val="CADAEE"/>
                </a:solidFill>
              </a:defRPr>
            </a:pPr>
            <a:r>
              <a:t>• Few-shot patch labeling UI, edge WebAssembly deployment, and citizen science mobile photo ground-truthing portal.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5038344"/>
            <a:ext cx="4846320" cy="841248"/>
          </a:xfrm>
          <a:prstGeom prst="rect">
            <a:avLst/>
          </a:prstGeom>
          <a:solidFill>
            <a:srgbClr val="071326"/>
          </a:solidFill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5111496"/>
            <a:ext cx="4572000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F43F5E"/>
                </a:solidFill>
                <a:latin typeface="Consolas"/>
              </a:defRPr>
            </a:pPr>
            <a:r>
              <a:t>PHASE 4: 2027 VISION  //  PLANETARY HYDRO-NETWORK</a:t>
            </a:r>
          </a:p>
          <a:p>
            <a:pPr>
              <a:spcBef>
                <a:spcPts val="200"/>
              </a:spcBef>
              <a:defRPr sz="800">
                <a:solidFill>
                  <a:srgbClr val="CADAEE"/>
                </a:solidFill>
              </a:defRPr>
            </a:pPr>
            <a:r>
              <a:t>• Pan-India &amp; Global Wetland Atlas, real-time flood surge forecasting, open public API for NGOs, automated Blue Carbon registry.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6473952"/>
            <a:ext cx="106984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750">
                <a:solidFill>
                  <a:srgbClr val="738CAD"/>
                </a:solidFill>
                <a:latin typeface="Consolas"/>
              </a:defRPr>
            </a:pPr>
            <a:r>
              <a:t>AQUASENSE OBSERVATORY • S2 L2A MSI + S1 C-SAR + DEM • 12-D SPECTRAL RAG • 10m/px • SOVEREIGN FEW-SHOT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07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65760"/>
            <a:ext cx="1645920" cy="381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75488"/>
            <a:ext cx="2011680" cy="256032"/>
          </a:xfrm>
          <a:prstGeom prst="roundRect">
            <a:avLst/>
          </a:prstGeom>
          <a:solidFill>
            <a:srgbClr val="0C1E3D"/>
          </a:solidFill>
          <a:ln w="9525">
            <a:solidFill>
              <a:srgbClr val="1D3D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18288" bIns="18288"/>
          <a:lstStyle/>
          <a:p>
            <a:pPr algn="ctr">
              <a:defRPr sz="850" b="1">
                <a:solidFill>
                  <a:srgbClr val="FBBF24"/>
                </a:solidFill>
                <a:latin typeface="Consolas"/>
              </a:defRPr>
            </a:pPr>
            <a:r>
              <a:t>ORBIT 12 // SUMMARY &amp;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49808"/>
            <a:ext cx="1069848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F0FDFA"/>
                </a:solidFill>
                <a:latin typeface="Trebuchet MS"/>
              </a:defRPr>
            </a:pPr>
            <a:r>
              <a:t>AquaSense Planetary Observatory: Complete Capability Synthesis</a:t>
            </a:r>
          </a:p>
          <a:p>
            <a:pPr>
              <a:spcBef>
                <a:spcPts val="200"/>
              </a:spcBef>
              <a:defRPr sz="1100">
                <a:solidFill>
                  <a:srgbClr val="738CAD"/>
                </a:solidFill>
                <a:latin typeface="Calibri"/>
              </a:defRPr>
            </a:pPr>
            <a:r>
              <a:t>The unified multi-sensor architecture combining radar penetration, 3D volumetric hypsometry, bio-optics, and sovereign RAG intelligence.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2560320" cy="4480560"/>
          </a:xfrm>
          <a:prstGeom prst="rect">
            <a:avLst/>
          </a:prstGeom>
          <a:solidFill>
            <a:srgbClr val="0C1E3D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92224"/>
            <a:ext cx="219456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ORBITAL CONSTELLATION</a:t>
            </a:r>
          </a:p>
          <a:p>
            <a:pPr>
              <a:defRPr sz="1150" b="1">
                <a:solidFill>
                  <a:srgbClr val="F0FDFA"/>
                </a:solidFill>
                <a:latin typeface="Trebuchet MS"/>
              </a:defRPr>
            </a:pPr>
            <a:r>
              <a:t>MULTI-SENSOR SATELLITE 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423160"/>
            <a:ext cx="2231136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• Sentinel-2 MSI Optical (10m BOA)</a:t>
            </a:r>
          </a:p>
          <a:p>
            <a:pPr>
              <a:spcAft>
                <a:spcPts val="40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• Sentinel-1 C-Band SAR (5.405 GHz)</a:t>
            </a:r>
          </a:p>
          <a:p>
            <a:pPr>
              <a:spcAft>
                <a:spcPts val="40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• 100% All-weather cloud penetration</a:t>
            </a:r>
          </a:p>
          <a:p>
            <a:pPr>
              <a:spcAft>
                <a:spcPts val="40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• Resilient STAC scene resolver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4720" y="1645920"/>
            <a:ext cx="2560320" cy="4480560"/>
          </a:xfrm>
          <a:prstGeom prst="rect">
            <a:avLst/>
          </a:prstGeom>
          <a:solidFill>
            <a:srgbClr val="0C1E3D"/>
          </a:solidFill>
          <a:ln w="19050">
            <a:solidFill>
              <a:srgbClr val="06D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1792224"/>
            <a:ext cx="219456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VOLUMETRIC &amp; WATER QUALITY</a:t>
            </a:r>
          </a:p>
          <a:p>
            <a:pPr>
              <a:defRPr sz="1150" b="1">
                <a:solidFill>
                  <a:srgbClr val="F0FDFA"/>
                </a:solidFill>
                <a:latin typeface="Trebuchet MS"/>
              </a:defRPr>
            </a:pPr>
            <a:r>
              <a:t>3D HYPSOMETRY &amp; BIO-OPTICS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39312" y="2423160"/>
            <a:ext cx="2231136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• Copernicus DEM GLO-30 Volume (m³)</a:t>
            </a:r>
          </a:p>
          <a:p>
            <a:pPr>
              <a:spcAft>
                <a:spcPts val="40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• NDTI Turbidity &amp; Suspended Solids</a:t>
            </a:r>
          </a:p>
          <a:p>
            <a:pPr>
              <a:spcAft>
                <a:spcPts val="40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• NDCI Chlorophyll-a &amp; Algal Risk</a:t>
            </a:r>
          </a:p>
          <a:p>
            <a:pPr>
              <a:spcAft>
                <a:spcPts val="40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• Comprehensive 0-100 WQI Score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645920"/>
            <a:ext cx="2560320" cy="4480560"/>
          </a:xfrm>
          <a:prstGeom prst="rect">
            <a:avLst/>
          </a:prstGeom>
          <a:solidFill>
            <a:srgbClr val="0C1E3D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792224"/>
            <a:ext cx="219456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INTERACTIVE OBSERVATORY</a:t>
            </a:r>
          </a:p>
          <a:p>
            <a:pPr>
              <a:defRPr sz="1150" b="1">
                <a:solidFill>
                  <a:srgbClr val="F0FDFA"/>
                </a:solidFill>
                <a:latin typeface="Trebuchet MS"/>
              </a:defRPr>
            </a:pPr>
            <a:r>
              <a:t>5-CORE STREAMLINED MODES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2512" y="2423160"/>
            <a:ext cx="2231136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• True Color Swipe &amp; NDWI Index</a:t>
            </a:r>
          </a:p>
          <a:p>
            <a:pPr>
              <a:spcAft>
                <a:spcPts val="40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• SAR Radar &amp; All-Weather Fusion</a:t>
            </a:r>
          </a:p>
          <a:p>
            <a:pPr>
              <a:spcAft>
                <a:spcPts val="40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• Tri-State Temporal Change Delta</a:t>
            </a:r>
          </a:p>
          <a:p>
            <a:pPr>
              <a:spcAft>
                <a:spcPts val="40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• Scientific Mode Physics Guide HUD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61120" y="1645920"/>
            <a:ext cx="2560320" cy="4480560"/>
          </a:xfrm>
          <a:prstGeom prst="rect">
            <a:avLst/>
          </a:prstGeom>
          <a:solidFill>
            <a:srgbClr val="0C1E3D"/>
          </a:solidFill>
          <a:ln w="1905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0" y="1792224"/>
            <a:ext cx="219456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800" b="1">
                <a:solidFill>
                  <a:srgbClr val="22D3EE"/>
                </a:solidFill>
                <a:latin typeface="Consolas"/>
              </a:defRPr>
            </a:pPr>
            <a:r>
              <a:t>SOVEREIGN RAG + GEMINI</a:t>
            </a:r>
          </a:p>
          <a:p>
            <a:pPr>
              <a:defRPr sz="1150" b="1">
                <a:solidFill>
                  <a:srgbClr val="F0FDFA"/>
                </a:solidFill>
                <a:latin typeface="Trebuchet MS"/>
              </a:defRPr>
            </a:pPr>
            <a:r>
              <a:t>DUAL-TIER AI INTELLIGENCE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25712" y="2423160"/>
            <a:ext cx="2231136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• 12-D Radiometric Tensor Extractor</a:t>
            </a:r>
          </a:p>
          <a:p>
            <a:pPr>
              <a:spcAft>
                <a:spcPts val="40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• Few-Shot Logistic Regression &amp; k-NN</a:t>
            </a:r>
          </a:p>
          <a:p>
            <a:pPr>
              <a:spcAft>
                <a:spcPts val="40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• In-Memory Ramsar/CPCB RAG (&lt;35ms)</a:t>
            </a:r>
          </a:p>
          <a:p>
            <a:pPr>
              <a:spcAft>
                <a:spcPts val="400"/>
              </a:spcAft>
              <a:defRPr sz="900">
                <a:solidFill>
                  <a:srgbClr val="CADAEE"/>
                </a:solidFill>
                <a:latin typeface="Calibri"/>
              </a:defRPr>
            </a:pPr>
            <a:r>
              <a:t>• Gemini 3.7 Flash CoT Ecological 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473952"/>
            <a:ext cx="1069848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750">
                <a:solidFill>
                  <a:srgbClr val="738CAD"/>
                </a:solidFill>
                <a:latin typeface="Consolas"/>
              </a:defRPr>
            </a:pPr>
            <a:r>
              <a:t>AQUASENSE PLANETARY OBSERVATORY • SENTINEL-2 + SENTINEL-1 + DEM • 12-D RAG • ALL-WEATHER HYDROLOGICAL INTELLIGENCE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