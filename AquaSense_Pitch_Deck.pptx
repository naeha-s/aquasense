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097280" cy="50800"/>
          </a:xfrm>
          <a:prstGeom prst="rect">
            <a:avLst/>
          </a:prstGeom>
          <a:solidFill>
            <a:srgbClr val="E5E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200" b="1">
                <a:solidFill>
                  <a:srgbClr val="E5E3DF"/>
                </a:solidFill>
                <a:latin typeface="Consolas"/>
              </a:defRPr>
            </a:pPr>
            <a:r>
              <a:t>Ω  AQUASENSE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5400" b="1">
                <a:solidFill>
                  <a:srgbClr val="E5E3DF"/>
                </a:solidFill>
                <a:latin typeface="Times New Roman"/>
              </a:defRPr>
            </a:pPr>
            <a:r>
              <a:t>AquaSense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2200" b="0">
                <a:solidFill>
                  <a:srgbClr val="E5E3DF"/>
                </a:solidFill>
                <a:latin typeface="Calibri"/>
              </a:defRPr>
            </a:pPr>
            <a:r>
              <a:t>EO Observation &amp; Few-Shot Classifier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400" b="0">
                <a:solidFill>
                  <a:srgbClr val="AAA8A5"/>
                </a:solidFill>
                <a:latin typeface="Consolas"/>
              </a:defRPr>
            </a:pPr>
            <a:r>
              <a:t>Real-time wetland hydrology intelligence from Sentinel-2</a:t>
            </a:r>
            <a:br/>
            <a:r>
              <a:t>NDWI temporal quantification • Gemini ecological reasoning • Planetary Computer STAC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914400"/>
            <a:ext cx="3657600" cy="502920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188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1">
                <a:solidFill>
                  <a:srgbClr val="F59E0B"/>
                </a:solidFill>
                <a:latin typeface="Consolas"/>
              </a:defRPr>
            </a:pPr>
            <a:r>
              <a:t>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800" b="1">
                <a:solidFill>
                  <a:srgbClr val="E5E3DF"/>
                </a:solidFill>
                <a:latin typeface="Calibri"/>
              </a:defRPr>
            </a:pPr>
            <a:r>
              <a:t>Monitoring Earth's most threatened ecosystems with satellite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74320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100" b="0">
                <a:solidFill>
                  <a:srgbClr val="888888"/>
                </a:solidFill>
                <a:latin typeface="Consolas"/>
              </a:defRPr>
            </a:pPr>
            <a:r>
              <a:t>STAC • EO-HYDRO • NDWI</a:t>
            </a:r>
            <a:br/>
            <a:r>
              <a:t>(B03-B08)/(B03+B08)</a:t>
            </a:r>
            <a:br/>
            <a:r>
              <a:t>10m/px Resolution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384048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100" b="0">
                <a:solidFill>
                  <a:srgbClr val="2563EB"/>
                </a:solidFill>
                <a:latin typeface="Consolas"/>
              </a:defRPr>
            </a:pPr>
            <a:r>
              <a:t>PALLIKARANAI MARSH • CHENNAI</a:t>
            </a:r>
            <a:br/>
            <a:r>
              <a:t>Baseline 2019 → Target 2025</a:t>
            </a:r>
            <a:br/>
            <a:r>
              <a:t>Cloud &lt;20% • Threshold &gt;0.20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217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800" b="0">
                <a:solidFill>
                  <a:srgbClr val="555555"/>
                </a:solidFill>
                <a:latin typeface="Consolas"/>
              </a:defRPr>
            </a:pPr>
            <a:r>
              <a:t>Sentinel-2 Spectral Ingestion  •  Microsoft Planetary Computer  •  Gemini 3.7 Flash  •  0x8a92f02c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3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1">
                <a:solidFill>
                  <a:srgbClr val="F59E0B"/>
                </a:solidFill>
                <a:latin typeface="Consolas"/>
              </a:defRPr>
            </a:pPr>
            <a:r>
              <a:t>02 /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3200" b="1">
                <a:solidFill>
                  <a:srgbClr val="E5E3DF"/>
                </a:solidFill>
                <a:latin typeface="Times New Roman"/>
              </a:defRPr>
            </a:pPr>
            <a:r>
              <a:t>The Wetland Crisis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2918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900" b="1">
                <a:solidFill>
                  <a:srgbClr val="2563EB"/>
                </a:solidFill>
                <a:latin typeface="Consolas"/>
              </a:defRPr>
            </a:pPr>
            <a:r>
              <a:t>WORLDWIDE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2400" b="1">
                <a:solidFill>
                  <a:srgbClr val="141414"/>
                </a:solidFill>
                <a:latin typeface="Calibri"/>
              </a:defRPr>
            </a:pPr>
            <a:r>
              <a:t>35% LOST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2608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300" b="0">
                <a:solidFill>
                  <a:srgbClr val="555555"/>
                </a:solidFill>
                <a:latin typeface="Calibri"/>
              </a:defRPr>
            </a:pPr>
            <a:r>
              <a:t>Of natural wetlands lost since 1970. Fastest disappearing ecosystem on Earth.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645920"/>
            <a:ext cx="32918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828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900" b="1">
                <a:solidFill>
                  <a:srgbClr val="2563EB"/>
                </a:solidFill>
                <a:latin typeface="Consolas"/>
              </a:defRPr>
            </a:pPr>
            <a:r>
              <a:t>MONITORING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945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2400" b="1">
                <a:solidFill>
                  <a:srgbClr val="141414"/>
                </a:solidFill>
                <a:latin typeface="Calibri"/>
              </a:defRPr>
            </a:pPr>
            <a:r>
              <a:t>Data Blindness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92608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300" b="0">
                <a:solidFill>
                  <a:srgbClr val="555555"/>
                </a:solidFill>
                <a:latin typeface="Calibri"/>
              </a:defRPr>
            </a:pPr>
            <a:r>
              <a:t>No real-time, high-resolution monitoring for local conservation bodies. Manual surveys are slow.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645920"/>
            <a:ext cx="32918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828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900" b="1">
                <a:solidFill>
                  <a:srgbClr val="2563EB"/>
                </a:solidFill>
                <a:latin typeface="Consolas"/>
              </a:defRPr>
            </a:pPr>
            <a:r>
              <a:t>NO EARLY WARNING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1945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2400" b="1">
                <a:solidFill>
                  <a:srgbClr val="141414"/>
                </a:solidFill>
                <a:latin typeface="Calibri"/>
              </a:defRPr>
            </a:pPr>
            <a:r>
              <a:t>Climate 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92608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300" b="0">
                <a:solidFill>
                  <a:srgbClr val="555555"/>
                </a:solidFill>
                <a:latin typeface="Calibri"/>
              </a:defRPr>
            </a:pPr>
            <a:r>
              <a:t>Urban encroachment, precipitation anomalies, and pollution go undetected until irreversible.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  <a:defRPr sz="1300" b="1">
                <a:solidFill>
                  <a:srgbClr val="141414"/>
                </a:solidFill>
                <a:latin typeface="Calibri"/>
              </a:defRPr>
            </a:pPr>
            <a:r>
              <a:t>We need an autonomous, satellite-native observatory that turns raw spectral bands into actionable ecological intelligence.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1">
                <a:solidFill>
                  <a:srgbClr val="06B6D4"/>
                </a:solidFill>
                <a:latin typeface="Consolas"/>
              </a:defRPr>
            </a:pPr>
            <a:r>
              <a:t>03 /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3600" b="1">
                <a:solidFill>
                  <a:srgbClr val="E5E3DF"/>
                </a:solidFill>
                <a:latin typeface="Times New Roman"/>
              </a:defRPr>
            </a:pPr>
            <a:r>
              <a:t>Introducing AquaSense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400" b="0">
                <a:solidFill>
                  <a:srgbClr val="AAA8A5"/>
                </a:solidFill>
                <a:latin typeface="Calibri"/>
              </a:defRPr>
            </a:pPr>
            <a:r>
              <a:t>An end-to-end Earth Observation pipeline that ingests Sentinel-2, computes NDWI, and delivers hydrological change with AI ecological synthesis.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E5E3DF"/>
                </a:solidFill>
                <a:latin typeface="Calibri"/>
              </a:defRPr>
            </a:pPr>
            <a:r>
              <a:t>🛰️  STAC Auto-Discovery — Queries Microsoft Planetary Computer for best low-cloud scenes with retry-on-failure</a:t>
            </a:r>
          </a:p>
          <a:p>
            <a:pPr>
              <a:spcAft>
                <a:spcPts val="1200"/>
              </a:spcAft>
              <a:defRPr sz="1300">
                <a:solidFill>
                  <a:srgbClr val="E5E3DF"/>
                </a:solidFill>
                <a:latin typeface="Calibri"/>
              </a:defRPr>
            </a:pPr>
            <a:r>
              <a:t>🌊  NDWI Intelligence — (B03-B08)/(B03+B08) with dynamic thresholding &amp; 5 color ramps (Viridis, Plasma, etc)</a:t>
            </a:r>
          </a:p>
          <a:p>
            <a:pPr>
              <a:spcAft>
                <a:spcPts val="1200"/>
              </a:spcAft>
              <a:defRPr sz="1300">
                <a:solidFill>
                  <a:srgbClr val="E5E3DF"/>
                </a:solidFill>
                <a:latin typeface="Calibri"/>
              </a:defRPr>
            </a:pPr>
            <a:r>
              <a:t>📊  Pixel Quantification — Real-time water extent in km², % change, longitudinal trend (2019-2025)</a:t>
            </a:r>
          </a:p>
          <a:p>
            <a:pPr>
              <a:spcAft>
                <a:spcPts val="1200"/>
              </a:spcAft>
              <a:defRPr sz="1300">
                <a:solidFill>
                  <a:srgbClr val="E5E3DF"/>
                </a:solidFill>
                <a:latin typeface="Calibri"/>
              </a:defRPr>
            </a:pPr>
            <a:r>
              <a:t>🧠  Gemini Ecological AI — 4 modes: Deep Reasoning, Search Grounding, Maps Grounding, Fast Summary</a:t>
            </a:r>
          </a:p>
          <a:p>
            <a:pPr>
              <a:spcAft>
                <a:spcPts val="1200"/>
              </a:spcAft>
              <a:defRPr sz="1300">
                <a:solidFill>
                  <a:srgbClr val="E5E3DF"/>
                </a:solidFill>
                <a:latin typeface="Calibri"/>
              </a:defRPr>
            </a:pPr>
            <a:r>
              <a:t>🗺️  Interactive Observatory — Drag BBOX anchors, split-slider comparison, diff mask (gain/loss)</a:t>
            </a:r>
          </a:p>
          <a:p>
            <a:pPr>
              <a:spcAft>
                <a:spcPts val="1200"/>
              </a:spcAft>
              <a:defRPr sz="1300">
                <a:solidFill>
                  <a:srgbClr val="E5E3DF"/>
                </a:solidFill>
                <a:latin typeface="Calibri"/>
              </a:defRPr>
            </a:pPr>
            <a:r>
              <a:t>📸  Field Verification — Multimodal image understanding for ground-truthing &amp; few-shot classification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0" y="914400"/>
            <a:ext cx="4846320" cy="5303520"/>
          </a:xfrm>
          <a:prstGeom prst="rect">
            <a:avLst/>
          </a:prstGeom>
          <a:solidFill>
            <a:srgbClr val="1A1A1A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949440" y="1280160"/>
            <a:ext cx="548640" cy="54864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12801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  <a:defRPr sz="1400" b="1">
                <a:solidFill>
                  <a:srgbClr val="F59E0B"/>
                </a:solidFill>
                <a:latin typeface="Consola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280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100" b="1">
                <a:solidFill>
                  <a:srgbClr val="E5E3DF"/>
                </a:solidFill>
                <a:latin typeface="Consolas"/>
              </a:defRPr>
            </a:pPr>
            <a:r>
              <a:t>STAC INGEST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6002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0">
                <a:solidFill>
                  <a:srgbClr val="888888"/>
                </a:solidFill>
                <a:latin typeface="Consolas"/>
              </a:defRPr>
            </a:pPr>
            <a:r>
              <a:t>Sentinel-2 L2A</a:t>
            </a:r>
            <a:br/>
            <a:r>
              <a:t>Planetary Computer</a:t>
            </a:r>
            <a:br/>
            <a:r>
              <a:t>Cloud &lt;20%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2514600"/>
            <a:ext cx="548640" cy="54864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25146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  <a:defRPr sz="1400" b="1">
                <a:solidFill>
                  <a:srgbClr val="F59E0B"/>
                </a:solidFill>
                <a:latin typeface="Consola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514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100" b="1">
                <a:solidFill>
                  <a:srgbClr val="E5E3DF"/>
                </a:solidFill>
                <a:latin typeface="Consolas"/>
              </a:defRPr>
            </a:pPr>
            <a:r>
              <a:t>NDWI COMPUTE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28346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0">
                <a:solidFill>
                  <a:srgbClr val="888888"/>
                </a:solidFill>
                <a:latin typeface="Consolas"/>
              </a:defRPr>
            </a:pPr>
            <a:r>
              <a:t>(B03-B08)/(B03+B08)</a:t>
            </a:r>
            <a:br/>
            <a:r>
              <a:t>Colorized LUT</a:t>
            </a:r>
            <a:br/>
            <a:r>
              <a:t>Threshold &gt;0.20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0" y="3749039"/>
            <a:ext cx="548640" cy="54864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3749039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  <a:defRPr sz="1400" b="1">
                <a:solidFill>
                  <a:srgbClr val="F59E0B"/>
                </a:solidFill>
                <a:latin typeface="Consolas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74903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100" b="1">
                <a:solidFill>
                  <a:srgbClr val="E5E3DF"/>
                </a:solidFill>
                <a:latin typeface="Consolas"/>
              </a:defRPr>
            </a:pPr>
            <a:r>
              <a:t>DIFF &amp; TREND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4069079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0">
                <a:solidFill>
                  <a:srgbClr val="888888"/>
                </a:solidFill>
                <a:latin typeface="Consolas"/>
              </a:defRPr>
            </a:pPr>
            <a:r>
              <a:t>Water pixels ×0.0001</a:t>
            </a:r>
            <a:br/>
            <a:r>
              <a:t>km² change</a:t>
            </a:r>
            <a:br/>
            <a:r>
              <a:t>Annual snapshots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4983480"/>
            <a:ext cx="548640" cy="54864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0" y="49834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  <a:defRPr sz="1400" b="1">
                <a:solidFill>
                  <a:srgbClr val="F59E0B"/>
                </a:solidFill>
                <a:latin typeface="Consolas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9834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100" b="1">
                <a:solidFill>
                  <a:srgbClr val="E5E3DF"/>
                </a:solidFill>
                <a:latin typeface="Consolas"/>
              </a:defRPr>
            </a:pPr>
            <a:r>
              <a:t>AI SYNTHESIS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5303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0">
                <a:solidFill>
                  <a:srgbClr val="888888"/>
                </a:solidFill>
                <a:latin typeface="Consolas"/>
              </a:defRPr>
            </a:pPr>
            <a:r>
              <a:t>Gemini 3.7 Flash</a:t>
            </a:r>
            <a:br/>
            <a:r>
              <a:t>Ecology + Search</a:t>
            </a:r>
            <a:br/>
            <a:r>
              <a:t>+ Maps Grounding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3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1">
                <a:solidFill>
                  <a:srgbClr val="06B6D4"/>
                </a:solidFill>
                <a:latin typeface="Consolas"/>
              </a:defRPr>
            </a:pPr>
            <a:r>
              <a:t>04 /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2800" b="1">
                <a:solidFill>
                  <a:srgbClr val="E5E3DF"/>
                </a:solidFill>
                <a:latin typeface="Times New Roman"/>
              </a:defRPr>
            </a:pPr>
            <a:r>
              <a:t>System Architecture &amp; Tech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20116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1">
                <a:solidFill>
                  <a:srgbClr val="2563EB"/>
                </a:solidFill>
                <a:latin typeface="Consolas"/>
              </a:defRPr>
            </a:pPr>
            <a: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100" b="0">
                <a:solidFill>
                  <a:srgbClr val="141414"/>
                </a:solidFill>
                <a:latin typeface="Consolas"/>
              </a:defRPr>
            </a:pPr>
            <a:r>
              <a:t>React 19 + Vite</a:t>
            </a:r>
            <a:br/>
            <a:r>
              <a:t>Tailwind 4.1</a:t>
            </a:r>
            <a:br/>
            <a:r>
              <a:t>Map Editor, Split Slider</a:t>
            </a:r>
            <a:br/>
            <a:r>
              <a:t>Recharts, Turf.js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0" y="1463040"/>
            <a:ext cx="20116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0" y="1554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1">
                <a:solidFill>
                  <a:srgbClr val="2563EB"/>
                </a:solidFill>
                <a:latin typeface="Consolas"/>
              </a:defRPr>
            </a:pPr>
            <a:r>
              <a:t>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92024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100" b="0">
                <a:solidFill>
                  <a:srgbClr val="141414"/>
                </a:solidFill>
                <a:latin typeface="Consolas"/>
              </a:defRPr>
            </a:pPr>
            <a:r>
              <a:t>Express + TSX</a:t>
            </a:r>
            <a:br/>
            <a:r>
              <a:t>STAC API Client</a:t>
            </a:r>
            <a:br/>
            <a:r>
              <a:t>Raster Pipeline</a:t>
            </a:r>
            <a:br/>
            <a:r>
              <a:t>Provenance Export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463040"/>
            <a:ext cx="20116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0" y="1554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1">
                <a:solidFill>
                  <a:srgbClr val="2563EB"/>
                </a:solidFill>
                <a:latin typeface="Consolas"/>
              </a:defRPr>
            </a:pPr>
            <a:r>
              <a:t>GEOSPATIAL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192024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100" b="0">
                <a:solidFill>
                  <a:srgbClr val="141414"/>
                </a:solidFill>
                <a:latin typeface="Consolas"/>
              </a:defRPr>
            </a:pPr>
            <a:r>
              <a:t>Sentinel-2 L2A</a:t>
            </a:r>
            <a:br/>
            <a:r>
              <a:t>NDWI: B03 &amp; B08</a:t>
            </a:r>
            <a:br/>
            <a:r>
              <a:t>Planetary Computer</a:t>
            </a:r>
            <a:br/>
            <a:r>
              <a:t>Cloud Filter + BBOX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1463040"/>
            <a:ext cx="20116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0" y="1554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1">
                <a:solidFill>
                  <a:srgbClr val="2563EB"/>
                </a:solidFill>
                <a:latin typeface="Consolas"/>
              </a:defRPr>
            </a:pPr>
            <a:r>
              <a:t>ML /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0" y="192024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100" b="0">
                <a:solidFill>
                  <a:srgbClr val="141414"/>
                </a:solidFill>
                <a:latin typeface="Consolas"/>
              </a:defRPr>
            </a:pPr>
            <a:r>
              <a:t>Clay Encoder</a:t>
            </a:r>
            <a:br/>
            <a:r>
              <a:t>Prithvi Foundation</a:t>
            </a:r>
            <a:br/>
            <a:r>
              <a:t>Few-Shot Classifier</a:t>
            </a:r>
            <a:br/>
            <a:r>
              <a:t>KNN / Logistic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1463040"/>
            <a:ext cx="20116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1554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1">
                <a:solidFill>
                  <a:srgbClr val="2563EB"/>
                </a:solidFill>
                <a:latin typeface="Consolas"/>
              </a:defRPr>
            </a:pPr>
            <a:r>
              <a:t>GEN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92024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100" b="0">
                <a:solidFill>
                  <a:srgbClr val="141414"/>
                </a:solidFill>
                <a:latin typeface="Consolas"/>
              </a:defRPr>
            </a:pPr>
            <a:r>
              <a:t>Gemini 3.7 Flash</a:t>
            </a:r>
            <a:br/>
            <a:r>
              <a:t>Deep Reasoning</a:t>
            </a:r>
            <a:br/>
            <a:r>
              <a:t>Search Grounding</a:t>
            </a:r>
            <a:br/>
            <a:r>
              <a:t>Maps + Multimodal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389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  <a:defRPr sz="1000" b="1">
                <a:solidFill>
                  <a:srgbClr val="141414"/>
                </a:solidFill>
                <a:latin typeface="Consolas"/>
              </a:defRPr>
            </a:pPr>
            <a:r>
              <a:t>DATA FLOW:  User BBOX → STAC Search (5 candidates) → Verify Rasters → NDWI Thresholding → Color LUT → Diff Mask → Trend → Gemini Analysis → Export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754880"/>
            <a:ext cx="10698480" cy="73152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1206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444444"/>
                </a:solidFill>
                <a:latin typeface="Calibri"/>
              </a:defRPr>
            </a:pPr>
            <a:r>
              <a:t>✔ Sentinel-2 10m resolution (0.0001 km²/pixel)  |  ✔ Microsoft Planetary Computer STAC v1  |  ✔ NDWI = (Green - NIR)/(Green + NIR)</a:t>
            </a:r>
          </a:p>
          <a:p>
            <a:pPr>
              <a:spcAft>
                <a:spcPts val="800"/>
              </a:spcAft>
              <a:defRPr sz="1100">
                <a:solidFill>
                  <a:srgbClr val="444444"/>
                </a:solidFill>
                <a:latin typeface="Calibri"/>
              </a:defRPr>
            </a:pPr>
            <a:r>
              <a:t>✔ Retry-On-Failure: Tests top 5 scenes for raster integrity  |  ✔ Real-time threshold recalculation with canvas pixel counting</a:t>
            </a:r>
          </a:p>
          <a:p>
            <a:pPr>
              <a:spcAft>
                <a:spcPts val="800"/>
              </a:spcAft>
              <a:defRPr sz="1100">
                <a:solidFill>
                  <a:srgbClr val="444444"/>
                </a:solidFill>
                <a:latin typeface="Calibri"/>
              </a:defRPr>
            </a:pPr>
            <a:r>
              <a:t>✔ Export: GeoJSON + Provenance JSON with methodology hash 0x8a92f02c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1">
                <a:solidFill>
                  <a:srgbClr val="F59E0B"/>
                </a:solidFill>
                <a:latin typeface="Consolas"/>
              </a:defRPr>
            </a:pPr>
            <a:r>
              <a:t>05 /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3200" b="1">
                <a:solidFill>
                  <a:srgbClr val="E5E3DF"/>
                </a:solidFill>
                <a:latin typeface="Times New Roman"/>
              </a:defRPr>
            </a:pPr>
            <a:r>
              <a:t>Observatory-Grade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3474720" cy="182880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200" b="1">
                <a:solidFill>
                  <a:srgbClr val="E5E3DF"/>
                </a:solidFill>
                <a:latin typeface="Calibri"/>
              </a:defRPr>
            </a:pPr>
            <a:r>
              <a:t>Interactive BBOX Editor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2926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Drag corner anchors on Leaflet map, upload GeoJSON boundary, live bbox telemetry. Precision control for any wetland.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59" y="1828800"/>
            <a:ext cx="3474720" cy="182880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79" y="2011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200" b="1">
                <a:solidFill>
                  <a:srgbClr val="E5E3DF"/>
                </a:solidFill>
                <a:latin typeface="Calibri"/>
              </a:defRPr>
            </a:pPr>
            <a:r>
              <a:t>Dynamic NDWI Controls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79" y="2468880"/>
            <a:ext cx="2926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Slider -0.30 to +0.70, presets [-0.05, 0.10, 0.20, 0.35]. Instant recalculation of km² water extent &amp; trend.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828800"/>
            <a:ext cx="3474720" cy="182880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2011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200" b="1">
                <a:solidFill>
                  <a:srgbClr val="E5E3DF"/>
                </a:solidFill>
                <a:latin typeface="Calibri"/>
              </a:defRPr>
            </a:pPr>
            <a:r>
              <a:t>5 Scientific Color Ramps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468880"/>
            <a:ext cx="2926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Viridis, Plasma, Inferno, Cividis, Turbo. CSS gradient preview, LUT needle bar, scale legend.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114800"/>
            <a:ext cx="3474720" cy="182880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297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200" b="1">
                <a:solidFill>
                  <a:srgbClr val="E5E3DF"/>
                </a:solidFill>
                <a:latin typeface="Calibri"/>
              </a:defRPr>
            </a:pPr>
            <a:r>
              <a:t>True Color vs NDWI Swipe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754880"/>
            <a:ext cx="2926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Split-slider with handle, T0 vs T1 comparison, Raw vs Colorized, Diff Mask (Blue=gain, Red=loss).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59" y="4114800"/>
            <a:ext cx="3474720" cy="182880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79" y="4297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200" b="1">
                <a:solidFill>
                  <a:srgbClr val="E5E3DF"/>
                </a:solidFill>
                <a:latin typeface="Calibri"/>
              </a:defRPr>
            </a:pPr>
            <a:r>
              <a:t>Cloud Filter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79" y="4754880"/>
            <a:ext cx="2926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Slider 1-80%, presets [10,20,35,50]%. STAC query sorts by eo:cloud_cover ASC, verifies raster load.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4114800"/>
            <a:ext cx="3474720" cy="182880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4297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200" b="1">
                <a:solidFill>
                  <a:srgbClr val="E5E3DF"/>
                </a:solidFill>
                <a:latin typeface="Calibri"/>
              </a:defRPr>
            </a:pPr>
            <a:r>
              <a:t>Provenance &amp; Export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754880"/>
            <a:ext cx="2926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JSON with timestamp, system_hash, methodology, bbox, quantification, source scene IDs. Audit-ready.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3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1">
                <a:solidFill>
                  <a:srgbClr val="06B6D4"/>
                </a:solidFill>
                <a:latin typeface="Consolas"/>
              </a:defRPr>
            </a:pPr>
            <a:r>
              <a:t>06 / AI + 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2800" b="1">
                <a:solidFill>
                  <a:srgbClr val="E5E3DF"/>
                </a:solidFill>
                <a:latin typeface="Times New Roman"/>
              </a:defRPr>
            </a:pPr>
            <a:r>
              <a:t>Few-Shot Intelligence &amp; Gemini Reasoning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200" b="0">
                <a:solidFill>
                  <a:srgbClr val="AAA8A5"/>
                </a:solidFill>
                <a:latin typeface="Calibri"/>
              </a:defRPr>
            </a:pPr>
            <a:r>
              <a:t>Beyond NDWI: We embed spectral patches and classify with minimal labels — then explain it with grounded LLMs.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E5E3DF"/>
                </a:solidFill>
                <a:latin typeface="Calibri"/>
              </a:defRPr>
            </a:pPr>
            <a:r>
              <a:t>ENCODERS: Clay (foundation EO model) + Prithvi (NASA IBM geospatial)</a:t>
            </a:r>
          </a:p>
          <a:p>
            <a:pPr>
              <a:spcAft>
                <a:spcPts val="800"/>
              </a:spcAft>
              <a:defRPr sz="1100">
                <a:solidFill>
                  <a:srgbClr val="E5E3DF"/>
                </a:solidFill>
                <a:latin typeface="Calibri"/>
              </a:defRPr>
            </a:pPr>
            <a:r>
              <a:t>CLASSIFIERS: KNN, Logistic, Few-Shot Prototypical (water/wetland/built_up)</a:t>
            </a:r>
          </a:p>
          <a:p>
            <a:pPr>
              <a:spcAft>
                <a:spcPts val="800"/>
              </a:spcAft>
              <a:defRPr sz="1100">
                <a:solidFill>
                  <a:srgbClr val="E5E3DF"/>
                </a:solidFill>
                <a:latin typeface="Calibri"/>
              </a:defRPr>
            </a:pPr>
            <a:r>
              <a:t>PATCH EXTRACTION: Sliding window inference over Sentinel tiles</a:t>
            </a:r>
          </a:p>
          <a:p>
            <a:pPr>
              <a:spcAft>
                <a:spcPts val="800"/>
              </a:spcAft>
              <a:defRPr sz="1100">
                <a:solidFill>
                  <a:srgbClr val="E5E3DF"/>
                </a:solidFill>
                <a:latin typeface="Calibri"/>
              </a:defRPr>
            </a:pPr>
            <a:r>
              <a:t>FINE-TUNING: Python pipeline with PyTorch, adapter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0">
                <a:solidFill>
                  <a:srgbClr val="888888"/>
                </a:solidFill>
                <a:latin typeface="Consolas"/>
              </a:defRPr>
            </a:pPr>
            <a:r>
              <a:t>GEMINI MODES:</a:t>
            </a:r>
            <a:br/>
            <a:r>
              <a:t>• Deep Reasoning (3.7 Flash) – Hydrological trajectory</a:t>
            </a:r>
            <a:br/>
            <a:r>
              <a:t>• Search Grounding – Recent news &amp; conservation</a:t>
            </a:r>
            <a:br/>
            <a:r>
              <a:t>• Maps Grounding – Landmarks &amp; protected zones</a:t>
            </a:r>
            <a:br/>
            <a:r>
              <a:t>• Fast Summary (3.1 Lite) – Low-latency bullets</a:t>
            </a:r>
            <a:br/>
            <a:r>
              <a:t>• Multimodal – Field photo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5720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2000" b="1">
                <a:solidFill>
                  <a:srgbClr val="141414"/>
                </a:solidFill>
                <a:latin typeface="Calibri"/>
              </a:defRPr>
            </a:pPr>
            <a:r>
              <a:t>Four-Mode Ecological Intelligence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1188720"/>
            <a:ext cx="5943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0" y="12344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1">
                <a:solidFill>
                  <a:srgbClr val="141414"/>
                </a:solidFill>
                <a:latin typeface="Consolas"/>
              </a:defRPr>
            </a:pPr>
            <a:r>
              <a:t>🧠 DEEP THINKING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146304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800" b="0">
                <a:solidFill>
                  <a:srgbClr val="2563EB"/>
                </a:solidFill>
                <a:latin typeface="Consolas"/>
              </a:defRPr>
            </a:pPr>
            <a:r>
              <a:t>gemini-3.7-flash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12801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0">
                <a:solidFill>
                  <a:srgbClr val="555555"/>
                </a:solidFill>
                <a:latin typeface="Calibri"/>
              </a:defRPr>
            </a:pPr>
            <a:r>
              <a:t>Hydrological trajectory, driving factors, ecosystem services, conservation interventions. Authoritative synthesis.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2240280"/>
            <a:ext cx="5943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22860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1">
                <a:solidFill>
                  <a:srgbClr val="141414"/>
                </a:solidFill>
                <a:latin typeface="Consolas"/>
              </a:defRPr>
            </a:pPr>
            <a:r>
              <a:t>🔍 SEARCH GROUNDED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251460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800" b="0">
                <a:solidFill>
                  <a:srgbClr val="2563EB"/>
                </a:solidFill>
                <a:latin typeface="Consolas"/>
              </a:defRPr>
            </a:pPr>
            <a:r>
              <a:t>gemini-3.5-flash + GoogleSearch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331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0">
                <a:solidFill>
                  <a:srgbClr val="555555"/>
                </a:solidFill>
                <a:latin typeface="Calibri"/>
              </a:defRPr>
            </a:pPr>
            <a:r>
              <a:t>Live factual grounding: recent reports, government actions, climate events in basin. With citations.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3291839"/>
            <a:ext cx="5943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3337559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1">
                <a:solidFill>
                  <a:srgbClr val="141414"/>
                </a:solidFill>
                <a:latin typeface="Consolas"/>
              </a:defRPr>
            </a:pPr>
            <a:r>
              <a:t>🗺️ MAPS GROUNDED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3566159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800" b="0">
                <a:solidFill>
                  <a:srgbClr val="2563EB"/>
                </a:solidFill>
                <a:latin typeface="Consolas"/>
              </a:defRPr>
            </a:pPr>
            <a:r>
              <a:t>gemini-3.5-flash + GoogleMaps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383279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0">
                <a:solidFill>
                  <a:srgbClr val="555555"/>
                </a:solidFill>
                <a:latin typeface="Calibri"/>
              </a:defRPr>
            </a:pPr>
            <a:r>
              <a:t>Geographic orientation: landmarks, protected zones, urban centers, inlets/outlets.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0" y="4343400"/>
            <a:ext cx="5943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0" y="43891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1">
                <a:solidFill>
                  <a:srgbClr val="141414"/>
                </a:solidFill>
                <a:latin typeface="Consolas"/>
              </a:defRPr>
            </a:pPr>
            <a:r>
              <a:t>⚡ FAST SUMMARY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461772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800" b="0">
                <a:solidFill>
                  <a:srgbClr val="2563EB"/>
                </a:solidFill>
                <a:latin typeface="Consolas"/>
              </a:defRPr>
            </a:pPr>
            <a:r>
              <a:t>gemini-3.1-flash-lite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4348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0">
                <a:solidFill>
                  <a:srgbClr val="555555"/>
                </a:solidFill>
                <a:latin typeface="Calibri"/>
              </a:defRPr>
            </a:pPr>
            <a:r>
              <a:t>3-4 bullet low-latency summary for dashboards. Optimized for speed.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5394959"/>
            <a:ext cx="5943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0" y="5440679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1">
                <a:solidFill>
                  <a:srgbClr val="141414"/>
                </a:solidFill>
                <a:latin typeface="Consolas"/>
              </a:defRPr>
            </a:pPr>
            <a:r>
              <a:t>📸 FIELD INSPECTION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0" y="5669279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800" b="0">
                <a:solidFill>
                  <a:srgbClr val="2563EB"/>
                </a:solidFill>
                <a:latin typeface="Consolas"/>
              </a:defRPr>
            </a:pPr>
            <a:r>
              <a:t>Multimodal Vision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5486399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0">
                <a:solidFill>
                  <a:srgbClr val="555555"/>
                </a:solidFill>
                <a:latin typeface="Calibri"/>
              </a:defRPr>
            </a:pPr>
            <a:r>
              <a:t>Upload drone/field photo → water clarity, algae, vegetation, encroachment + few-shot scores.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1">
                <a:solidFill>
                  <a:srgbClr val="F59E0B"/>
                </a:solidFill>
                <a:latin typeface="Consolas"/>
              </a:defRPr>
            </a:pPr>
            <a:r>
              <a:t>07 / 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3000" b="1">
                <a:solidFill>
                  <a:srgbClr val="E5E3DF"/>
                </a:solidFill>
                <a:latin typeface="Times New Roman"/>
              </a:defRPr>
            </a:pPr>
            <a:r>
              <a:t>Observatory Interface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2743200" cy="4572000"/>
          </a:xfrm>
          <a:prstGeom prst="rect">
            <a:avLst/>
          </a:prstGeom>
          <a:solidFill>
            <a:srgbClr val="D7D4CF"/>
          </a:solidFill>
          <a:ln w="12700">
            <a:solidFill>
              <a:srgbClr val="141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800" b="1">
                <a:solidFill>
                  <a:srgbClr val="141414"/>
                </a:solidFill>
                <a:latin typeface="Consolas"/>
              </a:defRPr>
            </a:pPr>
            <a:r>
              <a:t>PIPELINE TELEMETRY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900" b="0">
                <a:solidFill>
                  <a:srgbClr val="141414"/>
                </a:solidFill>
                <a:latin typeface="Consolas"/>
              </a:defRPr>
            </a:pPr>
            <a:r>
              <a:t>1. Planetary Computer STAC ✓</a:t>
            </a:r>
            <a:br/>
            <a:r>
              <a:t>2. NDWI Raster &amp; LUT ✓</a:t>
            </a:r>
            <a:br/>
            <a:r>
              <a:t>3. Hydrological Differencing 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800" b="1">
                <a:solidFill>
                  <a:srgbClr val="141414"/>
                </a:solidFill>
                <a:latin typeface="Consolas"/>
              </a:defRPr>
            </a:pPr>
            <a:r>
              <a:t>AREA OF INTEREST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474720"/>
            <a:ext cx="2377440" cy="13716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65760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  <a:defRPr sz="800" b="0">
                <a:solidFill>
                  <a:srgbClr val="E5E3DF"/>
                </a:solidFill>
                <a:latin typeface="Consolas"/>
              </a:defRPr>
            </a:pPr>
            <a:r>
              <a:t>[Interactive BBOX Map]</a:t>
            </a:r>
            <a:br/>
            <a:r>
              <a:t>Drag anchors</a:t>
            </a:r>
            <a:br/>
            <a:r>
              <a:t>12.91,80.20 → 12.95,80.23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645920"/>
            <a:ext cx="4572000" cy="4572000"/>
          </a:xfrm>
          <a:prstGeom prst="rect">
            <a:avLst/>
          </a:prstGeom>
          <a:solidFill>
            <a:srgbClr val="141414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173736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700" b="1">
                <a:solidFill>
                  <a:srgbClr val="E5E3DF"/>
                </a:solidFill>
                <a:latin typeface="Consolas"/>
              </a:defRPr>
            </a:pPr>
            <a:r>
              <a:t>TRUE COLOR SWIPE  |  NDWI SWIPE (VIRIDIS)  |  DIFF MASK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2194560"/>
            <a:ext cx="4206240" cy="3200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0" y="347472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  <a:defRPr sz="1000" b="0">
                <a:solidFill>
                  <a:srgbClr val="666666"/>
                </a:solidFill>
                <a:latin typeface="Consolas"/>
              </a:defRPr>
            </a:pPr>
            <a:r>
              <a:t>[Satellite Split Slider]</a:t>
            </a:r>
            <a:br/>
            <a:r>
              <a:t>2019 ← drag → 2025</a:t>
            </a:r>
            <a:br/>
            <a:r>
              <a:t>True Color + NDWI Colorized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548640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800" b="0">
                <a:solidFill>
                  <a:srgbClr val="06B6D4"/>
                </a:solidFill>
                <a:latin typeface="Consolas"/>
              </a:defRPr>
            </a:pPr>
            <a:r>
              <a:t>NDWI Scale: -1.0 [Water ← → Land] +1.0  Threshold &gt;0.20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40" y="1645920"/>
            <a:ext cx="2743200" cy="4572000"/>
          </a:xfrm>
          <a:prstGeom prst="rect">
            <a:avLst/>
          </a:prstGeom>
          <a:solidFill>
            <a:srgbClr val="DFDCD7"/>
          </a:solidFill>
          <a:ln w="12700">
            <a:solidFill>
              <a:srgbClr val="141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17373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800" b="1">
                <a:solidFill>
                  <a:srgbClr val="141414"/>
                </a:solidFill>
                <a:latin typeface="Consolas"/>
              </a:defRPr>
            </a:pPr>
            <a:r>
              <a:t>HYDROLOGICAL QUANTIFICATION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10312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900" b="0">
                <a:solidFill>
                  <a:srgbClr val="141414"/>
                </a:solidFill>
                <a:latin typeface="Consolas"/>
              </a:defRPr>
            </a:pPr>
            <a:r>
              <a:t>2019 WATER: 4.82 km²</a:t>
            </a:r>
            <a:br/>
            <a:r>
              <a:t>2025 WATER: 3.15 km²</a:t>
            </a:r>
            <a:br/>
            <a:r>
              <a:t>CHANGE: -1.67 km²</a:t>
            </a:r>
            <a:br/>
            <a:r>
              <a:t>RELATIVE: -34.6%</a:t>
            </a:r>
            <a:br/>
            <a:br/>
            <a:r>
              <a:t>[Longitudinal Trend Chart]</a:t>
            </a:r>
            <a:br/>
            <a:r>
              <a:t>2019→2020→2021→2025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3657600"/>
            <a:ext cx="23774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37490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800" b="1">
                <a:solidFill>
                  <a:srgbClr val="141414"/>
                </a:solidFill>
                <a:latin typeface="Consolas"/>
              </a:defRPr>
            </a:pPr>
            <a:r>
              <a:t>✨ GEMINI INSIGHTS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4114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800" b="0">
                <a:solidFill>
                  <a:srgbClr val="555555"/>
                </a:solidFill>
                <a:latin typeface="Calibri"/>
              </a:defRPr>
            </a:pPr>
            <a:r>
              <a:t>Hydrological Trajectory...</a:t>
            </a:r>
            <a:br/>
            <a:r>
              <a:t>Driving Factors...</a:t>
            </a:r>
            <a:br/>
            <a:r>
              <a:t>Ecosystem Services...</a:t>
            </a:r>
            <a:br/>
            <a:r>
              <a:t>Recommendations...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3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1">
                <a:solidFill>
                  <a:srgbClr val="F59E0B"/>
                </a:solidFill>
                <a:latin typeface="Consolas"/>
              </a:defRPr>
            </a:pPr>
            <a:r>
              <a:t>08 /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2800" b="1">
                <a:solidFill>
                  <a:srgbClr val="E5E3DF"/>
                </a:solidFill>
                <a:latin typeface="Times New Roman"/>
              </a:defRPr>
            </a:pPr>
            <a:r>
              <a:t>Real-World Impact &amp; Use Cases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34747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200" b="1">
                <a:solidFill>
                  <a:srgbClr val="141414"/>
                </a:solidFill>
                <a:latin typeface="Calibri"/>
              </a:defRPr>
            </a:pPr>
            <a:r>
              <a:t>🏛️ Government &amp; Policy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100" b="0">
                <a:solidFill>
                  <a:srgbClr val="555555"/>
                </a:solidFill>
                <a:latin typeface="Calibri"/>
              </a:defRPr>
            </a:pPr>
            <a:r>
              <a:t>Wetland Authority monitoring, Ramsar reporting, encroachment detection, flood/drought vulnerability mapping.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59" y="1463040"/>
            <a:ext cx="34747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79" y="1645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200" b="1">
                <a:solidFill>
                  <a:srgbClr val="141414"/>
                </a:solidFill>
                <a:latin typeface="Calibri"/>
              </a:defRPr>
            </a:pPr>
            <a:r>
              <a:t>🌱 Conservation NGOs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79" y="210312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100" b="0">
                <a:solidFill>
                  <a:srgbClr val="555555"/>
                </a:solidFill>
                <a:latin typeface="Calibri"/>
              </a:defRPr>
            </a:pPr>
            <a:r>
              <a:t>Biodiversity assessment, habitat loss alerts, restoration prioritization, community engagement with visual proof.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463040"/>
            <a:ext cx="34747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1645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200" b="1">
                <a:solidFill>
                  <a:srgbClr val="141414"/>
                </a:solidFill>
                <a:latin typeface="Calibri"/>
              </a:defRPr>
            </a:pPr>
            <a:r>
              <a:t>🏙️ Urban Planning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10312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100" b="0">
                <a:solidFill>
                  <a:srgbClr val="555555"/>
                </a:solidFill>
                <a:latin typeface="Calibri"/>
              </a:defRPr>
            </a:pPr>
            <a:r>
              <a:t>Chennai Pallikaranai case: -34% loss correlates with urbanization. Early warning for planners to enforce buffers.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840480"/>
            <a:ext cx="34747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200" b="1">
                <a:solidFill>
                  <a:srgbClr val="141414"/>
                </a:solidFill>
                <a:latin typeface="Calibri"/>
              </a:defRPr>
            </a:pPr>
            <a:r>
              <a:t>🔬 Research &amp; Academia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48056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100" b="0">
                <a:solidFill>
                  <a:srgbClr val="555555"/>
                </a:solidFill>
                <a:latin typeface="Calibri"/>
              </a:defRPr>
            </a:pPr>
            <a:r>
              <a:t>Longitudinal studies, climate correlation, open STAC data, reproducible provenance JSON, ML few-shot benchmarks.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59" y="3840480"/>
            <a:ext cx="34747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79" y="4023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200" b="1">
                <a:solidFill>
                  <a:srgbClr val="141414"/>
                </a:solidFill>
                <a:latin typeface="Calibri"/>
              </a:defRPr>
            </a:pPr>
            <a:r>
              <a:t>🚨 Disaster Response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79" y="448056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100" b="0">
                <a:solidFill>
                  <a:srgbClr val="555555"/>
                </a:solidFill>
                <a:latin typeface="Calibri"/>
              </a:defRPr>
            </a:pPr>
            <a:r>
              <a:t>Pre-monsoon water capacity assessment, post-flood inundation mapping, drought early warning via NDWI trend.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3840480"/>
            <a:ext cx="34747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4023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200" b="1">
                <a:solidFill>
                  <a:srgbClr val="141414"/>
                </a:solidFill>
                <a:latin typeface="Calibri"/>
              </a:defRPr>
            </a:pPr>
            <a:r>
              <a:t>📱 Citizen Science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448056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100" b="0">
                <a:solidFill>
                  <a:srgbClr val="555555"/>
                </a:solidFill>
                <a:latin typeface="Calibri"/>
              </a:defRPr>
            </a:pPr>
            <a:r>
              <a:t>Field photo upload for ground-truthing, community wetland watch, educational tool for EO literacy.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1">
                <a:solidFill>
                  <a:srgbClr val="06B6D4"/>
                </a:solidFill>
                <a:latin typeface="Consolas"/>
              </a:defRPr>
            </a:pPr>
            <a:r>
              <a:t>09 /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3000" b="1">
                <a:solidFill>
                  <a:srgbClr val="E5E3DF"/>
                </a:solidFill>
                <a:latin typeface="Times New Roman"/>
              </a:defRPr>
            </a:pPr>
            <a:r>
              <a:t>Scientific Rigor &amp; Quantification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E5E3DF"/>
                </a:solidFill>
                <a:latin typeface="Calibri"/>
              </a:defRPr>
            </a:pPr>
            <a:r>
              <a:t>FORMULA: NDWI = (Green - NIR) / (Green + NIR) = (B03 - B08)/(B03+B08)</a:t>
            </a:r>
          </a:p>
          <a:p>
            <a:pPr>
              <a:spcAft>
                <a:spcPts val="800"/>
              </a:spcAft>
              <a:defRPr sz="1100">
                <a:solidFill>
                  <a:srgbClr val="E5E3DF"/>
                </a:solidFill>
                <a:latin typeface="Calibri"/>
              </a:defRPr>
            </a:pPr>
            <a:r>
              <a:t>  • B03 = 560nm Green, B08 = 842nm NIR, Sentinel-2 L2A</a:t>
            </a:r>
          </a:p>
          <a:p>
            <a:pPr>
              <a:spcAft>
                <a:spcPts val="800"/>
              </a:spcAft>
              <a:defRPr sz="1100">
                <a:solidFill>
                  <a:srgbClr val="E5E3DF"/>
                </a:solidFill>
                <a:latin typeface="Calibri"/>
              </a:defRPr>
            </a:pPr>
            <a:r>
              <a:t>  • Range -1 to +1, Water &gt;0.20 typically</a:t>
            </a:r>
          </a:p>
          <a:p>
            <a:pPr>
              <a:spcAft>
                <a:spcPts val="800"/>
              </a:spcAft>
              <a:defRPr sz="1100">
                <a:solidFill>
                  <a:srgbClr val="E5E3DF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100">
                <a:solidFill>
                  <a:srgbClr val="E5E3DF"/>
                </a:solidFill>
                <a:latin typeface="Calibri"/>
              </a:defRPr>
            </a:pPr>
            <a:r>
              <a:t>PIXEL COUNTING:</a:t>
            </a:r>
          </a:p>
          <a:p>
            <a:pPr>
              <a:spcAft>
                <a:spcPts val="800"/>
              </a:spcAft>
              <a:defRPr sz="1100">
                <a:solidFill>
                  <a:srgbClr val="E5E3DF"/>
                </a:solidFill>
                <a:latin typeface="Calibri"/>
              </a:defRPr>
            </a:pPr>
            <a:r>
              <a:t>  • Canvas-based raster analysis (offscreen)</a:t>
            </a:r>
          </a:p>
          <a:p>
            <a:pPr>
              <a:spcAft>
                <a:spcPts val="800"/>
              </a:spcAft>
              <a:defRPr sz="1100">
                <a:solidFill>
                  <a:srgbClr val="E5E3DF"/>
                </a:solidFill>
                <a:latin typeface="Calibri"/>
              </a:defRPr>
            </a:pPr>
            <a:r>
              <a:t>  • countWaterPixelsWithThreshold() → water pixels</a:t>
            </a:r>
          </a:p>
          <a:p>
            <a:pPr>
              <a:spcAft>
                <a:spcPts val="800"/>
              </a:spcAft>
              <a:defRPr sz="1100">
                <a:solidFill>
                  <a:srgbClr val="E5E3DF"/>
                </a:solidFill>
                <a:latin typeface="Calibri"/>
              </a:defRPr>
            </a:pPr>
            <a:r>
              <a:t>  • Area = pixels × 0.0001 km² (10m × 10m = 100m²)</a:t>
            </a:r>
          </a:p>
          <a:p>
            <a:pPr>
              <a:spcAft>
                <a:spcPts val="800"/>
              </a:spcAft>
              <a:defRPr sz="1100">
                <a:solidFill>
                  <a:srgbClr val="E5E3DF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100">
                <a:solidFill>
                  <a:srgbClr val="E5E3DF"/>
                </a:solidFill>
                <a:latin typeface="Calibri"/>
              </a:defRPr>
            </a:pPr>
            <a:r>
              <a:t>DIFFERENCE MASK:</a:t>
            </a:r>
          </a:p>
          <a:p>
            <a:pPr>
              <a:spcAft>
                <a:spcPts val="800"/>
              </a:spcAft>
              <a:defRPr sz="1100">
                <a:solidFill>
                  <a:srgbClr val="E5E3DF"/>
                </a:solidFill>
                <a:latin typeface="Calibri"/>
              </a:defRPr>
            </a:pPr>
            <a:r>
              <a:t>  • generateDifferenceMapWithThreshold()</a:t>
            </a:r>
          </a:p>
          <a:p>
            <a:pPr>
              <a:spcAft>
                <a:spcPts val="800"/>
              </a:spcAft>
              <a:defRPr sz="1100">
                <a:solidFill>
                  <a:srgbClr val="E5E3DF"/>
                </a:solidFill>
                <a:latin typeface="Calibri"/>
              </a:defRPr>
            </a:pPr>
            <a:r>
              <a:t>  • Blue = Gained (inundation), Red = Lost (desiccation)</a:t>
            </a:r>
          </a:p>
          <a:p>
            <a:pPr>
              <a:spcAft>
                <a:spcPts val="800"/>
              </a:spcAft>
              <a:defRPr sz="1100">
                <a:solidFill>
                  <a:srgbClr val="E5E3DF"/>
                </a:solidFill>
                <a:latin typeface="Calibri"/>
              </a:defRPr>
            </a:pPr>
            <a:r>
              <a:t>  • Dark Blue = Unchanged water</a:t>
            </a:r>
          </a:p>
          <a:p>
            <a:pPr>
              <a:spcAft>
                <a:spcPts val="800"/>
              </a:spcAft>
              <a:defRPr sz="1100">
                <a:solidFill>
                  <a:srgbClr val="E5E3DF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100">
                <a:solidFill>
                  <a:srgbClr val="E5E3DF"/>
                </a:solidFill>
                <a:latin typeface="Calibri"/>
              </a:defRPr>
            </a:pPr>
            <a:r>
              <a:t>ROBUSTNESS:</a:t>
            </a:r>
          </a:p>
          <a:p>
            <a:pPr>
              <a:spcAft>
                <a:spcPts val="800"/>
              </a:spcAft>
              <a:defRPr sz="1100">
                <a:solidFill>
                  <a:srgbClr val="E5E3DF"/>
                </a:solidFill>
                <a:latin typeface="Calibri"/>
              </a:defRPr>
            </a:pPr>
            <a:r>
              <a:t>  • Retry-On-Failure across top 5 STAC candidates</a:t>
            </a:r>
          </a:p>
          <a:p>
            <a:pPr>
              <a:spcAft>
                <a:spcPts val="800"/>
              </a:spcAft>
              <a:defRPr sz="1100">
                <a:solidFill>
                  <a:srgbClr val="E5E3DF"/>
                </a:solidFill>
                <a:latin typeface="Calibri"/>
              </a:defRPr>
            </a:pPr>
            <a:r>
              <a:t>  • Pre-cache verification with getCachedImage()</a:t>
            </a:r>
          </a:p>
          <a:p>
            <a:pPr>
              <a:spcAft>
                <a:spcPts val="800"/>
              </a:spcAft>
              <a:defRPr sz="1100">
                <a:solidFill>
                  <a:srgbClr val="E5E3DF"/>
                </a:solidFill>
                <a:latin typeface="Calibri"/>
              </a:defRPr>
            </a:pPr>
            <a:r>
              <a:t>  • Cloud occlusion advisory &gt;15%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45920"/>
            <a:ext cx="5029200" cy="4754880"/>
          </a:xfrm>
          <a:prstGeom prst="rect">
            <a:avLst/>
          </a:prstGeom>
          <a:solidFill>
            <a:srgbClr val="1A1A1A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8288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900" b="0">
                <a:solidFill>
                  <a:srgbClr val="666666"/>
                </a:solidFill>
                <a:latin typeface="Consolas"/>
              </a:defRPr>
            </a:pPr>
            <a:r>
              <a:t>pipeline.ts // core logic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900" b="0">
                <a:solidFill>
                  <a:srgbClr val="88CC88"/>
                </a:solidFill>
                <a:latin typeface="Consolas"/>
              </a:defRPr>
            </a:pPr>
            <a:r>
              <a:t>// STAC Search with cloud filter</a:t>
            </a:r>
            <a:br/>
            <a:r>
              <a:t>POST /api/stac/v1/search</a:t>
            </a:r>
            <a:br/>
            <a:r>
              <a:t>{</a:t>
            </a:r>
            <a:br/>
            <a:r>
              <a:t>  collections: ["sentinel-2-l2a"],</a:t>
            </a:r>
            <a:br/>
            <a:r>
              <a:t>  bbox: [80.20,12.91,80.23,12.95],</a:t>
            </a:r>
            <a:br/>
            <a:r>
              <a:t>  datetime: "2019-03-01/2019-03-31",</a:t>
            </a:r>
            <a:br/>
            <a:r>
              <a:t>  query: { "eo:cloud_cover": {lt: 20} },</a:t>
            </a:r>
            <a:br/>
            <a:r>
              <a:t>  sortby: [{field: "eo:cloud_cover", dir: "asc"}],</a:t>
            </a:r>
            <a:br/>
            <a:r>
              <a:t>  limit: 5</a:t>
            </a:r>
            <a:br/>
            <a:r>
              <a:t>}</a:t>
            </a:r>
            <a:br/>
            <a:br/>
            <a:r>
              <a:t>// NDWI Preview URL</a:t>
            </a:r>
            <a:br/>
            <a:r>
              <a:t>.../item/preview.png?expression=(B03-B08)/(B03+B08)</a:t>
            </a:r>
            <a:br/>
            <a:r>
              <a:t>&amp;asset_as_band=True&amp;rescale=-1,1</a:t>
            </a:r>
            <a:br/>
            <a:br/>
            <a:r>
              <a:t>// Area Calculation</a:t>
            </a:r>
            <a:br/>
            <a:r>
              <a:t>area_km2 = water_pixels * 0.0001</a:t>
            </a:r>
            <a:br/>
            <a:r>
              <a:t>change = areaB - areaA</a:t>
            </a:r>
            <a:br/>
            <a:r>
              <a:t>pct = (change/areaA)*100</a:t>
            </a:r>
            <a:br/>
            <a:br/>
            <a:r>
              <a:t>// Provenance Export</a:t>
            </a:r>
            <a:br/>
            <a:r>
              <a:t>{</a:t>
            </a:r>
            <a:br/>
            <a:r>
              <a:t>  methodology: "NDWI &gt;0.20, 10m",</a:t>
            </a:r>
            <a:br/>
            <a:r>
              <a:t>  system_hash: "0x8a92f02c",</a:t>
            </a:r>
            <a:br/>
            <a:r>
              <a:t>  quantification: { yearA, yearB, change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3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000" b="1">
                <a:solidFill>
                  <a:srgbClr val="F59E0B"/>
                </a:solidFill>
                <a:latin typeface="Consolas"/>
              </a:defRPr>
            </a:pPr>
            <a:r>
              <a:t>10 /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2800" b="1">
                <a:solidFill>
                  <a:srgbClr val="E5E3DF"/>
                </a:solidFill>
                <a:latin typeface="Times New Roman"/>
              </a:defRPr>
            </a:pPr>
            <a:r>
              <a:t>Roadmap &amp; Future Vision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2011680" cy="4114800"/>
          </a:xfrm>
          <a:prstGeom prst="rect">
            <a:avLst/>
          </a:prstGeom>
          <a:solidFill>
            <a:srgbClr val="141414"/>
          </a:solidFill>
          <a:ln w="12700">
            <a:solidFill>
              <a:srgbClr val="141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900" b="1">
                <a:solidFill>
                  <a:srgbClr val="F59E0B"/>
                </a:solidFill>
                <a:latin typeface="Consolas"/>
              </a:defRPr>
            </a:pPr>
            <a:r>
              <a:t>NOW - Q3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1645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100" b="0">
                <a:solidFill>
                  <a:srgbClr val="E5E3DF"/>
                </a:solidFill>
                <a:latin typeface="Consolas"/>
              </a:defRPr>
            </a:pPr>
            <a:r>
              <a:t>✓ MVP Observatory</a:t>
            </a:r>
            <a:br/>
            <a:r>
              <a:t>✓ STAC + NDWI Pipeline</a:t>
            </a:r>
            <a:br/>
            <a:r>
              <a:t>✓ Gemini 4-Mode Insights</a:t>
            </a:r>
            <a:br/>
            <a:r>
              <a:t>✓ Pallikaranai Validation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463040"/>
            <a:ext cx="20116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554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900" b="1">
                <a:solidFill>
                  <a:srgbClr val="2563EB"/>
                </a:solidFill>
                <a:latin typeface="Consolas"/>
              </a:defRPr>
            </a:pPr>
            <a:r>
              <a:t>NEXT - Q4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920240"/>
            <a:ext cx="1645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100" b="0">
                <a:solidFill>
                  <a:srgbClr val="141414"/>
                </a:solidFill>
                <a:latin typeface="Consolas"/>
              </a:defRPr>
            </a:pPr>
            <a:r>
              <a:t>• Multi-index: NDVI, MNDWI, AWEI</a:t>
            </a:r>
            <a:br/>
            <a:r>
              <a:t>• Time-series animation</a:t>
            </a:r>
            <a:br/>
            <a:r>
              <a:t>• User accounts &amp; saved AOIs</a:t>
            </a:r>
            <a:br/>
            <a:r>
              <a:t>• Mobile PWA + offline tiles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0" y="1463040"/>
            <a:ext cx="20116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1554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900" b="1">
                <a:solidFill>
                  <a:srgbClr val="2563EB"/>
                </a:solidFill>
                <a:latin typeface="Consolas"/>
              </a:defRPr>
            </a:pPr>
            <a:r>
              <a:t>Q1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920240"/>
            <a:ext cx="1645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100" b="0">
                <a:solidFill>
                  <a:srgbClr val="141414"/>
                </a:solidFill>
                <a:latin typeface="Consolas"/>
              </a:defRPr>
            </a:pPr>
            <a:r>
              <a:t>• Clay &amp; Prithvi fine-tuning UI</a:t>
            </a:r>
            <a:br/>
            <a:r>
              <a:t>• Few-shot labeling tool</a:t>
            </a:r>
            <a:br/>
            <a:r>
              <a:t>• Crowdsourced ground-truth</a:t>
            </a:r>
            <a:br/>
            <a:r>
              <a:t>• Model comparison dashboard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1463040"/>
            <a:ext cx="20116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1554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900" b="1">
                <a:solidFill>
                  <a:srgbClr val="2563EB"/>
                </a:solidFill>
                <a:latin typeface="Consolas"/>
              </a:defRPr>
            </a:pPr>
            <a:r>
              <a:t>Q2 2026 - 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1920240"/>
            <a:ext cx="1645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100" b="0">
                <a:solidFill>
                  <a:srgbClr val="141414"/>
                </a:solidFill>
                <a:latin typeface="Consolas"/>
              </a:defRPr>
            </a:pPr>
            <a:r>
              <a:t>• Pan-India wetland atlas</a:t>
            </a:r>
            <a:br/>
            <a:r>
              <a:t>• API for NGOs &amp; govt</a:t>
            </a:r>
            <a:br/>
            <a:r>
              <a:t>• Alert system (loss &gt;10%)</a:t>
            </a:r>
            <a:br/>
            <a:r>
              <a:t>• Partnerships: ISRO, WWF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75520" y="1463040"/>
            <a:ext cx="20116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0" y="1554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900" b="1">
                <a:solidFill>
                  <a:srgbClr val="2563EB"/>
                </a:solidFill>
                <a:latin typeface="Consolas"/>
              </a:defRPr>
            </a:pPr>
            <a:r>
              <a:t>VISION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1920240"/>
            <a:ext cx="1645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100" b="0">
                <a:solidFill>
                  <a:srgbClr val="141414"/>
                </a:solidFill>
                <a:latin typeface="Consolas"/>
              </a:defRPr>
            </a:pPr>
            <a:r>
              <a:t>• Global wetland watch</a:t>
            </a:r>
            <a:br/>
            <a:r>
              <a:t>• Carbon credit quantification</a:t>
            </a:r>
            <a:br/>
            <a:r>
              <a:t>• Flood prediction integration</a:t>
            </a:r>
            <a:br/>
            <a:r>
              <a:t>• Open science platform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097280" cy="50800"/>
          </a:xfrm>
          <a:prstGeom prst="rect">
            <a:avLst/>
          </a:prstGeom>
          <a:solidFill>
            <a:srgbClr val="E5E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4800" b="1">
                <a:solidFill>
                  <a:srgbClr val="E5E3DF"/>
                </a:solidFill>
                <a:latin typeface="Times New Roman"/>
              </a:defRPr>
            </a:pPr>
            <a:r>
              <a:t>AquaSense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2000" b="0">
                <a:solidFill>
                  <a:srgbClr val="AAA8A5"/>
                </a:solidFill>
                <a:latin typeface="Calibri"/>
              </a:defRPr>
            </a:pPr>
            <a:r>
              <a:t>Protecting wetlands with satellite intelligence.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400" b="0">
                <a:solidFill>
                  <a:srgbClr val="E5E3DF"/>
                </a:solidFill>
                <a:latin typeface="Calibri"/>
              </a:defRPr>
            </a:pPr>
            <a:r>
              <a:t>Every pixel tells a story.</a:t>
            </a:r>
            <a:br/>
            <a:r>
              <a:t>Every km² matters.</a:t>
            </a:r>
            <a:br/>
            <a:br/>
            <a:r>
              <a:t>Built with:</a:t>
            </a:r>
            <a:br/>
            <a:r>
              <a:t>• Microsoft Planetary Computer</a:t>
            </a:r>
            <a:br/>
            <a:r>
              <a:t>• Sentinel-2 L2A • NDWI Science</a:t>
            </a:r>
            <a:br/>
            <a:r>
              <a:t>• Gemini Ecological Reasoning</a:t>
            </a:r>
            <a:br/>
            <a:r>
              <a:t>• Few-Shot Foundation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0" y="914400"/>
            <a:ext cx="4572000" cy="502920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0" y="11887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200" b="1">
                <a:solidFill>
                  <a:srgbClr val="F59E0B"/>
                </a:solidFill>
                <a:latin typeface="Consolas"/>
              </a:defRPr>
            </a:pPr>
            <a:r>
              <a:t>GET STARTED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73736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300" b="0">
                <a:solidFill>
                  <a:srgbClr val="E5E3DF"/>
                </a:solidFill>
                <a:latin typeface="Consolas"/>
              </a:defRPr>
            </a:pPr>
            <a:r>
              <a:t>Live Demo: aquasense.eo</a:t>
            </a:r>
            <a:br/>
            <a:r>
              <a:t>GitHub: Naeha-S/Aquasense</a:t>
            </a:r>
            <a:br/>
            <a:br/>
            <a:r>
              <a:t>Try Pallikaranai Marsh</a:t>
            </a:r>
            <a:br/>
            <a:r>
              <a:t>Chennai • 2019 → 2025</a:t>
            </a:r>
            <a:br/>
            <a:r>
              <a:t>BBOX: 80.20,12.91,80.23,12.95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32004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100" b="0">
                <a:solidFill>
                  <a:srgbClr val="888888"/>
                </a:solidFill>
                <a:latin typeface="Calibri"/>
              </a:defRPr>
            </a:pPr>
            <a:r>
              <a:t>Contact:</a:t>
            </a:r>
            <a:br/>
            <a:r>
              <a:t>[Your Name]</a:t>
            </a:r>
            <a:br/>
            <a:r>
              <a:t>[Email] • [LinkedIn]</a:t>
            </a:r>
            <a:br/>
            <a:br/>
            <a:r>
              <a:t>"From spectral bands to ecological insights — autonomous, explainable, actionable."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  <a:defRPr sz="800" b="0">
                <a:solidFill>
                  <a:srgbClr val="555555"/>
                </a:solidFill>
                <a:latin typeface="Consolas"/>
              </a:defRPr>
            </a:pPr>
            <a:r>
              <a:t>Ω AquaSense EO • STAC • EO-HYDRO • NDWI (B03-B08)/(B03+B08) • 10m/px • 0x8a92f02c • Built for Earth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